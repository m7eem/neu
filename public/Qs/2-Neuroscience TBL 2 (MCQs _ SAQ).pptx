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handoutMasterIdLst>
    <p:handoutMasterId r:id="rId20"/>
  </p:handoutMasterIdLst>
  <p:sldIdLst>
    <p:sldId id="256" r:id="rId2"/>
    <p:sldId id="27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5087600" cy="8229600"/>
  <p:notesSz cx="9309100" cy="6954838"/>
  <p:defaultTextStyle>
    <a:defPPr>
      <a:defRPr lang="en-US"/>
    </a:defPPr>
    <a:lvl1pPr marL="0" algn="l" defTabSz="1119104" rtl="0" eaLnBrk="1" latinLnBrk="0" hangingPunct="1">
      <a:defRPr sz="2203" kern="1200">
        <a:solidFill>
          <a:schemeClr val="tx1"/>
        </a:solidFill>
        <a:latin typeface="+mn-lt"/>
        <a:ea typeface="+mn-ea"/>
        <a:cs typeface="+mn-cs"/>
      </a:defRPr>
    </a:lvl1pPr>
    <a:lvl2pPr marL="559552" algn="l" defTabSz="1119104" rtl="0" eaLnBrk="1" latinLnBrk="0" hangingPunct="1">
      <a:defRPr sz="2203" kern="1200">
        <a:solidFill>
          <a:schemeClr val="tx1"/>
        </a:solidFill>
        <a:latin typeface="+mn-lt"/>
        <a:ea typeface="+mn-ea"/>
        <a:cs typeface="+mn-cs"/>
      </a:defRPr>
    </a:lvl2pPr>
    <a:lvl3pPr marL="1119104" algn="l" defTabSz="1119104" rtl="0" eaLnBrk="1" latinLnBrk="0" hangingPunct="1">
      <a:defRPr sz="2203" kern="1200">
        <a:solidFill>
          <a:schemeClr val="tx1"/>
        </a:solidFill>
        <a:latin typeface="+mn-lt"/>
        <a:ea typeface="+mn-ea"/>
        <a:cs typeface="+mn-cs"/>
      </a:defRPr>
    </a:lvl3pPr>
    <a:lvl4pPr marL="1678658" algn="l" defTabSz="1119104" rtl="0" eaLnBrk="1" latinLnBrk="0" hangingPunct="1">
      <a:defRPr sz="2203" kern="1200">
        <a:solidFill>
          <a:schemeClr val="tx1"/>
        </a:solidFill>
        <a:latin typeface="+mn-lt"/>
        <a:ea typeface="+mn-ea"/>
        <a:cs typeface="+mn-cs"/>
      </a:defRPr>
    </a:lvl4pPr>
    <a:lvl5pPr marL="2238212" algn="l" defTabSz="1119104" rtl="0" eaLnBrk="1" latinLnBrk="0" hangingPunct="1">
      <a:defRPr sz="2203" kern="1200">
        <a:solidFill>
          <a:schemeClr val="tx1"/>
        </a:solidFill>
        <a:latin typeface="+mn-lt"/>
        <a:ea typeface="+mn-ea"/>
        <a:cs typeface="+mn-cs"/>
      </a:defRPr>
    </a:lvl5pPr>
    <a:lvl6pPr marL="2797763" algn="l" defTabSz="1119104" rtl="0" eaLnBrk="1" latinLnBrk="0" hangingPunct="1">
      <a:defRPr sz="2203" kern="1200">
        <a:solidFill>
          <a:schemeClr val="tx1"/>
        </a:solidFill>
        <a:latin typeface="+mn-lt"/>
        <a:ea typeface="+mn-ea"/>
        <a:cs typeface="+mn-cs"/>
      </a:defRPr>
    </a:lvl6pPr>
    <a:lvl7pPr marL="3357316" algn="l" defTabSz="1119104" rtl="0" eaLnBrk="1" latinLnBrk="0" hangingPunct="1">
      <a:defRPr sz="2203" kern="1200">
        <a:solidFill>
          <a:schemeClr val="tx1"/>
        </a:solidFill>
        <a:latin typeface="+mn-lt"/>
        <a:ea typeface="+mn-ea"/>
        <a:cs typeface="+mn-cs"/>
      </a:defRPr>
    </a:lvl7pPr>
    <a:lvl8pPr marL="3916867" algn="l" defTabSz="1119104" rtl="0" eaLnBrk="1" latinLnBrk="0" hangingPunct="1">
      <a:defRPr sz="2203" kern="1200">
        <a:solidFill>
          <a:schemeClr val="tx1"/>
        </a:solidFill>
        <a:latin typeface="+mn-lt"/>
        <a:ea typeface="+mn-ea"/>
        <a:cs typeface="+mn-cs"/>
      </a:defRPr>
    </a:lvl8pPr>
    <a:lvl9pPr marL="4476421" algn="l" defTabSz="1119104" rtl="0" eaLnBrk="1" latinLnBrk="0" hangingPunct="1">
      <a:defRPr sz="220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7853" autoAdjust="0"/>
  </p:normalViewPr>
  <p:slideViewPr>
    <p:cSldViewPr snapToGrid="0">
      <p:cViewPr>
        <p:scale>
          <a:sx n="100" d="100"/>
          <a:sy n="100" d="100"/>
        </p:scale>
        <p:origin x="78" y="72"/>
      </p:cViewPr>
      <p:guideLst/>
    </p:cSldViewPr>
  </p:slideViewPr>
  <p:notesTextViewPr>
    <p:cViewPr>
      <p:scale>
        <a:sx n="1" d="1"/>
        <a:sy n="1" d="1"/>
      </p:scale>
      <p:origin x="0" y="0"/>
    </p:cViewPr>
  </p:notesTextViewPr>
  <p:notesViewPr>
    <p:cSldViewPr snapToGrid="0">
      <p:cViewPr>
        <p:scale>
          <a:sx n="66" d="100"/>
          <a:sy n="66" d="100"/>
        </p:scale>
        <p:origin x="3786" y="171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94040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033943" cy="348950"/>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5273005" y="0"/>
            <a:ext cx="4033943" cy="348950"/>
          </a:xfrm>
          <a:prstGeom prst="rect">
            <a:avLst/>
          </a:prstGeom>
        </p:spPr>
        <p:txBody>
          <a:bodyPr vert="horz" lIns="92930" tIns="46465" rIns="92930" bIns="46465" rtlCol="0"/>
          <a:lstStyle>
            <a:lvl1pPr algn="r">
              <a:defRPr sz="1200"/>
            </a:lvl1pPr>
          </a:lstStyle>
          <a:p>
            <a:fld id="{260D2E66-C15A-466D-85E7-34373361F998}" type="datetimeFigureOut">
              <a:rPr lang="en-US" smtClean="0"/>
              <a:t>19-Mar-16</a:t>
            </a:fld>
            <a:endParaRPr lang="en-US"/>
          </a:p>
        </p:txBody>
      </p:sp>
      <p:sp>
        <p:nvSpPr>
          <p:cNvPr id="4" name="Slide Image Placeholder 3"/>
          <p:cNvSpPr>
            <a:spLocks noGrp="1" noRot="1" noChangeAspect="1"/>
          </p:cNvSpPr>
          <p:nvPr>
            <p:ph type="sldImg" idx="2"/>
          </p:nvPr>
        </p:nvSpPr>
        <p:spPr>
          <a:xfrm>
            <a:off x="2505075" y="869950"/>
            <a:ext cx="4298950" cy="2346325"/>
          </a:xfrm>
          <a:prstGeom prst="rect">
            <a:avLst/>
          </a:prstGeom>
          <a:noFill/>
          <a:ln w="12700">
            <a:solidFill>
              <a:prstClr val="black"/>
            </a:solidFill>
          </a:ln>
        </p:spPr>
        <p:txBody>
          <a:bodyPr vert="horz" lIns="92930" tIns="46465" rIns="92930" bIns="46465" rtlCol="0" anchor="ctr"/>
          <a:lstStyle/>
          <a:p>
            <a:endParaRPr lang="en-US"/>
          </a:p>
        </p:txBody>
      </p:sp>
      <p:sp>
        <p:nvSpPr>
          <p:cNvPr id="5" name="Notes Placeholder 4"/>
          <p:cNvSpPr>
            <a:spLocks noGrp="1"/>
          </p:cNvSpPr>
          <p:nvPr>
            <p:ph type="body" sz="quarter" idx="3"/>
          </p:nvPr>
        </p:nvSpPr>
        <p:spPr>
          <a:xfrm>
            <a:off x="930912" y="3347016"/>
            <a:ext cx="7447279" cy="2738467"/>
          </a:xfrm>
          <a:prstGeom prst="rect">
            <a:avLst/>
          </a:prstGeom>
        </p:spPr>
        <p:txBody>
          <a:bodyPr vert="horz" lIns="92930" tIns="46465" rIns="92930" bIns="4646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2" y="6605891"/>
            <a:ext cx="4033943" cy="348949"/>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5273005" y="6605891"/>
            <a:ext cx="4033943" cy="348949"/>
          </a:xfrm>
          <a:prstGeom prst="rect">
            <a:avLst/>
          </a:prstGeom>
        </p:spPr>
        <p:txBody>
          <a:bodyPr vert="horz" lIns="92930" tIns="46465" rIns="92930" bIns="46465" rtlCol="0" anchor="b"/>
          <a:lstStyle>
            <a:lvl1pPr algn="r">
              <a:defRPr sz="1200"/>
            </a:lvl1pPr>
          </a:lstStyle>
          <a:p>
            <a:fld id="{99C77F93-A1A5-4D20-AFAC-961100FFB5D2}" type="slidenum">
              <a:rPr lang="en-US" smtClean="0"/>
              <a:t>‹#›</a:t>
            </a:fld>
            <a:endParaRPr lang="en-US"/>
          </a:p>
        </p:txBody>
      </p:sp>
    </p:spTree>
    <p:extLst>
      <p:ext uri="{BB962C8B-B14F-4D97-AF65-F5344CB8AC3E}">
        <p14:creationId xmlns:p14="http://schemas.microsoft.com/office/powerpoint/2010/main" val="2850232318"/>
      </p:ext>
    </p:extLst>
  </p:cSld>
  <p:clrMap bg1="lt1" tx1="dk1" bg2="lt2" tx2="dk2" accent1="accent1" accent2="accent2" accent3="accent3" accent4="accent4" accent5="accent5" accent6="accent6" hlink="hlink" folHlink="folHlink"/>
  <p:notesStyle>
    <a:lvl1pPr marL="0" algn="l" defTabSz="1119104" rtl="0" eaLnBrk="1" latinLnBrk="0" hangingPunct="1">
      <a:defRPr sz="1469" kern="1200">
        <a:solidFill>
          <a:schemeClr val="tx1"/>
        </a:solidFill>
        <a:latin typeface="+mn-lt"/>
        <a:ea typeface="+mn-ea"/>
        <a:cs typeface="+mn-cs"/>
      </a:defRPr>
    </a:lvl1pPr>
    <a:lvl2pPr marL="559552" algn="l" defTabSz="1119104" rtl="0" eaLnBrk="1" latinLnBrk="0" hangingPunct="1">
      <a:defRPr sz="1469" kern="1200">
        <a:solidFill>
          <a:schemeClr val="tx1"/>
        </a:solidFill>
        <a:latin typeface="+mn-lt"/>
        <a:ea typeface="+mn-ea"/>
        <a:cs typeface="+mn-cs"/>
      </a:defRPr>
    </a:lvl2pPr>
    <a:lvl3pPr marL="1119104" algn="l" defTabSz="1119104" rtl="0" eaLnBrk="1" latinLnBrk="0" hangingPunct="1">
      <a:defRPr sz="1469" kern="1200">
        <a:solidFill>
          <a:schemeClr val="tx1"/>
        </a:solidFill>
        <a:latin typeface="+mn-lt"/>
        <a:ea typeface="+mn-ea"/>
        <a:cs typeface="+mn-cs"/>
      </a:defRPr>
    </a:lvl3pPr>
    <a:lvl4pPr marL="1678658" algn="l" defTabSz="1119104" rtl="0" eaLnBrk="1" latinLnBrk="0" hangingPunct="1">
      <a:defRPr sz="1469" kern="1200">
        <a:solidFill>
          <a:schemeClr val="tx1"/>
        </a:solidFill>
        <a:latin typeface="+mn-lt"/>
        <a:ea typeface="+mn-ea"/>
        <a:cs typeface="+mn-cs"/>
      </a:defRPr>
    </a:lvl4pPr>
    <a:lvl5pPr marL="2238212" algn="l" defTabSz="1119104" rtl="0" eaLnBrk="1" latinLnBrk="0" hangingPunct="1">
      <a:defRPr sz="1469" kern="1200">
        <a:solidFill>
          <a:schemeClr val="tx1"/>
        </a:solidFill>
        <a:latin typeface="+mn-lt"/>
        <a:ea typeface="+mn-ea"/>
        <a:cs typeface="+mn-cs"/>
      </a:defRPr>
    </a:lvl5pPr>
    <a:lvl6pPr marL="2797763" algn="l" defTabSz="1119104" rtl="0" eaLnBrk="1" latinLnBrk="0" hangingPunct="1">
      <a:defRPr sz="1469" kern="1200">
        <a:solidFill>
          <a:schemeClr val="tx1"/>
        </a:solidFill>
        <a:latin typeface="+mn-lt"/>
        <a:ea typeface="+mn-ea"/>
        <a:cs typeface="+mn-cs"/>
      </a:defRPr>
    </a:lvl6pPr>
    <a:lvl7pPr marL="3357316" algn="l" defTabSz="1119104" rtl="0" eaLnBrk="1" latinLnBrk="0" hangingPunct="1">
      <a:defRPr sz="1469" kern="1200">
        <a:solidFill>
          <a:schemeClr val="tx1"/>
        </a:solidFill>
        <a:latin typeface="+mn-lt"/>
        <a:ea typeface="+mn-ea"/>
        <a:cs typeface="+mn-cs"/>
      </a:defRPr>
    </a:lvl7pPr>
    <a:lvl8pPr marL="3916867" algn="l" defTabSz="1119104" rtl="0" eaLnBrk="1" latinLnBrk="0" hangingPunct="1">
      <a:defRPr sz="1469" kern="1200">
        <a:solidFill>
          <a:schemeClr val="tx1"/>
        </a:solidFill>
        <a:latin typeface="+mn-lt"/>
        <a:ea typeface="+mn-ea"/>
        <a:cs typeface="+mn-cs"/>
      </a:defRPr>
    </a:lvl8pPr>
    <a:lvl9pPr marL="4476421" algn="l" defTabSz="1119104" rtl="0" eaLnBrk="1" latinLnBrk="0" hangingPunct="1">
      <a:defRPr sz="14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B</a:t>
            </a:r>
          </a:p>
          <a:p>
            <a:r>
              <a:rPr lang="en-US" smtClean="0"/>
              <a:t>(The most sensitive areas of the brain to ischemia will be the 'watershed' areas between anterior and middle cerebral arterial circulations.)</a:t>
            </a:r>
          </a:p>
          <a:p>
            <a:r>
              <a:rPr lang="en-US" smtClean="0"/>
              <a:t>---</a:t>
            </a:r>
          </a:p>
          <a:p>
            <a:r>
              <a:rPr lang="en-US" smtClean="0"/>
              <a:t>Source</a:t>
            </a:r>
          </a:p>
          <a:p>
            <a:r>
              <a:rPr lang="en-US" smtClean="0"/>
              <a:t>http://www.uaz.edu.mx/histo/webpatutah/EXAM/MULTORG/CNS1FRM.HTM</a:t>
            </a:r>
          </a:p>
        </p:txBody>
      </p:sp>
      <p:sp>
        <p:nvSpPr>
          <p:cNvPr id="4" name="Slide Number Placeholder 3"/>
          <p:cNvSpPr>
            <a:spLocks noGrp="1"/>
          </p:cNvSpPr>
          <p:nvPr>
            <p:ph type="sldNum" sz="quarter" idx="10"/>
          </p:nvPr>
        </p:nvSpPr>
        <p:spPr/>
        <p:txBody>
          <a:bodyPr/>
          <a:lstStyle/>
          <a:p>
            <a:fld id="{99C77F93-A1A5-4D20-AFAC-961100FFB5D2}" type="slidenum">
              <a:rPr lang="en-US" smtClean="0"/>
              <a:t>2</a:t>
            </a:fld>
            <a:endParaRPr lang="en-US"/>
          </a:p>
        </p:txBody>
      </p:sp>
    </p:spTree>
    <p:extLst>
      <p:ext uri="{BB962C8B-B14F-4D97-AF65-F5344CB8AC3E}">
        <p14:creationId xmlns:p14="http://schemas.microsoft.com/office/powerpoint/2010/main" val="2961579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A</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3</a:t>
            </a:fld>
            <a:endParaRPr lang="en-US"/>
          </a:p>
        </p:txBody>
      </p:sp>
    </p:spTree>
    <p:extLst>
      <p:ext uri="{BB962C8B-B14F-4D97-AF65-F5344CB8AC3E}">
        <p14:creationId xmlns:p14="http://schemas.microsoft.com/office/powerpoint/2010/main" val="473250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C</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4</a:t>
            </a:fld>
            <a:endParaRPr lang="en-US"/>
          </a:p>
        </p:txBody>
      </p:sp>
    </p:spTree>
    <p:extLst>
      <p:ext uri="{BB962C8B-B14F-4D97-AF65-F5344CB8AC3E}">
        <p14:creationId xmlns:p14="http://schemas.microsoft.com/office/powerpoint/2010/main" val="1502628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E</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5</a:t>
            </a:fld>
            <a:endParaRPr lang="en-US"/>
          </a:p>
        </p:txBody>
      </p:sp>
    </p:spTree>
    <p:extLst>
      <p:ext uri="{BB962C8B-B14F-4D97-AF65-F5344CB8AC3E}">
        <p14:creationId xmlns:p14="http://schemas.microsoft.com/office/powerpoint/2010/main" val="2582669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C</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6</a:t>
            </a:fld>
            <a:endParaRPr lang="en-US"/>
          </a:p>
        </p:txBody>
      </p:sp>
    </p:spTree>
    <p:extLst>
      <p:ext uri="{BB962C8B-B14F-4D97-AF65-F5344CB8AC3E}">
        <p14:creationId xmlns:p14="http://schemas.microsoft.com/office/powerpoint/2010/main" val="2320943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D</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7</a:t>
            </a:fld>
            <a:endParaRPr lang="en-US"/>
          </a:p>
        </p:txBody>
      </p:sp>
    </p:spTree>
    <p:extLst>
      <p:ext uri="{BB962C8B-B14F-4D97-AF65-F5344CB8AC3E}">
        <p14:creationId xmlns:p14="http://schemas.microsoft.com/office/powerpoint/2010/main" val="1017209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D</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8</a:t>
            </a:fld>
            <a:endParaRPr lang="en-US"/>
          </a:p>
        </p:txBody>
      </p:sp>
    </p:spTree>
    <p:extLst>
      <p:ext uri="{BB962C8B-B14F-4D97-AF65-F5344CB8AC3E}">
        <p14:creationId xmlns:p14="http://schemas.microsoft.com/office/powerpoint/2010/main" val="2768555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E</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9</a:t>
            </a:fld>
            <a:endParaRPr lang="en-US"/>
          </a:p>
        </p:txBody>
      </p:sp>
    </p:spTree>
    <p:extLst>
      <p:ext uri="{BB962C8B-B14F-4D97-AF65-F5344CB8AC3E}">
        <p14:creationId xmlns:p14="http://schemas.microsoft.com/office/powerpoint/2010/main" val="1925794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D</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10</a:t>
            </a:fld>
            <a:endParaRPr lang="en-US"/>
          </a:p>
        </p:txBody>
      </p:sp>
    </p:spTree>
    <p:extLst>
      <p:ext uri="{BB962C8B-B14F-4D97-AF65-F5344CB8AC3E}">
        <p14:creationId xmlns:p14="http://schemas.microsoft.com/office/powerpoint/2010/main" val="3487086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E</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11</a:t>
            </a:fld>
            <a:endParaRPr lang="en-US"/>
          </a:p>
        </p:txBody>
      </p:sp>
    </p:spTree>
    <p:extLst>
      <p:ext uri="{BB962C8B-B14F-4D97-AF65-F5344CB8AC3E}">
        <p14:creationId xmlns:p14="http://schemas.microsoft.com/office/powerpoint/2010/main" val="651995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A</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12</a:t>
            </a:fld>
            <a:endParaRPr lang="en-US"/>
          </a:p>
        </p:txBody>
      </p:sp>
    </p:spTree>
    <p:extLst>
      <p:ext uri="{BB962C8B-B14F-4D97-AF65-F5344CB8AC3E}">
        <p14:creationId xmlns:p14="http://schemas.microsoft.com/office/powerpoint/2010/main" val="1553284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dirty="0" smtClean="0"/>
              <a:t>B</a:t>
            </a:r>
            <a:endParaRPr lang="en-US" dirty="0" smtClean="0"/>
          </a:p>
        </p:txBody>
      </p:sp>
      <p:sp>
        <p:nvSpPr>
          <p:cNvPr id="4" name="Slide Number Placeholder 3"/>
          <p:cNvSpPr>
            <a:spLocks noGrp="1"/>
          </p:cNvSpPr>
          <p:nvPr>
            <p:ph type="sldNum" sz="quarter" idx="10"/>
          </p:nvPr>
        </p:nvSpPr>
        <p:spPr/>
        <p:txBody>
          <a:bodyPr/>
          <a:lstStyle/>
          <a:p>
            <a:fld id="{99C77F93-A1A5-4D20-AFAC-961100FFB5D2}" type="slidenum">
              <a:rPr lang="en-US" smtClean="0"/>
              <a:t>13</a:t>
            </a:fld>
            <a:endParaRPr lang="en-US"/>
          </a:p>
        </p:txBody>
      </p:sp>
    </p:spTree>
    <p:extLst>
      <p:ext uri="{BB962C8B-B14F-4D97-AF65-F5344CB8AC3E}">
        <p14:creationId xmlns:p14="http://schemas.microsoft.com/office/powerpoint/2010/main" val="34729568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A</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14</a:t>
            </a:fld>
            <a:endParaRPr lang="en-US"/>
          </a:p>
        </p:txBody>
      </p:sp>
    </p:spTree>
    <p:extLst>
      <p:ext uri="{BB962C8B-B14F-4D97-AF65-F5344CB8AC3E}">
        <p14:creationId xmlns:p14="http://schemas.microsoft.com/office/powerpoint/2010/main" val="2065533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D</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15</a:t>
            </a:fld>
            <a:endParaRPr lang="en-US"/>
          </a:p>
        </p:txBody>
      </p:sp>
    </p:spTree>
    <p:extLst>
      <p:ext uri="{BB962C8B-B14F-4D97-AF65-F5344CB8AC3E}">
        <p14:creationId xmlns:p14="http://schemas.microsoft.com/office/powerpoint/2010/main" val="18848997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smtClean="0"/>
              <a:t>B</a:t>
            </a:r>
            <a:endParaRPr lang="en-US"/>
          </a:p>
        </p:txBody>
      </p:sp>
      <p:sp>
        <p:nvSpPr>
          <p:cNvPr id="4" name="Slide Number Placeholder 3"/>
          <p:cNvSpPr>
            <a:spLocks noGrp="1"/>
          </p:cNvSpPr>
          <p:nvPr>
            <p:ph type="sldNum" sz="quarter" idx="10"/>
          </p:nvPr>
        </p:nvSpPr>
        <p:spPr/>
        <p:txBody>
          <a:bodyPr/>
          <a:lstStyle/>
          <a:p>
            <a:fld id="{99C77F93-A1A5-4D20-AFAC-961100FFB5D2}" type="slidenum">
              <a:rPr lang="en-US" smtClean="0"/>
              <a:t>16</a:t>
            </a:fld>
            <a:endParaRPr lang="en-US"/>
          </a:p>
        </p:txBody>
      </p:sp>
    </p:spTree>
    <p:extLst>
      <p:ext uri="{BB962C8B-B14F-4D97-AF65-F5344CB8AC3E}">
        <p14:creationId xmlns:p14="http://schemas.microsoft.com/office/powerpoint/2010/main" val="884258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5075" y="869950"/>
            <a:ext cx="4298950" cy="2346325"/>
          </a:xfrm>
        </p:spPr>
      </p:sp>
      <p:sp>
        <p:nvSpPr>
          <p:cNvPr id="3" name="Notes Placeholder 2"/>
          <p:cNvSpPr>
            <a:spLocks noGrp="1"/>
          </p:cNvSpPr>
          <p:nvPr>
            <p:ph type="body" idx="1"/>
          </p:nvPr>
        </p:nvSpPr>
        <p:spPr/>
        <p:txBody>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99C77F93-A1A5-4D20-AFAC-961100FFB5D2}" type="slidenum">
              <a:rPr lang="en-US" smtClean="0"/>
              <a:t>17</a:t>
            </a:fld>
            <a:endParaRPr lang="en-US"/>
          </a:p>
        </p:txBody>
      </p:sp>
    </p:spTree>
    <p:extLst>
      <p:ext uri="{BB962C8B-B14F-4D97-AF65-F5344CB8AC3E}">
        <p14:creationId xmlns:p14="http://schemas.microsoft.com/office/powerpoint/2010/main" val="3174387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85950" y="1346836"/>
            <a:ext cx="11315700" cy="2865120"/>
          </a:xfrm>
        </p:spPr>
        <p:txBody>
          <a:bodyPr anchor="b"/>
          <a:lstStyle>
            <a:lvl1pPr algn="ct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885950" y="4322446"/>
            <a:ext cx="113157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75CCB1E-8F95-4E3E-A525-676EDF0B34D6}" type="datetimeFigureOut">
              <a:rPr lang="en-US" smtClean="0"/>
              <a:t>19-Mar-16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744F60-3D2E-4AA4-B99C-B0830ED97FB2}" type="slidenum">
              <a:rPr lang="en-US" smtClean="0"/>
              <a:t>‹#›</a:t>
            </a:fld>
            <a:endParaRPr lang="en-US"/>
          </a:p>
        </p:txBody>
      </p:sp>
    </p:spTree>
    <p:extLst>
      <p:ext uri="{BB962C8B-B14F-4D97-AF65-F5344CB8AC3E}">
        <p14:creationId xmlns:p14="http://schemas.microsoft.com/office/powerpoint/2010/main" val="2918375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5CCB1E-8F95-4E3E-A525-676EDF0B34D6}" type="datetimeFigureOut">
              <a:rPr lang="en-US" smtClean="0"/>
              <a:t>19-Mar-16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744F60-3D2E-4AA4-B99C-B0830ED97FB2}" type="slidenum">
              <a:rPr lang="en-US" smtClean="0"/>
              <a:t>‹#›</a:t>
            </a:fld>
            <a:endParaRPr lang="en-US"/>
          </a:p>
        </p:txBody>
      </p:sp>
    </p:spTree>
    <p:extLst>
      <p:ext uri="{BB962C8B-B14F-4D97-AF65-F5344CB8AC3E}">
        <p14:creationId xmlns:p14="http://schemas.microsoft.com/office/powerpoint/2010/main" val="2404549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29414" y="2051686"/>
            <a:ext cx="13013055" cy="3423284"/>
          </a:xfrm>
        </p:spPr>
        <p:txBody>
          <a:bodyPr anchor="b"/>
          <a:lstStyle>
            <a:lvl1pPr>
              <a:defRPr sz="7200"/>
            </a:lvl1pPr>
          </a:lstStyle>
          <a:p>
            <a:r>
              <a:rPr lang="en-US" smtClean="0"/>
              <a:t>Click to edit Master title style</a:t>
            </a:r>
            <a:endParaRPr lang="en-US" dirty="0"/>
          </a:p>
        </p:txBody>
      </p:sp>
      <p:sp>
        <p:nvSpPr>
          <p:cNvPr id="3" name="Text Placeholder 2"/>
          <p:cNvSpPr>
            <a:spLocks noGrp="1"/>
          </p:cNvSpPr>
          <p:nvPr>
            <p:ph type="body" idx="1"/>
          </p:nvPr>
        </p:nvSpPr>
        <p:spPr>
          <a:xfrm>
            <a:off x="1029414" y="5507356"/>
            <a:ext cx="13013055"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5CCB1E-8F95-4E3E-A525-676EDF0B34D6}" type="datetimeFigureOut">
              <a:rPr lang="en-US" smtClean="0"/>
              <a:t>19-Mar-16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744F60-3D2E-4AA4-B99C-B0830ED97FB2}" type="slidenum">
              <a:rPr lang="en-US" smtClean="0"/>
              <a:t>‹#›</a:t>
            </a:fld>
            <a:endParaRPr lang="en-US"/>
          </a:p>
        </p:txBody>
      </p:sp>
    </p:spTree>
    <p:extLst>
      <p:ext uri="{BB962C8B-B14F-4D97-AF65-F5344CB8AC3E}">
        <p14:creationId xmlns:p14="http://schemas.microsoft.com/office/powerpoint/2010/main" val="2449681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37273" y="2190750"/>
            <a:ext cx="6412230" cy="52216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638098" y="2190750"/>
            <a:ext cx="6412230" cy="52216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75CCB1E-8F95-4E3E-A525-676EDF0B34D6}" type="datetimeFigureOut">
              <a:rPr lang="en-US" smtClean="0"/>
              <a:t>19-Mar-16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744F60-3D2E-4AA4-B99C-B0830ED97FB2}" type="slidenum">
              <a:rPr lang="en-US" smtClean="0"/>
              <a:t>‹#›</a:t>
            </a:fld>
            <a:endParaRPr lang="en-US"/>
          </a:p>
        </p:txBody>
      </p:sp>
    </p:spTree>
    <p:extLst>
      <p:ext uri="{BB962C8B-B14F-4D97-AF65-F5344CB8AC3E}">
        <p14:creationId xmlns:p14="http://schemas.microsoft.com/office/powerpoint/2010/main" val="2829377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39238" y="438150"/>
            <a:ext cx="13013055" cy="1590676"/>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39238" y="2017396"/>
            <a:ext cx="6382761"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Click to edit Master text styles</a:t>
            </a:r>
          </a:p>
        </p:txBody>
      </p:sp>
      <p:sp>
        <p:nvSpPr>
          <p:cNvPr id="4" name="Content Placeholder 3"/>
          <p:cNvSpPr>
            <a:spLocks noGrp="1"/>
          </p:cNvSpPr>
          <p:nvPr>
            <p:ph sz="half" idx="2"/>
          </p:nvPr>
        </p:nvSpPr>
        <p:spPr>
          <a:xfrm>
            <a:off x="1039238" y="3006090"/>
            <a:ext cx="6382761" cy="44215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638098" y="2017396"/>
            <a:ext cx="6414195"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Click to edit Master text styles</a:t>
            </a:r>
          </a:p>
        </p:txBody>
      </p:sp>
      <p:sp>
        <p:nvSpPr>
          <p:cNvPr id="6" name="Content Placeholder 5"/>
          <p:cNvSpPr>
            <a:spLocks noGrp="1"/>
          </p:cNvSpPr>
          <p:nvPr>
            <p:ph sz="quarter" idx="4"/>
          </p:nvPr>
        </p:nvSpPr>
        <p:spPr>
          <a:xfrm>
            <a:off x="7638098" y="3006090"/>
            <a:ext cx="6414195" cy="442150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75CCB1E-8F95-4E3E-A525-676EDF0B34D6}" type="datetimeFigureOut">
              <a:rPr lang="en-US" smtClean="0"/>
              <a:t>19-Mar-16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744F60-3D2E-4AA4-B99C-B0830ED97FB2}" type="slidenum">
              <a:rPr lang="en-US" smtClean="0"/>
              <a:t>‹#›</a:t>
            </a:fld>
            <a:endParaRPr lang="en-US"/>
          </a:p>
        </p:txBody>
      </p:sp>
    </p:spTree>
    <p:extLst>
      <p:ext uri="{BB962C8B-B14F-4D97-AF65-F5344CB8AC3E}">
        <p14:creationId xmlns:p14="http://schemas.microsoft.com/office/powerpoint/2010/main" val="4061176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75CCB1E-8F95-4E3E-A525-676EDF0B34D6}" type="datetimeFigureOut">
              <a:rPr lang="en-US" smtClean="0"/>
              <a:t>19-Mar-16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744F60-3D2E-4AA4-B99C-B0830ED97FB2}" type="slidenum">
              <a:rPr lang="en-US" smtClean="0"/>
              <a:t>‹#›</a:t>
            </a:fld>
            <a:endParaRPr lang="en-US"/>
          </a:p>
        </p:txBody>
      </p:sp>
    </p:spTree>
    <p:extLst>
      <p:ext uri="{BB962C8B-B14F-4D97-AF65-F5344CB8AC3E}">
        <p14:creationId xmlns:p14="http://schemas.microsoft.com/office/powerpoint/2010/main" val="1570605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5CCB1E-8F95-4E3E-A525-676EDF0B34D6}" type="datetimeFigureOut">
              <a:rPr lang="en-US" smtClean="0"/>
              <a:t>19-Mar-16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744F60-3D2E-4AA4-B99C-B0830ED97FB2}" type="slidenum">
              <a:rPr lang="en-US" smtClean="0"/>
              <a:t>‹#›</a:t>
            </a:fld>
            <a:endParaRPr lang="en-US"/>
          </a:p>
        </p:txBody>
      </p:sp>
    </p:spTree>
    <p:extLst>
      <p:ext uri="{BB962C8B-B14F-4D97-AF65-F5344CB8AC3E}">
        <p14:creationId xmlns:p14="http://schemas.microsoft.com/office/powerpoint/2010/main" val="2937734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39238" y="548640"/>
            <a:ext cx="4866143" cy="1920240"/>
          </a:xfrm>
        </p:spPr>
        <p:txBody>
          <a:bodyPr anchor="b"/>
          <a:lstStyle>
            <a:lvl1pPr>
              <a:defRPr sz="3840"/>
            </a:lvl1pPr>
          </a:lstStyle>
          <a:p>
            <a:r>
              <a:rPr lang="en-US" smtClean="0"/>
              <a:t>Click to edit Master title style</a:t>
            </a:r>
            <a:endParaRPr lang="en-US" dirty="0"/>
          </a:p>
        </p:txBody>
      </p:sp>
      <p:sp>
        <p:nvSpPr>
          <p:cNvPr id="3" name="Content Placeholder 2"/>
          <p:cNvSpPr>
            <a:spLocks noGrp="1"/>
          </p:cNvSpPr>
          <p:nvPr>
            <p:ph idx="1"/>
          </p:nvPr>
        </p:nvSpPr>
        <p:spPr>
          <a:xfrm>
            <a:off x="6414195" y="1184911"/>
            <a:ext cx="7638098"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39238" y="2468880"/>
            <a:ext cx="4866143"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5CCB1E-8F95-4E3E-A525-676EDF0B34D6}" type="datetimeFigureOut">
              <a:rPr lang="en-US" smtClean="0"/>
              <a:t>19-Mar-16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744F60-3D2E-4AA4-B99C-B0830ED97FB2}" type="slidenum">
              <a:rPr lang="en-US" smtClean="0"/>
              <a:t>‹#›</a:t>
            </a:fld>
            <a:endParaRPr lang="en-US"/>
          </a:p>
        </p:txBody>
      </p:sp>
    </p:spTree>
    <p:extLst>
      <p:ext uri="{BB962C8B-B14F-4D97-AF65-F5344CB8AC3E}">
        <p14:creationId xmlns:p14="http://schemas.microsoft.com/office/powerpoint/2010/main" val="1518047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39238" y="548640"/>
            <a:ext cx="4866143" cy="1920240"/>
          </a:xfrm>
        </p:spPr>
        <p:txBody>
          <a:bodyPr anchor="b"/>
          <a:lstStyle>
            <a:lvl1pPr>
              <a:defRPr sz="384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414195" y="1184911"/>
            <a:ext cx="7638098"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smtClean="0"/>
              <a:t>Click icon to add picture</a:t>
            </a:r>
            <a:endParaRPr lang="en-US" dirty="0"/>
          </a:p>
        </p:txBody>
      </p:sp>
      <p:sp>
        <p:nvSpPr>
          <p:cNvPr id="4" name="Text Placeholder 3"/>
          <p:cNvSpPr>
            <a:spLocks noGrp="1"/>
          </p:cNvSpPr>
          <p:nvPr>
            <p:ph type="body" sz="half" idx="2"/>
          </p:nvPr>
        </p:nvSpPr>
        <p:spPr>
          <a:xfrm>
            <a:off x="1039238" y="2468880"/>
            <a:ext cx="4866143"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5CCB1E-8F95-4E3E-A525-676EDF0B34D6}" type="datetimeFigureOut">
              <a:rPr lang="en-US" smtClean="0"/>
              <a:t>19-Mar-16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744F60-3D2E-4AA4-B99C-B0830ED97FB2}" type="slidenum">
              <a:rPr lang="en-US" smtClean="0"/>
              <a:t>‹#›</a:t>
            </a:fld>
            <a:endParaRPr lang="en-US"/>
          </a:p>
        </p:txBody>
      </p:sp>
    </p:spTree>
    <p:extLst>
      <p:ext uri="{BB962C8B-B14F-4D97-AF65-F5344CB8AC3E}">
        <p14:creationId xmlns:p14="http://schemas.microsoft.com/office/powerpoint/2010/main" val="330527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5CCB1E-8F95-4E3E-A525-676EDF0B34D6}" type="datetimeFigureOut">
              <a:rPr lang="en-US" smtClean="0"/>
              <a:t>19-Mar-16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744F60-3D2E-4AA4-B99C-B0830ED97FB2}" type="slidenum">
              <a:rPr lang="en-US" smtClean="0"/>
              <a:t>‹#›</a:t>
            </a:fld>
            <a:endParaRPr lang="en-US"/>
          </a:p>
        </p:txBody>
      </p:sp>
    </p:spTree>
    <p:extLst>
      <p:ext uri="{BB962C8B-B14F-4D97-AF65-F5344CB8AC3E}">
        <p14:creationId xmlns:p14="http://schemas.microsoft.com/office/powerpoint/2010/main" val="1270087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797064" y="438150"/>
            <a:ext cx="3253264" cy="6974206"/>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37273" y="438150"/>
            <a:ext cx="9571196" cy="6974206"/>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5CCB1E-8F95-4E3E-A525-676EDF0B34D6}" type="datetimeFigureOut">
              <a:rPr lang="en-US" smtClean="0"/>
              <a:t>19-Mar-16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744F60-3D2E-4AA4-B99C-B0830ED97FB2}" type="slidenum">
              <a:rPr lang="en-US" smtClean="0"/>
              <a:t>‹#›</a:t>
            </a:fld>
            <a:endParaRPr lang="en-US"/>
          </a:p>
        </p:txBody>
      </p:sp>
    </p:spTree>
    <p:extLst>
      <p:ext uri="{BB962C8B-B14F-4D97-AF65-F5344CB8AC3E}">
        <p14:creationId xmlns:p14="http://schemas.microsoft.com/office/powerpoint/2010/main" val="865661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7273" y="438150"/>
            <a:ext cx="13013055" cy="159067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37273" y="2190750"/>
            <a:ext cx="13013055" cy="522160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7273" y="7627621"/>
            <a:ext cx="339471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775CCB1E-8F95-4E3E-A525-676EDF0B34D6}" type="datetimeFigureOut">
              <a:rPr lang="en-US" smtClean="0"/>
              <a:t>19-Mar-16</a:t>
            </a:fld>
            <a:endParaRPr lang="en-US"/>
          </a:p>
        </p:txBody>
      </p:sp>
      <p:sp>
        <p:nvSpPr>
          <p:cNvPr id="5" name="Footer Placeholder 4"/>
          <p:cNvSpPr>
            <a:spLocks noGrp="1"/>
          </p:cNvSpPr>
          <p:nvPr>
            <p:ph type="ftr" sz="quarter" idx="3"/>
          </p:nvPr>
        </p:nvSpPr>
        <p:spPr>
          <a:xfrm>
            <a:off x="4997768" y="7627621"/>
            <a:ext cx="5092065"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655618" y="7627621"/>
            <a:ext cx="339471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93744F60-3D2E-4AA4-B99C-B0830ED97FB2}" type="slidenum">
              <a:rPr lang="en-US" smtClean="0"/>
              <a:t>‹#›</a:t>
            </a:fld>
            <a:endParaRPr lang="en-US"/>
          </a:p>
        </p:txBody>
      </p:sp>
    </p:spTree>
    <p:extLst>
      <p:ext uri="{BB962C8B-B14F-4D97-AF65-F5344CB8AC3E}">
        <p14:creationId xmlns:p14="http://schemas.microsoft.com/office/powerpoint/2010/main" val="34884627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TBL 2</a:t>
            </a:r>
            <a:endParaRPr lang="en-US" dirty="0"/>
          </a:p>
        </p:txBody>
      </p:sp>
      <p:sp>
        <p:nvSpPr>
          <p:cNvPr id="3" name="Subtitle 2"/>
          <p:cNvSpPr>
            <a:spLocks noGrp="1"/>
          </p:cNvSpPr>
          <p:nvPr>
            <p:ph type="subTitle" idx="1"/>
          </p:nvPr>
        </p:nvSpPr>
        <p:spPr/>
        <p:txBody>
          <a:bodyPr/>
          <a:lstStyle/>
          <a:p>
            <a:r>
              <a:rPr lang="en-US" smtClean="0"/>
              <a:t>Answers in the "Notes"</a:t>
            </a:r>
            <a:endParaRPr lang="en-US" dirty="0"/>
          </a:p>
        </p:txBody>
      </p:sp>
    </p:spTree>
    <p:extLst>
      <p:ext uri="{BB962C8B-B14F-4D97-AF65-F5344CB8AC3E}">
        <p14:creationId xmlns:p14="http://schemas.microsoft.com/office/powerpoint/2010/main" val="39127790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4733" y="1499217"/>
            <a:ext cx="11134165" cy="4607299"/>
          </a:xfrm>
        </p:spPr>
        <p:txBody>
          <a:bodyPr>
            <a:normAutofit fontScale="92500" lnSpcReduction="10000"/>
          </a:bodyPr>
          <a:lstStyle/>
          <a:p>
            <a:pPr marL="0" indent="0">
              <a:buNone/>
            </a:pPr>
            <a:r>
              <a:rPr lang="en-US" smtClean="0"/>
              <a:t>Q.1. A 62-year-old women s undergoing left hemicolectomy for colonic adenocarcinoma. During this procedure her blood pressure dorps resulating in hypotension  that persists for more than 20 minutes despite intervention with pressor agents. Which of the following pathologic lesions is most likely to occur in her brain as a consequence of this prolonged hypotensive episode?</a:t>
            </a:r>
          </a:p>
          <a:p>
            <a:pPr marL="968156" lvl="1" indent="-484077">
              <a:buFont typeface="+mj-lt"/>
              <a:buAutoNum type="alphaUcPeriod"/>
            </a:pPr>
            <a:r>
              <a:rPr lang="en-US" smtClean="0"/>
              <a:t>A Lacunar infracts of pons</a:t>
            </a:r>
          </a:p>
          <a:p>
            <a:pPr marL="968156" lvl="1" indent="-484077">
              <a:buFont typeface="+mj-lt"/>
              <a:buAutoNum type="alphaUcPeriod"/>
            </a:pPr>
            <a:r>
              <a:rPr lang="en-US" smtClean="0"/>
              <a:t>Linear parasagittal infraction</a:t>
            </a:r>
          </a:p>
          <a:p>
            <a:pPr marL="968156" lvl="1" indent="-484077">
              <a:buFont typeface="+mj-lt"/>
              <a:buAutoNum type="alphaUcPeriod"/>
            </a:pPr>
            <a:r>
              <a:rPr lang="en-US" smtClean="0"/>
              <a:t>Parietal lobe hemorrhagic infraction</a:t>
            </a:r>
          </a:p>
          <a:p>
            <a:pPr marL="968156" lvl="1" indent="-484077">
              <a:buFont typeface="+mj-lt"/>
              <a:buAutoNum type="alphaUcPeriod"/>
            </a:pPr>
            <a:r>
              <a:rPr lang="en-US" smtClean="0"/>
              <a:t>Anterior pituitary necrosis</a:t>
            </a:r>
          </a:p>
          <a:p>
            <a:pPr marL="968156" lvl="1" indent="-484077">
              <a:buFont typeface="+mj-lt"/>
              <a:buAutoNum type="alphaUcPeriod"/>
            </a:pPr>
            <a:r>
              <a:rPr lang="en-US" smtClean="0"/>
              <a:t>Hemorrhagic infraction in basal ganglion</a:t>
            </a:r>
            <a:endParaRPr lang="en-US"/>
          </a:p>
        </p:txBody>
      </p:sp>
    </p:spTree>
    <p:extLst>
      <p:ext uri="{BB962C8B-B14F-4D97-AF65-F5344CB8AC3E}">
        <p14:creationId xmlns:p14="http://schemas.microsoft.com/office/powerpoint/2010/main" val="1927186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1568" y="1599810"/>
            <a:ext cx="11134165" cy="4607299"/>
          </a:xfrm>
        </p:spPr>
        <p:txBody>
          <a:bodyPr>
            <a:normAutofit fontScale="85000" lnSpcReduction="20000"/>
          </a:bodyPr>
          <a:lstStyle/>
          <a:p>
            <a:pPr marL="0" indent="0">
              <a:buNone/>
            </a:pPr>
            <a:r>
              <a:rPr lang="en-US" smtClean="0"/>
              <a:t>Q.2. A previously healthy 43-year-old women experiences a sudden sever headache and loses consciousness within an hour. An emergent head CT scan reveals extensive subarachnoid haemorrhage at the base of the brain. She is afebrile. A lumbar puncture yields cerebrospinal fluid with many red blood cells. The CSF protein is slightly increased, but the glucose is normal. Which of the following is the most likely  cause of this pathological lesion?</a:t>
            </a:r>
          </a:p>
          <a:p>
            <a:pPr marL="1028665" lvl="1" indent="-544587">
              <a:buFont typeface="+mj-lt"/>
              <a:buAutoNum type="alphaUcPeriod"/>
            </a:pPr>
            <a:r>
              <a:rPr lang="en-US" smtClean="0"/>
              <a:t>Ruptured berry aneurysm</a:t>
            </a:r>
          </a:p>
          <a:p>
            <a:pPr marL="1028665" lvl="1" indent="-544587">
              <a:buFont typeface="+mj-lt"/>
              <a:buAutoNum type="alphaUcPeriod"/>
            </a:pPr>
            <a:r>
              <a:rPr lang="en-US" smtClean="0"/>
              <a:t>Ruptured Chorcot Bouchard aneurysm</a:t>
            </a:r>
          </a:p>
          <a:p>
            <a:pPr marL="1028665" lvl="1" indent="-544587">
              <a:buFont typeface="+mj-lt"/>
              <a:buAutoNum type="alphaUcPeriod"/>
            </a:pPr>
            <a:r>
              <a:rPr lang="en-US" smtClean="0"/>
              <a:t>Amyloid arteriopathy</a:t>
            </a:r>
          </a:p>
          <a:p>
            <a:pPr marL="1028665" lvl="1" indent="-544587">
              <a:buFont typeface="+mj-lt"/>
              <a:buAutoNum type="alphaUcPeriod"/>
            </a:pPr>
            <a:r>
              <a:rPr lang="en-US" smtClean="0"/>
              <a:t>Fibrinoid necrosis of artrioles</a:t>
            </a:r>
          </a:p>
          <a:p>
            <a:pPr marL="1028665" lvl="1" indent="-544587">
              <a:buFont typeface="+mj-lt"/>
              <a:buAutoNum type="alphaUcPeriod"/>
            </a:pPr>
            <a:r>
              <a:rPr lang="en-US" smtClean="0"/>
              <a:t>Rupture of AV-malformations</a:t>
            </a:r>
          </a:p>
          <a:p>
            <a:pPr marL="0" indent="0">
              <a:buNone/>
            </a:pPr>
            <a:r>
              <a:rPr lang="en-US" smtClean="0"/>
              <a:t> </a:t>
            </a:r>
            <a:endParaRPr lang="en-US" dirty="0"/>
          </a:p>
        </p:txBody>
      </p:sp>
    </p:spTree>
    <p:extLst>
      <p:ext uri="{BB962C8B-B14F-4D97-AF65-F5344CB8AC3E}">
        <p14:creationId xmlns:p14="http://schemas.microsoft.com/office/powerpoint/2010/main" val="11860930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2161" y="1360904"/>
            <a:ext cx="11134165" cy="4607299"/>
          </a:xfrm>
        </p:spPr>
        <p:txBody>
          <a:bodyPr>
            <a:normAutofit fontScale="92500" lnSpcReduction="20000"/>
          </a:bodyPr>
          <a:lstStyle/>
          <a:p>
            <a:pPr marL="0" indent="0">
              <a:buNone/>
            </a:pPr>
            <a:r>
              <a:rPr lang="en-US" dirty="0" smtClean="0"/>
              <a:t>Q.3. A 48-year-old man presents to the emergency room with sudden onset of sever headache </a:t>
            </a:r>
            <a:r>
              <a:rPr lang="en-US" dirty="0" smtClean="0"/>
              <a:t>and </a:t>
            </a:r>
            <a:r>
              <a:rPr lang="en-US" dirty="0" smtClean="0"/>
              <a:t>third nerve palsy. He is afebrile and shows papilledema on </a:t>
            </a:r>
            <a:r>
              <a:rPr lang="en-US" dirty="0" err="1" smtClean="0"/>
              <a:t>funduscopy</a:t>
            </a:r>
            <a:r>
              <a:rPr lang="en-US" dirty="0" smtClean="0"/>
              <a:t>. A head CT scan shows a 6 cm mass in the right cerebral hemisphere with a midline shift. He dies before further workup can be performed. At autopsy his brain is swollen, </a:t>
            </a:r>
            <a:r>
              <a:rPr lang="en-US" dirty="0" err="1" smtClean="0"/>
              <a:t>gyri</a:t>
            </a:r>
            <a:r>
              <a:rPr lang="en-US" dirty="0" smtClean="0"/>
              <a:t> are enlarged and flattened along with narrowing of sulci. Pons shows recent a </a:t>
            </a:r>
            <a:r>
              <a:rPr lang="en-US" dirty="0" err="1" smtClean="0"/>
              <a:t>haemorrhage</a:t>
            </a:r>
            <a:r>
              <a:rPr lang="en-US" dirty="0" smtClean="0"/>
              <a:t>. Which of the following is the most likely cause of his death?</a:t>
            </a:r>
          </a:p>
          <a:p>
            <a:pPr marL="1028665" lvl="1" indent="-544587">
              <a:buFont typeface="+mj-lt"/>
              <a:buAutoNum type="alphaUcPeriod"/>
            </a:pPr>
            <a:r>
              <a:rPr lang="en-US" dirty="0" smtClean="0"/>
              <a:t>Hydrocephalus ex-</a:t>
            </a:r>
            <a:r>
              <a:rPr lang="en-US" dirty="0" err="1" smtClean="0"/>
              <a:t>vacuo</a:t>
            </a:r>
            <a:endParaRPr lang="en-US" dirty="0" smtClean="0"/>
          </a:p>
          <a:p>
            <a:pPr marL="1028665" lvl="1" indent="-544587">
              <a:buFont typeface="+mj-lt"/>
              <a:buAutoNum type="alphaUcPeriod"/>
            </a:pPr>
            <a:r>
              <a:rPr lang="en-US" dirty="0" smtClean="0"/>
              <a:t>Cerebral edema with </a:t>
            </a:r>
            <a:r>
              <a:rPr lang="en-US" dirty="0" err="1" smtClean="0"/>
              <a:t>tonsillar</a:t>
            </a:r>
            <a:r>
              <a:rPr lang="en-US" dirty="0" smtClean="0"/>
              <a:t> </a:t>
            </a:r>
            <a:r>
              <a:rPr lang="en-US" dirty="0" err="1" smtClean="0"/>
              <a:t>herniaction</a:t>
            </a:r>
            <a:endParaRPr lang="en-US" dirty="0" smtClean="0"/>
          </a:p>
          <a:p>
            <a:pPr marL="1028665" lvl="1" indent="-544587">
              <a:buFont typeface="+mj-lt"/>
              <a:buAutoNum type="alphaUcPeriod"/>
            </a:pPr>
            <a:r>
              <a:rPr lang="en-US" dirty="0" smtClean="0"/>
              <a:t>Cerebral edema with </a:t>
            </a:r>
            <a:r>
              <a:rPr lang="en-US" dirty="0" err="1" smtClean="0"/>
              <a:t>subfalcine</a:t>
            </a:r>
            <a:r>
              <a:rPr lang="en-US" dirty="0" smtClean="0"/>
              <a:t> herniation</a:t>
            </a:r>
          </a:p>
          <a:p>
            <a:pPr marL="1028665" lvl="1" indent="-544587">
              <a:buFont typeface="+mj-lt"/>
              <a:buAutoNum type="alphaUcPeriod"/>
            </a:pPr>
            <a:r>
              <a:rPr lang="en-US" dirty="0" smtClean="0"/>
              <a:t>Cerebral edema with </a:t>
            </a:r>
            <a:r>
              <a:rPr lang="en-US" dirty="0" err="1" smtClean="0"/>
              <a:t>uncal</a:t>
            </a:r>
            <a:r>
              <a:rPr lang="en-US" dirty="0" smtClean="0"/>
              <a:t> herniation</a:t>
            </a:r>
          </a:p>
          <a:p>
            <a:pPr marL="1028665" lvl="1" indent="-544587">
              <a:buFont typeface="+mj-lt"/>
              <a:buAutoNum type="alphaUcPeriod"/>
            </a:pPr>
            <a:r>
              <a:rPr lang="en-US" dirty="0" smtClean="0"/>
              <a:t>Non-communicating hydrocephalus due to </a:t>
            </a:r>
            <a:r>
              <a:rPr lang="en-US" dirty="0" err="1" smtClean="0"/>
              <a:t>ependymoma</a:t>
            </a:r>
            <a:endParaRPr lang="en-US" dirty="0"/>
          </a:p>
        </p:txBody>
      </p:sp>
    </p:spTree>
    <p:extLst>
      <p:ext uri="{BB962C8B-B14F-4D97-AF65-F5344CB8AC3E}">
        <p14:creationId xmlns:p14="http://schemas.microsoft.com/office/powerpoint/2010/main" val="28885604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1865" y="1499217"/>
            <a:ext cx="11134165" cy="4607299"/>
          </a:xfrm>
        </p:spPr>
        <p:txBody>
          <a:bodyPr/>
          <a:lstStyle/>
          <a:p>
            <a:pPr marL="0" indent="0">
              <a:buNone/>
            </a:pPr>
            <a:r>
              <a:rPr lang="en-US" smtClean="0"/>
              <a:t>Q.4. Which one of the following statement regarding CNS vascular disorder is correct?</a:t>
            </a:r>
          </a:p>
          <a:p>
            <a:pPr marL="1028665" lvl="1" indent="-544587">
              <a:buFont typeface="+mj-lt"/>
              <a:buAutoNum type="alphaUcPeriod"/>
            </a:pPr>
            <a:r>
              <a:rPr lang="en-US" smtClean="0"/>
              <a:t>Red neurons are typically seen with in first 4 hours after acute ischemic injury.</a:t>
            </a:r>
          </a:p>
          <a:p>
            <a:pPr marL="1028665" lvl="1" indent="-544587">
              <a:buFont typeface="+mj-lt"/>
              <a:buAutoNum type="alphaUcPeriod"/>
            </a:pPr>
            <a:r>
              <a:rPr lang="en-US" smtClean="0"/>
              <a:t>Slit hemorrhages are associated with mycotic aneurysm.</a:t>
            </a:r>
          </a:p>
          <a:p>
            <a:pPr marL="1028665" lvl="1" indent="-544587">
              <a:buFont typeface="+mj-lt"/>
              <a:buAutoNum type="alphaUcPeriod"/>
            </a:pPr>
            <a:r>
              <a:rPr lang="en-US" smtClean="0"/>
              <a:t>In pseudo laminar necrosis all layers of neocortex are destroyed.</a:t>
            </a:r>
          </a:p>
          <a:p>
            <a:pPr marL="1028665" lvl="1" indent="-544587">
              <a:buFont typeface="+mj-lt"/>
              <a:buAutoNum type="alphaUcPeriod"/>
            </a:pPr>
            <a:r>
              <a:rPr lang="en-US" smtClean="0"/>
              <a:t>Hemorrhagic infracts are typically associated with thrombosis.</a:t>
            </a:r>
          </a:p>
          <a:p>
            <a:pPr marL="1028665" lvl="1" indent="-544587">
              <a:buFont typeface="+mj-lt"/>
              <a:buAutoNum type="alphaUcPeriod"/>
            </a:pPr>
            <a:r>
              <a:rPr lang="en-US" smtClean="0"/>
              <a:t>Pyramidal cells of hippocampus &amp; neocortex are most susceptible to ischemic changes.</a:t>
            </a:r>
          </a:p>
        </p:txBody>
      </p:sp>
    </p:spTree>
    <p:extLst>
      <p:ext uri="{BB962C8B-B14F-4D97-AF65-F5344CB8AC3E}">
        <p14:creationId xmlns:p14="http://schemas.microsoft.com/office/powerpoint/2010/main" val="27488309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7309" y="1675252"/>
            <a:ext cx="11134165" cy="4607299"/>
          </a:xfrm>
        </p:spPr>
        <p:txBody>
          <a:bodyPr>
            <a:normAutofit fontScale="92500" lnSpcReduction="10000"/>
          </a:bodyPr>
          <a:lstStyle/>
          <a:p>
            <a:pPr marL="0" indent="0">
              <a:buNone/>
            </a:pPr>
            <a:r>
              <a:rPr lang="en-US" smtClean="0"/>
              <a:t>Q.5. A known heroin addict was brought to the ER in an unconscious state. In oreder to ascertain the acuse of coma, a thorough physical examination was perforemed. Based on the physical findings, the doctor ruled out heroin as the cause of unconsciousness.</a:t>
            </a:r>
          </a:p>
          <a:p>
            <a:pPr marL="0" indent="0">
              <a:buNone/>
            </a:pPr>
            <a:r>
              <a:rPr lang="en-US" smtClean="0"/>
              <a:t>Which one of the following findings would rule out heroin as the cause of coma in this case?</a:t>
            </a:r>
          </a:p>
          <a:p>
            <a:pPr marL="1028665" lvl="1" indent="-544587">
              <a:buFont typeface="+mj-lt"/>
              <a:buAutoNum type="alphaUcPeriod"/>
            </a:pPr>
            <a:r>
              <a:rPr lang="en-US" smtClean="0"/>
              <a:t>Miosis</a:t>
            </a:r>
          </a:p>
          <a:p>
            <a:pPr marL="1028665" lvl="1" indent="-544587">
              <a:buFont typeface="+mj-lt"/>
              <a:buAutoNum type="alphaUcPeriod"/>
            </a:pPr>
            <a:r>
              <a:rPr lang="en-US" smtClean="0"/>
              <a:t>Hypotension</a:t>
            </a:r>
          </a:p>
          <a:p>
            <a:pPr marL="1028665" lvl="1" indent="-544587">
              <a:buFont typeface="+mj-lt"/>
              <a:buAutoNum type="alphaUcPeriod"/>
            </a:pPr>
            <a:r>
              <a:rPr lang="en-US" smtClean="0"/>
              <a:t>Mydriasis</a:t>
            </a:r>
          </a:p>
          <a:p>
            <a:pPr marL="1028665" lvl="1" indent="-544587">
              <a:buFont typeface="+mj-lt"/>
              <a:buAutoNum type="alphaUcPeriod"/>
            </a:pPr>
            <a:r>
              <a:rPr lang="en-US" smtClean="0"/>
              <a:t>Repiratory depression</a:t>
            </a:r>
          </a:p>
          <a:p>
            <a:pPr marL="1028665" lvl="1" indent="-544587">
              <a:buFont typeface="+mj-lt"/>
              <a:buAutoNum type="alphaUcPeriod"/>
            </a:pPr>
            <a:r>
              <a:rPr lang="en-US" smtClean="0"/>
              <a:t>Vomiting</a:t>
            </a:r>
            <a:endParaRPr lang="en-US" dirty="0"/>
          </a:p>
        </p:txBody>
      </p:sp>
    </p:spTree>
    <p:extLst>
      <p:ext uri="{BB962C8B-B14F-4D97-AF65-F5344CB8AC3E}">
        <p14:creationId xmlns:p14="http://schemas.microsoft.com/office/powerpoint/2010/main" val="15952222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1568" y="1549513"/>
            <a:ext cx="11134165" cy="4607299"/>
          </a:xfrm>
        </p:spPr>
        <p:txBody>
          <a:bodyPr>
            <a:normAutofit lnSpcReduction="10000"/>
          </a:bodyPr>
          <a:lstStyle/>
          <a:p>
            <a:pPr marL="0" indent="0">
              <a:buNone/>
            </a:pPr>
            <a:r>
              <a:rPr lang="en-US" smtClean="0"/>
              <a:t>Q.5. A 45-year-old obese lady presented with acute abdominal pain the right hypochondrium. After physical and ultrasonic examination, a diagnosis of acute cholecystitis was made. She was administered morphine whch aggrabated the pain. The reason for aggravated pain is because morphine:</a:t>
            </a:r>
          </a:p>
          <a:p>
            <a:pPr marL="1028665" lvl="1" indent="-544587">
              <a:buFont typeface="+mj-lt"/>
              <a:buAutoNum type="alphaUcPeriod"/>
            </a:pPr>
            <a:r>
              <a:rPr lang="en-US"/>
              <a:t>c</a:t>
            </a:r>
            <a:r>
              <a:rPr lang="en-US" smtClean="0"/>
              <a:t>auses constipation thus increasing the intra-abdominal pressure</a:t>
            </a:r>
          </a:p>
          <a:p>
            <a:pPr marL="1028665" lvl="1" indent="-544587">
              <a:buFont typeface="+mj-lt"/>
              <a:buAutoNum type="alphaUcPeriod"/>
            </a:pPr>
            <a:r>
              <a:rPr lang="en-US" smtClean="0"/>
              <a:t>does not relieve the pain in gall bladder</a:t>
            </a:r>
          </a:p>
          <a:p>
            <a:pPr marL="1028665" lvl="1" indent="-544587">
              <a:buFont typeface="+mj-lt"/>
              <a:buAutoNum type="alphaUcPeriod"/>
            </a:pPr>
            <a:r>
              <a:rPr lang="en-US" smtClean="0"/>
              <a:t>enhances production of bile in liver</a:t>
            </a:r>
          </a:p>
          <a:p>
            <a:pPr marL="1028665" lvl="1" indent="-544587">
              <a:buFont typeface="+mj-lt"/>
              <a:buAutoNum type="alphaUcPeriod"/>
            </a:pPr>
            <a:r>
              <a:rPr lang="en-US" smtClean="0"/>
              <a:t>increases intrabiliary pressure</a:t>
            </a:r>
          </a:p>
          <a:p>
            <a:pPr marL="1028665" lvl="1" indent="-544587">
              <a:buFont typeface="+mj-lt"/>
              <a:buAutoNum type="alphaUcPeriod"/>
            </a:pPr>
            <a:r>
              <a:rPr lang="en-US" smtClean="0"/>
              <a:t>causes spasm of the gall bladder</a:t>
            </a:r>
            <a:endParaRPr lang="en-US" dirty="0"/>
          </a:p>
        </p:txBody>
      </p:sp>
    </p:spTree>
    <p:extLst>
      <p:ext uri="{BB962C8B-B14F-4D97-AF65-F5344CB8AC3E}">
        <p14:creationId xmlns:p14="http://schemas.microsoft.com/office/powerpoint/2010/main" val="33925324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02457" y="1574660"/>
            <a:ext cx="11134165" cy="4607299"/>
          </a:xfrm>
        </p:spPr>
        <p:txBody>
          <a:bodyPr>
            <a:normAutofit lnSpcReduction="10000"/>
          </a:bodyPr>
          <a:lstStyle/>
          <a:p>
            <a:pPr marL="0" indent="0">
              <a:buNone/>
            </a:pPr>
            <a:r>
              <a:rPr lang="en-US" smtClean="0"/>
              <a:t>Q.7. Khalid is  a 60-year-old man with type II diabetes. He presents to the healthy center complaining of numbness in his hands and feet. Sensory testing showed that he could not feel pin pricks in parts of his toes. Loss of which of the following type of sensory endings is likely to account for these findings?</a:t>
            </a:r>
          </a:p>
          <a:p>
            <a:pPr marL="1028665" lvl="1" indent="-544587">
              <a:buFont typeface="+mj-lt"/>
              <a:buAutoNum type="alphaUcPeriod"/>
            </a:pPr>
            <a:r>
              <a:rPr lang="en-US" smtClean="0"/>
              <a:t>Ruffini corpuscles</a:t>
            </a:r>
          </a:p>
          <a:p>
            <a:pPr marL="1028665" lvl="1" indent="-544587">
              <a:buFont typeface="+mj-lt"/>
              <a:buAutoNum type="alphaUcPeriod"/>
            </a:pPr>
            <a:r>
              <a:rPr lang="en-US" smtClean="0"/>
              <a:t>Merkel cell recptors</a:t>
            </a:r>
          </a:p>
          <a:p>
            <a:pPr marL="1028665" lvl="1" indent="-544587">
              <a:buFont typeface="+mj-lt"/>
              <a:buAutoNum type="alphaUcPeriod"/>
            </a:pPr>
            <a:r>
              <a:rPr lang="en-US" smtClean="0"/>
              <a:t>Pacinian corpuscles</a:t>
            </a:r>
          </a:p>
          <a:p>
            <a:pPr marL="1028665" lvl="1" indent="-544587">
              <a:buFont typeface="+mj-lt"/>
              <a:buAutoNum type="alphaUcPeriod"/>
            </a:pPr>
            <a:r>
              <a:rPr lang="en-US" smtClean="0"/>
              <a:t>Free nerve endings</a:t>
            </a:r>
          </a:p>
          <a:p>
            <a:pPr marL="1028665" lvl="1" indent="-544587">
              <a:buFont typeface="+mj-lt"/>
              <a:buAutoNum type="alphaUcPeriod"/>
            </a:pPr>
            <a:r>
              <a:rPr lang="en-US" smtClean="0"/>
              <a:t>Meissner's endings</a:t>
            </a:r>
            <a:endParaRPr lang="en-US" dirty="0"/>
          </a:p>
        </p:txBody>
      </p:sp>
    </p:spTree>
    <p:extLst>
      <p:ext uri="{BB962C8B-B14F-4D97-AF65-F5344CB8AC3E}">
        <p14:creationId xmlns:p14="http://schemas.microsoft.com/office/powerpoint/2010/main" val="11710944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9291" y="1813566"/>
            <a:ext cx="11134165" cy="4607299"/>
          </a:xfrm>
        </p:spPr>
        <p:txBody>
          <a:bodyPr/>
          <a:lstStyle/>
          <a:p>
            <a:pPr marL="0" indent="0">
              <a:buNone/>
            </a:pPr>
            <a:r>
              <a:rPr lang="en-US" smtClean="0"/>
              <a:t>Q.8. A 72-year-old man was diagnosed with conduction aphasia due to a lesion affecting his left arcuate fasciculus. Which of the following is likely to be observed in this patient?</a:t>
            </a:r>
          </a:p>
          <a:p>
            <a:pPr marL="1028665" lvl="1" indent="-544587">
              <a:buFont typeface="+mj-lt"/>
              <a:buAutoNum type="alphaUcPeriod"/>
            </a:pPr>
            <a:r>
              <a:rPr lang="en-US" smtClean="0"/>
              <a:t>Very poor comprehension of spoken language</a:t>
            </a:r>
          </a:p>
          <a:p>
            <a:pPr marL="1028665" lvl="1" indent="-544587">
              <a:buFont typeface="+mj-lt"/>
              <a:buAutoNum type="alphaUcPeriod"/>
            </a:pPr>
            <a:r>
              <a:rPr lang="en-US" smtClean="0"/>
              <a:t>Very poor comprehension of written language</a:t>
            </a:r>
          </a:p>
          <a:p>
            <a:pPr marL="1028665" lvl="1" indent="-544587">
              <a:buFont typeface="+mj-lt"/>
              <a:buAutoNum type="alphaUcPeriod"/>
            </a:pPr>
            <a:r>
              <a:rPr lang="en-US" smtClean="0"/>
              <a:t>Absecnce of spontaneous speech</a:t>
            </a:r>
          </a:p>
          <a:p>
            <a:pPr marL="1028665" lvl="1" indent="-544587">
              <a:buFont typeface="+mj-lt"/>
              <a:buAutoNum type="alphaUcPeriod"/>
            </a:pPr>
            <a:r>
              <a:rPr lang="en-US" smtClean="0"/>
              <a:t>Spontaneous but incomprehensible speech</a:t>
            </a:r>
          </a:p>
          <a:p>
            <a:pPr marL="1028665" lvl="1" indent="-544587">
              <a:buFont typeface="+mj-lt"/>
              <a:buAutoNum type="alphaUcPeriod"/>
            </a:pPr>
            <a:r>
              <a:rPr lang="en-US" smtClean="0"/>
              <a:t>Speech interrupted by long pauses to search for words</a:t>
            </a:r>
            <a:endParaRPr lang="en-US" dirty="0"/>
          </a:p>
        </p:txBody>
      </p:sp>
    </p:spTree>
    <p:extLst>
      <p:ext uri="{BB962C8B-B14F-4D97-AF65-F5344CB8AC3E}">
        <p14:creationId xmlns:p14="http://schemas.microsoft.com/office/powerpoint/2010/main" val="36415924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9586" y="1624956"/>
            <a:ext cx="11134165" cy="4607299"/>
          </a:xfrm>
        </p:spPr>
        <p:txBody>
          <a:bodyPr>
            <a:normAutofit lnSpcReduction="10000"/>
          </a:bodyPr>
          <a:lstStyle/>
          <a:p>
            <a:pPr marL="0" indent="0">
              <a:buNone/>
            </a:pPr>
            <a:r>
              <a:rPr lang="en-US" smtClean="0"/>
              <a:t>Q.9. Following injury, an athlete may not feel much pain during the excitement of the game because of activation of the body's endogenous analgesia system. In this system, nociceptive (pain) input in the spinal cord is inhibited by descending fibres arising mainly from:</a:t>
            </a:r>
          </a:p>
          <a:p>
            <a:pPr marL="1028665" lvl="1" indent="-544587">
              <a:buFont typeface="+mj-lt"/>
              <a:buAutoNum type="alphaUcPeriod"/>
            </a:pPr>
            <a:r>
              <a:rPr lang="en-US"/>
              <a:t>l</a:t>
            </a:r>
            <a:r>
              <a:rPr lang="en-US" smtClean="0"/>
              <a:t>imbic cortex</a:t>
            </a:r>
          </a:p>
          <a:p>
            <a:pPr marL="1028665" lvl="1" indent="-544587">
              <a:buFont typeface="+mj-lt"/>
              <a:buAutoNum type="alphaUcPeriod"/>
            </a:pPr>
            <a:r>
              <a:rPr lang="en-US" smtClean="0"/>
              <a:t>basal nuclei</a:t>
            </a:r>
          </a:p>
          <a:p>
            <a:pPr marL="1028665" lvl="1" indent="-544587">
              <a:buFont typeface="+mj-lt"/>
              <a:buAutoNum type="alphaUcPeriod"/>
            </a:pPr>
            <a:r>
              <a:rPr lang="en-US" smtClean="0"/>
              <a:t>deep nuclei of the cerebellum</a:t>
            </a:r>
          </a:p>
          <a:p>
            <a:pPr marL="1028665" lvl="1" indent="-544587">
              <a:buFont typeface="+mj-lt"/>
              <a:buAutoNum type="alphaUcPeriod"/>
            </a:pPr>
            <a:r>
              <a:rPr lang="en-US" smtClean="0"/>
              <a:t>midbrain periaqueductal gray matter</a:t>
            </a:r>
          </a:p>
          <a:p>
            <a:pPr marL="1028665" lvl="1" indent="-544587">
              <a:buFont typeface="+mj-lt"/>
              <a:buAutoNum type="alphaUcPeriod"/>
            </a:pPr>
            <a:r>
              <a:rPr lang="en-US" smtClean="0"/>
              <a:t>ventral postero-lateral nuceli of the thalamus</a:t>
            </a:r>
            <a:endParaRPr lang="en-US" dirty="0"/>
          </a:p>
        </p:txBody>
      </p:sp>
    </p:spTree>
    <p:extLst>
      <p:ext uri="{BB962C8B-B14F-4D97-AF65-F5344CB8AC3E}">
        <p14:creationId xmlns:p14="http://schemas.microsoft.com/office/powerpoint/2010/main" val="12047207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9586" y="1763268"/>
            <a:ext cx="11134165" cy="4607299"/>
          </a:xfrm>
        </p:spPr>
        <p:txBody>
          <a:bodyPr/>
          <a:lstStyle/>
          <a:p>
            <a:pPr marL="0" indent="0">
              <a:buNone/>
            </a:pPr>
            <a:r>
              <a:rPr lang="en-US" smtClean="0"/>
              <a:t>Q.10. During an fMRI study, a subject was given instructions which led to neuronal activation of only the supplementrary motor area of the LEFT frontal lobe. Which of the following might have been the instruction given?</a:t>
            </a:r>
          </a:p>
          <a:p>
            <a:pPr marL="1028665" lvl="1" indent="-544587">
              <a:buFont typeface="+mj-lt"/>
              <a:buAutoNum type="alphaUcPeriod"/>
            </a:pPr>
            <a:r>
              <a:rPr lang="en-US" smtClean="0"/>
              <a:t>Take a deep breath</a:t>
            </a:r>
          </a:p>
          <a:p>
            <a:pPr marL="1028665" lvl="1" indent="-544587">
              <a:buFont typeface="+mj-lt"/>
              <a:buAutoNum type="alphaUcPeriod"/>
            </a:pPr>
            <a:r>
              <a:rPr lang="en-US" smtClean="0"/>
              <a:t>Flex tour left index finger</a:t>
            </a:r>
          </a:p>
          <a:p>
            <a:pPr marL="1028665" lvl="1" indent="-544587">
              <a:buFont typeface="+mj-lt"/>
              <a:buAutoNum type="alphaUcPeriod"/>
            </a:pPr>
            <a:r>
              <a:rPr lang="en-US" smtClean="0"/>
              <a:t>Make a fist with your right hand</a:t>
            </a:r>
          </a:p>
          <a:p>
            <a:pPr marL="1028665" lvl="1" indent="-544587">
              <a:buFont typeface="+mj-lt"/>
              <a:buAutoNum type="alphaUcPeriod"/>
            </a:pPr>
            <a:r>
              <a:rPr lang="en-US" smtClean="0"/>
              <a:t>Trace (write) the letter B with your right index finger</a:t>
            </a:r>
          </a:p>
          <a:p>
            <a:pPr marL="1028665" lvl="1" indent="-544587">
              <a:buFont typeface="+mj-lt"/>
              <a:buAutoNum type="alphaUcPeriod"/>
            </a:pPr>
            <a:r>
              <a:rPr lang="en-US" smtClean="0"/>
              <a:t>Think of tracing (writing) the letter B with your right index finger</a:t>
            </a:r>
          </a:p>
        </p:txBody>
      </p:sp>
    </p:spTree>
    <p:extLst>
      <p:ext uri="{BB962C8B-B14F-4D97-AF65-F5344CB8AC3E}">
        <p14:creationId xmlns:p14="http://schemas.microsoft.com/office/powerpoint/2010/main" val="36067428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9291" y="1977025"/>
            <a:ext cx="11134165" cy="4607299"/>
          </a:xfrm>
        </p:spPr>
        <p:txBody>
          <a:bodyPr/>
          <a:lstStyle/>
          <a:p>
            <a:pPr marL="0" indent="0">
              <a:buNone/>
            </a:pPr>
            <a:r>
              <a:rPr lang="en-US" smtClean="0"/>
              <a:t>Q.11. A patient has suffered a stroke caused by occlusion of the right anterior cerebral artery. This patient is most likely to present with:</a:t>
            </a:r>
          </a:p>
          <a:p>
            <a:pPr marL="1028665" lvl="1" indent="-544587">
              <a:buFont typeface="+mj-lt"/>
              <a:buAutoNum type="alphaUcPeriod"/>
            </a:pPr>
            <a:r>
              <a:rPr lang="en-US" smtClean="0"/>
              <a:t>a loss of pain and temperature sensations in the left leg</a:t>
            </a:r>
          </a:p>
          <a:p>
            <a:pPr marL="1028665" lvl="1" indent="-544587">
              <a:buFont typeface="+mj-lt"/>
              <a:buAutoNum type="alphaUcPeriod"/>
            </a:pPr>
            <a:r>
              <a:rPr lang="en-US" smtClean="0"/>
              <a:t>weakness of the right leg</a:t>
            </a:r>
          </a:p>
          <a:p>
            <a:pPr marL="1028665" lvl="1" indent="-544587">
              <a:buFont typeface="+mj-lt"/>
              <a:buAutoNum type="alphaUcPeriod"/>
            </a:pPr>
            <a:r>
              <a:rPr lang="en-US" smtClean="0"/>
              <a:t>drooping of the corner of the mouth on the left</a:t>
            </a:r>
          </a:p>
          <a:p>
            <a:pPr marL="1028665" lvl="1" indent="-544587">
              <a:buFont typeface="+mj-lt"/>
              <a:buAutoNum type="alphaUcPeriod"/>
            </a:pPr>
            <a:r>
              <a:rPr lang="en-US" smtClean="0"/>
              <a:t>a nonfluent aphasia</a:t>
            </a:r>
          </a:p>
          <a:p>
            <a:pPr marL="1028665" lvl="1" indent="-544587">
              <a:buFont typeface="+mj-lt"/>
              <a:buAutoNum type="alphaUcPeriod"/>
            </a:pPr>
            <a:r>
              <a:rPr lang="en-US" smtClean="0"/>
              <a:t>a loss of discriminative touch from the right side of the face</a:t>
            </a:r>
          </a:p>
        </p:txBody>
      </p:sp>
    </p:spTree>
    <p:extLst>
      <p:ext uri="{BB962C8B-B14F-4D97-AF65-F5344CB8AC3E}">
        <p14:creationId xmlns:p14="http://schemas.microsoft.com/office/powerpoint/2010/main" val="9768785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8996" y="1373479"/>
            <a:ext cx="11134165" cy="4607299"/>
          </a:xfrm>
        </p:spPr>
        <p:txBody>
          <a:bodyPr>
            <a:normAutofit fontScale="92500" lnSpcReduction="20000"/>
          </a:bodyPr>
          <a:lstStyle/>
          <a:p>
            <a:pPr marL="0" indent="0">
              <a:buNone/>
            </a:pPr>
            <a:r>
              <a:rPr lang="en-US" dirty="0" smtClean="0"/>
              <a:t>Q.12. Your female patient has suffered a stroke. She has difficulty copying simple diagrams, even though she hears and understands your requests to do so. You noticed that she only has make-up on the right side of her face and does not seem to know where her left hand is in space.</a:t>
            </a:r>
          </a:p>
          <a:p>
            <a:pPr marL="0" indent="0">
              <a:buNone/>
            </a:pPr>
            <a:r>
              <a:rPr lang="en-US" dirty="0" smtClean="0"/>
              <a:t>Which blood vessel might have been occluded to causes these symptoms?</a:t>
            </a:r>
          </a:p>
          <a:p>
            <a:pPr marL="1028665" lvl="1" indent="-544587">
              <a:buFont typeface="+mj-lt"/>
              <a:buAutoNum type="alphaUcPeriod"/>
            </a:pPr>
            <a:r>
              <a:rPr lang="en-US" dirty="0" smtClean="0"/>
              <a:t>Left vertebral artery</a:t>
            </a:r>
          </a:p>
          <a:p>
            <a:pPr marL="1028665" lvl="1" indent="-544587">
              <a:buFont typeface="+mj-lt"/>
              <a:buAutoNum type="alphaUcPeriod"/>
            </a:pPr>
            <a:r>
              <a:rPr lang="en-US" dirty="0" smtClean="0"/>
              <a:t>Right middle cerebral artery</a:t>
            </a:r>
          </a:p>
          <a:p>
            <a:pPr marL="1028665" lvl="1" indent="-544587">
              <a:buFont typeface="+mj-lt"/>
              <a:buAutoNum type="alphaUcPeriod"/>
            </a:pPr>
            <a:r>
              <a:rPr lang="en-US" dirty="0" smtClean="0"/>
              <a:t>Left anterior cerebral artery</a:t>
            </a:r>
          </a:p>
          <a:p>
            <a:pPr marL="1028665" lvl="1" indent="-544587">
              <a:buFont typeface="+mj-lt"/>
              <a:buAutoNum type="alphaUcPeriod"/>
            </a:pPr>
            <a:r>
              <a:rPr lang="en-US" dirty="0" smtClean="0"/>
              <a:t>Right posterior cerebral artery</a:t>
            </a:r>
          </a:p>
          <a:p>
            <a:pPr marL="1028665" lvl="1" indent="-544587">
              <a:buFont typeface="+mj-lt"/>
              <a:buAutoNum type="alphaUcPeriod"/>
            </a:pPr>
            <a:r>
              <a:rPr lang="en-US" dirty="0" smtClean="0"/>
              <a:t>Right anterior cerebral artery</a:t>
            </a:r>
            <a:endParaRPr lang="en-US" dirty="0"/>
          </a:p>
        </p:txBody>
      </p:sp>
    </p:spTree>
    <p:extLst>
      <p:ext uri="{BB962C8B-B14F-4D97-AF65-F5344CB8AC3E}">
        <p14:creationId xmlns:p14="http://schemas.microsoft.com/office/powerpoint/2010/main" val="30335302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89882" y="1398627"/>
            <a:ext cx="11134165" cy="4607299"/>
          </a:xfrm>
        </p:spPr>
        <p:txBody>
          <a:bodyPr>
            <a:normAutofit fontScale="92500" lnSpcReduction="20000"/>
          </a:bodyPr>
          <a:lstStyle/>
          <a:p>
            <a:pPr marL="0" indent="0">
              <a:buNone/>
            </a:pPr>
            <a:r>
              <a:rPr lang="en-US" dirty="0" smtClean="0"/>
              <a:t>Q.13. A 70-year-old man was admitted to the hospital with sudden onset of dizziness, hiccups and vomiting. He also complained of painful sensation on the right side of </a:t>
            </a:r>
            <a:r>
              <a:rPr lang="en-US" dirty="0" smtClean="0"/>
              <a:t>his </a:t>
            </a:r>
            <a:r>
              <a:rPr lang="en-US" dirty="0" smtClean="0"/>
              <a:t>face and left side of his body. On neurological examination his soft palate was drawn to the left side when he is asked to say "Ah". Indirect </a:t>
            </a:r>
            <a:r>
              <a:rPr lang="en-US" dirty="0" err="1" smtClean="0"/>
              <a:t>laryngeoscope</a:t>
            </a:r>
            <a:r>
              <a:rPr lang="en-US" dirty="0" smtClean="0"/>
              <a:t> examination showed that he was unable to move his right vocal cord. The patient also showed ptosis in his right eye. Where is the side of the lesions?</a:t>
            </a:r>
          </a:p>
          <a:p>
            <a:pPr marL="1028665" lvl="1" indent="-544587">
              <a:buFont typeface="+mj-lt"/>
              <a:buAutoNum type="alphaUcPeriod"/>
            </a:pPr>
            <a:r>
              <a:rPr lang="en-US" dirty="0" smtClean="0"/>
              <a:t>Left pons</a:t>
            </a:r>
          </a:p>
          <a:p>
            <a:pPr marL="1028665" lvl="1" indent="-544587">
              <a:buFont typeface="+mj-lt"/>
              <a:buAutoNum type="alphaUcPeriod"/>
            </a:pPr>
            <a:r>
              <a:rPr lang="en-US" dirty="0" smtClean="0"/>
              <a:t>Right pons</a:t>
            </a:r>
          </a:p>
          <a:p>
            <a:pPr marL="1028665" lvl="1" indent="-544587">
              <a:buFont typeface="+mj-lt"/>
              <a:buAutoNum type="alphaUcPeriod"/>
            </a:pPr>
            <a:r>
              <a:rPr lang="en-US" dirty="0" smtClean="0"/>
              <a:t>Right medulla</a:t>
            </a:r>
          </a:p>
          <a:p>
            <a:pPr marL="1028665" lvl="1" indent="-544587">
              <a:buFont typeface="+mj-lt"/>
              <a:buAutoNum type="alphaUcPeriod"/>
            </a:pPr>
            <a:r>
              <a:rPr lang="en-US" dirty="0" smtClean="0"/>
              <a:t>Left medulla</a:t>
            </a:r>
          </a:p>
          <a:p>
            <a:pPr marL="1028665" lvl="1" indent="-544587">
              <a:buFont typeface="+mj-lt"/>
              <a:buAutoNum type="alphaUcPeriod"/>
            </a:pPr>
            <a:r>
              <a:rPr lang="en-US" dirty="0" smtClean="0"/>
              <a:t>Mid brain</a:t>
            </a:r>
          </a:p>
        </p:txBody>
      </p:sp>
    </p:spTree>
    <p:extLst>
      <p:ext uri="{BB962C8B-B14F-4D97-AF65-F5344CB8AC3E}">
        <p14:creationId xmlns:p14="http://schemas.microsoft.com/office/powerpoint/2010/main" val="36746886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mtClean="0"/>
              <a:t>Q.14. Which of the following structures is responsible for pain and temperature sensation from the right side of the face?</a:t>
            </a:r>
          </a:p>
          <a:p>
            <a:pPr marL="1028665" lvl="1" indent="-544587">
              <a:buFont typeface="+mj-lt"/>
              <a:buAutoNum type="alphaUcPeriod"/>
            </a:pPr>
            <a:r>
              <a:rPr lang="en-US" smtClean="0"/>
              <a:t>Spinal leminiscus</a:t>
            </a:r>
          </a:p>
          <a:p>
            <a:pPr marL="1028665" lvl="1" indent="-544587">
              <a:buFont typeface="+mj-lt"/>
              <a:buAutoNum type="alphaUcPeriod"/>
            </a:pPr>
            <a:r>
              <a:rPr lang="en-US" smtClean="0"/>
              <a:t>Medial leminiscus</a:t>
            </a:r>
          </a:p>
          <a:p>
            <a:pPr marL="1028665" lvl="1" indent="-544587">
              <a:buFont typeface="+mj-lt"/>
              <a:buAutoNum type="alphaUcPeriod"/>
            </a:pPr>
            <a:r>
              <a:rPr lang="en-US" smtClean="0"/>
              <a:t>Lateral leminiscus</a:t>
            </a:r>
          </a:p>
          <a:p>
            <a:pPr marL="1028665" lvl="1" indent="-544587">
              <a:buFont typeface="+mj-lt"/>
              <a:buAutoNum type="alphaUcPeriod"/>
            </a:pPr>
            <a:r>
              <a:rPr lang="en-US" smtClean="0"/>
              <a:t>Spinal trigeminal leminiscus</a:t>
            </a:r>
          </a:p>
          <a:p>
            <a:pPr marL="1028665" lvl="1" indent="-544587">
              <a:buFont typeface="+mj-lt"/>
              <a:buAutoNum type="alphaUcPeriod"/>
            </a:pPr>
            <a:r>
              <a:rPr lang="en-US" smtClean="0"/>
              <a:t>Tractus solitarius</a:t>
            </a:r>
          </a:p>
        </p:txBody>
      </p:sp>
    </p:spTree>
    <p:extLst>
      <p:ext uri="{BB962C8B-B14F-4D97-AF65-F5344CB8AC3E}">
        <p14:creationId xmlns:p14="http://schemas.microsoft.com/office/powerpoint/2010/main" val="27531392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9586" y="1033988"/>
            <a:ext cx="11134165" cy="5674179"/>
          </a:xfrm>
        </p:spPr>
        <p:txBody>
          <a:bodyPr>
            <a:normAutofit fontScale="92500" lnSpcReduction="10000"/>
          </a:bodyPr>
          <a:lstStyle/>
          <a:p>
            <a:pPr marL="0" indent="0">
              <a:buNone/>
            </a:pPr>
            <a:r>
              <a:rPr lang="en-US" dirty="0" smtClean="0"/>
              <a:t>Q.15. A 15-year-old girl was brought to neurological clinic as her mother noticed a weakness on the right side of her face. It was noticed that </a:t>
            </a:r>
            <a:r>
              <a:rPr lang="en-US" smtClean="0"/>
              <a:t>her </a:t>
            </a:r>
            <a:r>
              <a:rPr lang="en-US" smtClean="0"/>
              <a:t>mouth </a:t>
            </a:r>
            <a:r>
              <a:rPr lang="en-US" dirty="0" smtClean="0"/>
              <a:t>was pulled to the left side. On neurological examination there was definite weakness of the facial muscles on the right side. The skin sensation on the face was normal. Her right eye was deviated medially and she was unable to abduct her right eye. She has spastic type of paralysis involving her left arm and leg. Where is the site of lesion in this case?</a:t>
            </a:r>
          </a:p>
          <a:p>
            <a:pPr marL="1028665" lvl="1" indent="-544587">
              <a:buFont typeface="+mj-lt"/>
              <a:buAutoNum type="alphaUcPeriod"/>
            </a:pPr>
            <a:r>
              <a:rPr lang="en-US" dirty="0" smtClean="0"/>
              <a:t>Left pons</a:t>
            </a:r>
          </a:p>
          <a:p>
            <a:pPr marL="1028665" lvl="1" indent="-544587">
              <a:buFont typeface="+mj-lt"/>
              <a:buAutoNum type="alphaUcPeriod"/>
            </a:pPr>
            <a:r>
              <a:rPr lang="en-US" dirty="0" smtClean="0"/>
              <a:t>Right pons</a:t>
            </a:r>
          </a:p>
          <a:p>
            <a:pPr marL="1028665" lvl="1" indent="-544587">
              <a:buFont typeface="+mj-lt"/>
              <a:buAutoNum type="alphaUcPeriod"/>
            </a:pPr>
            <a:r>
              <a:rPr lang="en-US" dirty="0" smtClean="0"/>
              <a:t>Right medulla</a:t>
            </a:r>
          </a:p>
          <a:p>
            <a:pPr marL="1028665" lvl="1" indent="-544587">
              <a:buFont typeface="+mj-lt"/>
              <a:buAutoNum type="alphaUcPeriod"/>
            </a:pPr>
            <a:r>
              <a:rPr lang="en-US" dirty="0" smtClean="0"/>
              <a:t>Left medulla</a:t>
            </a:r>
          </a:p>
          <a:p>
            <a:pPr marL="1028665" lvl="1" indent="-544587">
              <a:buFont typeface="+mj-lt"/>
              <a:buAutoNum type="alphaUcPeriod"/>
            </a:pPr>
            <a:r>
              <a:rPr lang="en-US" dirty="0" smtClean="0"/>
              <a:t>Mid brain</a:t>
            </a:r>
          </a:p>
          <a:p>
            <a:pPr marL="0" indent="0">
              <a:buNone/>
            </a:pPr>
            <a:endParaRPr lang="en-US" dirty="0"/>
          </a:p>
        </p:txBody>
      </p:sp>
    </p:spTree>
    <p:extLst>
      <p:ext uri="{BB962C8B-B14F-4D97-AF65-F5344CB8AC3E}">
        <p14:creationId xmlns:p14="http://schemas.microsoft.com/office/powerpoint/2010/main" val="488061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t="7032" b="10111"/>
          <a:stretch/>
        </p:blipFill>
        <p:spPr>
          <a:xfrm>
            <a:off x="1944241" y="479448"/>
            <a:ext cx="5696887" cy="7266060"/>
          </a:xfrm>
          <a:prstGeom prst="rect">
            <a:avLst/>
          </a:prstGeom>
        </p:spPr>
      </p:pic>
      <p:pic>
        <p:nvPicPr>
          <p:cNvPr id="5" name="Picture 4"/>
          <p:cNvPicPr>
            <a:picLocks noChangeAspect="1"/>
          </p:cNvPicPr>
          <p:nvPr/>
        </p:nvPicPr>
        <p:blipFill rotWithShape="1">
          <a:blip r:embed="rId4"/>
          <a:srcRect b="8581"/>
          <a:stretch/>
        </p:blipFill>
        <p:spPr>
          <a:xfrm>
            <a:off x="8030912" y="479450"/>
            <a:ext cx="5324752" cy="7266058"/>
          </a:xfrm>
          <a:prstGeom prst="rect">
            <a:avLst/>
          </a:prstGeom>
        </p:spPr>
      </p:pic>
    </p:spTree>
    <p:extLst>
      <p:ext uri="{BB962C8B-B14F-4D97-AF65-F5344CB8AC3E}">
        <p14:creationId xmlns:p14="http://schemas.microsoft.com/office/powerpoint/2010/main" val="26699676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1711</TotalTime>
  <Words>1271</Words>
  <Application>Microsoft Office PowerPoint</Application>
  <PresentationFormat>Custom</PresentationFormat>
  <Paragraphs>131</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TBL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Toshiba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Ahmad</dc:creator>
  <cp:lastModifiedBy>omar mrax</cp:lastModifiedBy>
  <cp:revision>20</cp:revision>
  <cp:lastPrinted>2016-03-20T03:39:02Z</cp:lastPrinted>
  <dcterms:created xsi:type="dcterms:W3CDTF">2016-02-11T14:19:49Z</dcterms:created>
  <dcterms:modified xsi:type="dcterms:W3CDTF">2016-03-20T04:15:51Z</dcterms:modified>
</cp:coreProperties>
</file>