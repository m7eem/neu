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faisal 10th Batch" initials="A1B" lastIdx="1" clrIdx="0">
    <p:extLst>
      <p:ext uri="{19B8F6BF-5375-455C-9EA6-DF929625EA0E}">
        <p15:presenceInfo xmlns:p15="http://schemas.microsoft.com/office/powerpoint/2012/main" userId="704963155_tp_dropbox"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0414" autoAdjust="0"/>
  </p:normalViewPr>
  <p:slideViewPr>
    <p:cSldViewPr snapToGrid="0">
      <p:cViewPr varScale="1">
        <p:scale>
          <a:sx n="67" d="100"/>
          <a:sy n="67" d="100"/>
        </p:scale>
        <p:origin x="8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commentAuthors" Target="commentAuthors.xml" /><Relationship Id="rId28" Type="http://schemas.microsoft.com/office/2016/11/relationships/changesInfo" Target="changesInfos/changesInfo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notesMaster" Target="notesMasters/notesMaster1.xml" /><Relationship Id="rId27" Type="http://schemas.openxmlformats.org/officeDocument/2006/relationships/tableStyles" Target="tableStyle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faisal 10th Batch" userId="704963155_tp_dropbox" providerId="OAuth2" clId="{C6596A4D-5E6C-114C-998F-1FFB876B9066}"/>
    <pc:docChg chg="">
      <pc:chgData name="Alfaisal 10th Batch" userId="704963155_tp_dropbox" providerId="OAuth2" clId="{C6596A4D-5E6C-114C-998F-1FFB876B9066}" dt="2019-02-03T04:50:30.400" v="0" actId="1589"/>
      <pc:docMkLst>
        <pc:docMk/>
      </pc:docMkLst>
      <pc:sldChg chg="addCm">
        <pc:chgData name="Alfaisal 10th Batch" userId="704963155_tp_dropbox" providerId="OAuth2" clId="{C6596A4D-5E6C-114C-998F-1FFB876B9066}" dt="2019-02-03T04:50:30.400" v="0" actId="1589"/>
        <pc:sldMkLst>
          <pc:docMk/>
          <pc:sldMk cId="996132681" sldId="258"/>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19-02-03T07:50:30.395" idx="1">
    <p:pos x="10" y="10"/>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7DB260-D79D-4332-806D-7ED6FA312166}" type="datetimeFigureOut">
              <a:rPr lang="en-US" smtClean="0"/>
              <a:t>2/3/2019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9C8F5F-3292-42E5-9D84-12384190F22F}" type="slidenum">
              <a:rPr lang="en-US" smtClean="0"/>
              <a:t>‹#›</a:t>
            </a:fld>
            <a:endParaRPr lang="en-US" dirty="0"/>
          </a:p>
        </p:txBody>
      </p:sp>
    </p:spTree>
    <p:extLst>
      <p:ext uri="{BB962C8B-B14F-4D97-AF65-F5344CB8AC3E}">
        <p14:creationId xmlns:p14="http://schemas.microsoft.com/office/powerpoint/2010/main" val="630299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p>
        </p:txBody>
      </p:sp>
      <p:sp>
        <p:nvSpPr>
          <p:cNvPr id="4" name="Slide Number Placeholder 3"/>
          <p:cNvSpPr>
            <a:spLocks noGrp="1"/>
          </p:cNvSpPr>
          <p:nvPr>
            <p:ph type="sldNum" sz="quarter" idx="10"/>
          </p:nvPr>
        </p:nvSpPr>
        <p:spPr/>
        <p:txBody>
          <a:bodyPr/>
          <a:lstStyle/>
          <a:p>
            <a:fld id="{A1AE4D5C-2422-4464-8733-DB50F4F7FC23}" type="slidenum">
              <a:rPr lang="en-US" smtClean="0"/>
              <a:t>2</a:t>
            </a:fld>
            <a:endParaRPr lang="en-US" dirty="0"/>
          </a:p>
        </p:txBody>
      </p:sp>
    </p:spTree>
    <p:extLst>
      <p:ext uri="{BB962C8B-B14F-4D97-AF65-F5344CB8AC3E}">
        <p14:creationId xmlns:p14="http://schemas.microsoft.com/office/powerpoint/2010/main" val="314580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p>
        </p:txBody>
      </p:sp>
      <p:sp>
        <p:nvSpPr>
          <p:cNvPr id="4" name="Slide Number Placeholder 3"/>
          <p:cNvSpPr>
            <a:spLocks noGrp="1"/>
          </p:cNvSpPr>
          <p:nvPr>
            <p:ph type="sldNum" sz="quarter" idx="10"/>
          </p:nvPr>
        </p:nvSpPr>
        <p:spPr/>
        <p:txBody>
          <a:bodyPr/>
          <a:lstStyle/>
          <a:p>
            <a:fld id="{A1AE4D5C-2422-4464-8733-DB50F4F7FC23}" type="slidenum">
              <a:rPr lang="en-US" smtClean="0"/>
              <a:t>3</a:t>
            </a:fld>
            <a:endParaRPr lang="en-US" dirty="0"/>
          </a:p>
        </p:txBody>
      </p:sp>
    </p:spTree>
    <p:extLst>
      <p:ext uri="{BB962C8B-B14F-4D97-AF65-F5344CB8AC3E}">
        <p14:creationId xmlns:p14="http://schemas.microsoft.com/office/powerpoint/2010/main" val="3218237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4</a:t>
            </a:fld>
            <a:endParaRPr lang="en-US" dirty="0"/>
          </a:p>
        </p:txBody>
      </p:sp>
    </p:spTree>
    <p:extLst>
      <p:ext uri="{BB962C8B-B14F-4D97-AF65-F5344CB8AC3E}">
        <p14:creationId xmlns:p14="http://schemas.microsoft.com/office/powerpoint/2010/main" val="4156127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t>
            </a:r>
          </a:p>
        </p:txBody>
      </p:sp>
      <p:sp>
        <p:nvSpPr>
          <p:cNvPr id="4" name="Slide Number Placeholder 3"/>
          <p:cNvSpPr>
            <a:spLocks noGrp="1"/>
          </p:cNvSpPr>
          <p:nvPr>
            <p:ph type="sldNum" sz="quarter" idx="10"/>
          </p:nvPr>
        </p:nvSpPr>
        <p:spPr/>
        <p:txBody>
          <a:bodyPr/>
          <a:lstStyle/>
          <a:p>
            <a:fld id="{A1AE4D5C-2422-4464-8733-DB50F4F7FC23}" type="slidenum">
              <a:rPr lang="en-US" smtClean="0"/>
              <a:t>5</a:t>
            </a:fld>
            <a:endParaRPr lang="en-US" dirty="0"/>
          </a:p>
        </p:txBody>
      </p:sp>
    </p:spTree>
    <p:extLst>
      <p:ext uri="{BB962C8B-B14F-4D97-AF65-F5344CB8AC3E}">
        <p14:creationId xmlns:p14="http://schemas.microsoft.com/office/powerpoint/2010/main" val="1254874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6</a:t>
            </a:fld>
            <a:endParaRPr lang="en-US" dirty="0"/>
          </a:p>
        </p:txBody>
      </p:sp>
    </p:spTree>
    <p:extLst>
      <p:ext uri="{BB962C8B-B14F-4D97-AF65-F5344CB8AC3E}">
        <p14:creationId xmlns:p14="http://schemas.microsoft.com/office/powerpoint/2010/main" val="1345318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t>
            </a:r>
          </a:p>
        </p:txBody>
      </p:sp>
      <p:sp>
        <p:nvSpPr>
          <p:cNvPr id="4" name="Slide Number Placeholder 3"/>
          <p:cNvSpPr>
            <a:spLocks noGrp="1"/>
          </p:cNvSpPr>
          <p:nvPr>
            <p:ph type="sldNum" sz="quarter" idx="10"/>
          </p:nvPr>
        </p:nvSpPr>
        <p:spPr/>
        <p:txBody>
          <a:bodyPr/>
          <a:lstStyle/>
          <a:p>
            <a:fld id="{A1AE4D5C-2422-4464-8733-DB50F4F7FC23}" type="slidenum">
              <a:rPr lang="en-US" smtClean="0"/>
              <a:t>7</a:t>
            </a:fld>
            <a:endParaRPr lang="en-US" dirty="0"/>
          </a:p>
        </p:txBody>
      </p:sp>
    </p:spTree>
    <p:extLst>
      <p:ext uri="{BB962C8B-B14F-4D97-AF65-F5344CB8AC3E}">
        <p14:creationId xmlns:p14="http://schemas.microsoft.com/office/powerpoint/2010/main" val="1524976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a:t>
            </a:r>
          </a:p>
        </p:txBody>
      </p:sp>
      <p:sp>
        <p:nvSpPr>
          <p:cNvPr id="4" name="Slide Number Placeholder 3"/>
          <p:cNvSpPr>
            <a:spLocks noGrp="1"/>
          </p:cNvSpPr>
          <p:nvPr>
            <p:ph type="sldNum" sz="quarter" idx="10"/>
          </p:nvPr>
        </p:nvSpPr>
        <p:spPr/>
        <p:txBody>
          <a:bodyPr/>
          <a:lstStyle/>
          <a:p>
            <a:fld id="{A1AE4D5C-2422-4464-8733-DB50F4F7FC23}" type="slidenum">
              <a:rPr lang="en-US" smtClean="0"/>
              <a:t>8</a:t>
            </a:fld>
            <a:endParaRPr lang="en-US" dirty="0"/>
          </a:p>
        </p:txBody>
      </p:sp>
    </p:spTree>
    <p:extLst>
      <p:ext uri="{BB962C8B-B14F-4D97-AF65-F5344CB8AC3E}">
        <p14:creationId xmlns:p14="http://schemas.microsoft.com/office/powerpoint/2010/main" val="1870829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9</a:t>
            </a:fld>
            <a:endParaRPr lang="en-US" dirty="0"/>
          </a:p>
        </p:txBody>
      </p:sp>
    </p:spTree>
    <p:extLst>
      <p:ext uri="{BB962C8B-B14F-4D97-AF65-F5344CB8AC3E}">
        <p14:creationId xmlns:p14="http://schemas.microsoft.com/office/powerpoint/2010/main" val="2835150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t>
            </a:r>
          </a:p>
        </p:txBody>
      </p:sp>
      <p:sp>
        <p:nvSpPr>
          <p:cNvPr id="4" name="Slide Number Placeholder 3"/>
          <p:cNvSpPr>
            <a:spLocks noGrp="1"/>
          </p:cNvSpPr>
          <p:nvPr>
            <p:ph type="sldNum" sz="quarter" idx="10"/>
          </p:nvPr>
        </p:nvSpPr>
        <p:spPr/>
        <p:txBody>
          <a:bodyPr/>
          <a:lstStyle/>
          <a:p>
            <a:fld id="{A1AE4D5C-2422-4464-8733-DB50F4F7FC23}" type="slidenum">
              <a:rPr lang="en-US" smtClean="0"/>
              <a:t>10</a:t>
            </a:fld>
            <a:endParaRPr lang="en-US" dirty="0"/>
          </a:p>
        </p:txBody>
      </p:sp>
    </p:spTree>
    <p:extLst>
      <p:ext uri="{BB962C8B-B14F-4D97-AF65-F5344CB8AC3E}">
        <p14:creationId xmlns:p14="http://schemas.microsoft.com/office/powerpoint/2010/main" val="2131003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11</a:t>
            </a:fld>
            <a:endParaRPr lang="en-US" dirty="0"/>
          </a:p>
        </p:txBody>
      </p:sp>
    </p:spTree>
    <p:extLst>
      <p:ext uri="{BB962C8B-B14F-4D97-AF65-F5344CB8AC3E}">
        <p14:creationId xmlns:p14="http://schemas.microsoft.com/office/powerpoint/2010/main" val="294857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12</a:t>
            </a:fld>
            <a:endParaRPr lang="en-US" dirty="0"/>
          </a:p>
        </p:txBody>
      </p:sp>
    </p:spTree>
    <p:extLst>
      <p:ext uri="{BB962C8B-B14F-4D97-AF65-F5344CB8AC3E}">
        <p14:creationId xmlns:p14="http://schemas.microsoft.com/office/powerpoint/2010/main" val="1146672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a:t>
            </a:r>
          </a:p>
        </p:txBody>
      </p:sp>
      <p:sp>
        <p:nvSpPr>
          <p:cNvPr id="4" name="Slide Number Placeholder 3"/>
          <p:cNvSpPr>
            <a:spLocks noGrp="1"/>
          </p:cNvSpPr>
          <p:nvPr>
            <p:ph type="sldNum" sz="quarter" idx="10"/>
          </p:nvPr>
        </p:nvSpPr>
        <p:spPr/>
        <p:txBody>
          <a:bodyPr/>
          <a:lstStyle/>
          <a:p>
            <a:fld id="{A1AE4D5C-2422-4464-8733-DB50F4F7FC23}" type="slidenum">
              <a:rPr lang="en-US" smtClean="0"/>
              <a:t>13</a:t>
            </a:fld>
            <a:endParaRPr lang="en-US" dirty="0"/>
          </a:p>
        </p:txBody>
      </p:sp>
    </p:spTree>
    <p:extLst>
      <p:ext uri="{BB962C8B-B14F-4D97-AF65-F5344CB8AC3E}">
        <p14:creationId xmlns:p14="http://schemas.microsoft.com/office/powerpoint/2010/main" val="1002021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14</a:t>
            </a:fld>
            <a:endParaRPr lang="en-US" dirty="0"/>
          </a:p>
        </p:txBody>
      </p:sp>
    </p:spTree>
    <p:extLst>
      <p:ext uri="{BB962C8B-B14F-4D97-AF65-F5344CB8AC3E}">
        <p14:creationId xmlns:p14="http://schemas.microsoft.com/office/powerpoint/2010/main" val="3470282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
            </a:r>
          </a:p>
        </p:txBody>
      </p:sp>
      <p:sp>
        <p:nvSpPr>
          <p:cNvPr id="4" name="Slide Number Placeholder 3"/>
          <p:cNvSpPr>
            <a:spLocks noGrp="1"/>
          </p:cNvSpPr>
          <p:nvPr>
            <p:ph type="sldNum" sz="quarter" idx="10"/>
          </p:nvPr>
        </p:nvSpPr>
        <p:spPr/>
        <p:txBody>
          <a:bodyPr/>
          <a:lstStyle/>
          <a:p>
            <a:fld id="{A1AE4D5C-2422-4464-8733-DB50F4F7FC23}" type="slidenum">
              <a:rPr lang="en-US" smtClean="0"/>
              <a:t>15</a:t>
            </a:fld>
            <a:endParaRPr lang="en-US" dirty="0"/>
          </a:p>
        </p:txBody>
      </p:sp>
    </p:spTree>
    <p:extLst>
      <p:ext uri="{BB962C8B-B14F-4D97-AF65-F5344CB8AC3E}">
        <p14:creationId xmlns:p14="http://schemas.microsoft.com/office/powerpoint/2010/main" val="39033184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t>
            </a:r>
          </a:p>
        </p:txBody>
      </p:sp>
      <p:sp>
        <p:nvSpPr>
          <p:cNvPr id="4" name="Slide Number Placeholder 3"/>
          <p:cNvSpPr>
            <a:spLocks noGrp="1"/>
          </p:cNvSpPr>
          <p:nvPr>
            <p:ph type="sldNum" sz="quarter" idx="10"/>
          </p:nvPr>
        </p:nvSpPr>
        <p:spPr/>
        <p:txBody>
          <a:bodyPr/>
          <a:lstStyle/>
          <a:p>
            <a:fld id="{A1AE4D5C-2422-4464-8733-DB50F4F7FC23}" type="slidenum">
              <a:rPr lang="en-US" smtClean="0"/>
              <a:t>16</a:t>
            </a:fld>
            <a:endParaRPr lang="en-US" dirty="0"/>
          </a:p>
        </p:txBody>
      </p:sp>
    </p:spTree>
    <p:extLst>
      <p:ext uri="{BB962C8B-B14F-4D97-AF65-F5344CB8AC3E}">
        <p14:creationId xmlns:p14="http://schemas.microsoft.com/office/powerpoint/2010/main" val="2278677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a:t>
            </a:r>
          </a:p>
        </p:txBody>
      </p:sp>
      <p:sp>
        <p:nvSpPr>
          <p:cNvPr id="4" name="Slide Number Placeholder 3"/>
          <p:cNvSpPr>
            <a:spLocks noGrp="1"/>
          </p:cNvSpPr>
          <p:nvPr>
            <p:ph type="sldNum" sz="quarter" idx="10"/>
          </p:nvPr>
        </p:nvSpPr>
        <p:spPr/>
        <p:txBody>
          <a:bodyPr/>
          <a:lstStyle/>
          <a:p>
            <a:fld id="{A1AE4D5C-2422-4464-8733-DB50F4F7FC23}" type="slidenum">
              <a:rPr lang="en-US" smtClean="0"/>
              <a:t>17</a:t>
            </a:fld>
            <a:endParaRPr lang="en-US" dirty="0"/>
          </a:p>
        </p:txBody>
      </p:sp>
    </p:spTree>
    <p:extLst>
      <p:ext uri="{BB962C8B-B14F-4D97-AF65-F5344CB8AC3E}">
        <p14:creationId xmlns:p14="http://schemas.microsoft.com/office/powerpoint/2010/main" val="2010579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A1AE4D5C-2422-4464-8733-DB50F4F7FC23}" type="slidenum">
              <a:rPr lang="en-US" smtClean="0"/>
              <a:t>18</a:t>
            </a:fld>
            <a:endParaRPr lang="en-US" dirty="0"/>
          </a:p>
        </p:txBody>
      </p:sp>
    </p:spTree>
    <p:extLst>
      <p:ext uri="{BB962C8B-B14F-4D97-AF65-F5344CB8AC3E}">
        <p14:creationId xmlns:p14="http://schemas.microsoft.com/office/powerpoint/2010/main" val="4868389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A1AE4D5C-2422-4464-8733-DB50F4F7FC23}" type="slidenum">
              <a:rPr lang="en-US" smtClean="0"/>
              <a:t>19</a:t>
            </a:fld>
            <a:endParaRPr lang="en-US" dirty="0"/>
          </a:p>
        </p:txBody>
      </p:sp>
    </p:spTree>
    <p:extLst>
      <p:ext uri="{BB962C8B-B14F-4D97-AF65-F5344CB8AC3E}">
        <p14:creationId xmlns:p14="http://schemas.microsoft.com/office/powerpoint/2010/main" val="1299248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a:t>Spinal shock</a:t>
            </a:r>
          </a:p>
          <a:p>
            <a:pPr marL="228600" indent="-228600">
              <a:buAutoNum type="arabicPeriod"/>
            </a:pPr>
            <a:r>
              <a:rPr lang="en-US" b="1" dirty="0"/>
              <a:t>Dorsal column</a:t>
            </a:r>
          </a:p>
          <a:p>
            <a:pPr marL="228600" indent="-228600">
              <a:buAutoNum type="arabicPeriod"/>
            </a:pPr>
            <a:r>
              <a:rPr lang="en-US" b="1" dirty="0"/>
              <a:t>Pain and temperature </a:t>
            </a:r>
            <a:r>
              <a:rPr lang="en-US" b="1" baseline="0" dirty="0">
                <a:sym typeface="Wingdings" panose="05000000000000000000" pitchFamily="2" charset="2"/>
              </a:rPr>
              <a:t> c</a:t>
            </a:r>
            <a:r>
              <a:rPr lang="en-US" b="1" dirty="0"/>
              <a:t>onducted by fibers of lateral spinothalamic tract, which cross at the level of the spina cord or 1 level above </a:t>
            </a:r>
            <a:r>
              <a:rPr lang="en-US" b="1" baseline="0" dirty="0">
                <a:sym typeface="Wingdings" panose="05000000000000000000" pitchFamily="2" charset="2"/>
              </a:rPr>
              <a:t></a:t>
            </a:r>
            <a:r>
              <a:rPr lang="en-US" b="1" dirty="0"/>
              <a:t> loss on the contralateral side.</a:t>
            </a:r>
            <a:br>
              <a:rPr lang="en-US" b="1" dirty="0"/>
            </a:br>
            <a:r>
              <a:rPr lang="en-US" b="1" dirty="0"/>
              <a:t>Vibration and position </a:t>
            </a:r>
            <a:r>
              <a:rPr lang="en-US" b="1" baseline="0" dirty="0">
                <a:sym typeface="Wingdings" panose="05000000000000000000" pitchFamily="2" charset="2"/>
              </a:rPr>
              <a:t> </a:t>
            </a:r>
            <a:r>
              <a:rPr lang="en-US" b="1" dirty="0"/>
              <a:t>conducted by fibers of dorsal column, which cross at the level of lower medulla </a:t>
            </a:r>
            <a:r>
              <a:rPr lang="en-US" b="1" baseline="0" dirty="0">
                <a:sym typeface="Wingdings" panose="05000000000000000000" pitchFamily="2" charset="2"/>
              </a:rPr>
              <a:t></a:t>
            </a:r>
            <a:r>
              <a:rPr lang="en-US" b="1" dirty="0"/>
              <a:t> loss on the ipsilateral side.</a:t>
            </a:r>
          </a:p>
          <a:p>
            <a:pPr marL="228600" indent="-228600">
              <a:buAutoNum type="arabicPeriod"/>
            </a:pPr>
            <a:r>
              <a:rPr lang="en-US" b="1" dirty="0"/>
              <a:t>Upper motor neuron injury: UMN have inhibitory effect on LMN, if injured, then no inhibition </a:t>
            </a:r>
            <a:r>
              <a:rPr lang="en-US" b="1" baseline="0" dirty="0">
                <a:sym typeface="Wingdings" panose="05000000000000000000" pitchFamily="2" charset="2"/>
              </a:rPr>
              <a:t> exaggerated reflexes ( hyperreflexia and hypertonia)</a:t>
            </a:r>
            <a:endParaRPr lang="en-US" b="1" dirty="0"/>
          </a:p>
        </p:txBody>
      </p:sp>
      <p:sp>
        <p:nvSpPr>
          <p:cNvPr id="4" name="Slide Number Placeholder 3"/>
          <p:cNvSpPr>
            <a:spLocks noGrp="1"/>
          </p:cNvSpPr>
          <p:nvPr>
            <p:ph type="sldNum" sz="quarter" idx="10"/>
          </p:nvPr>
        </p:nvSpPr>
        <p:spPr/>
        <p:txBody>
          <a:bodyPr/>
          <a:lstStyle/>
          <a:p>
            <a:fld id="{A1AE4D5C-2422-4464-8733-DB50F4F7FC23}" type="slidenum">
              <a:rPr lang="en-US" smtClean="0"/>
              <a:t>20</a:t>
            </a:fld>
            <a:endParaRPr lang="en-US" dirty="0"/>
          </a:p>
        </p:txBody>
      </p:sp>
    </p:spTree>
    <p:extLst>
      <p:ext uri="{BB962C8B-B14F-4D97-AF65-F5344CB8AC3E}">
        <p14:creationId xmlns:p14="http://schemas.microsoft.com/office/powerpoint/2010/main" val="14823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55F9F2E-DAFF-4A76-A89A-A6C6CF0656FC}" type="datetime1">
              <a:rPr lang="en-US" smtClean="0"/>
              <a:t>2/3/2019</a:t>
            </a:fld>
            <a:endParaRPr lang="en-US" dirty="0"/>
          </a:p>
        </p:txBody>
      </p:sp>
      <p:sp>
        <p:nvSpPr>
          <p:cNvPr id="5" name="Footer Placeholder 4"/>
          <p:cNvSpPr>
            <a:spLocks noGrp="1"/>
          </p:cNvSpPr>
          <p:nvPr>
            <p:ph type="ftr" sz="quarter" idx="11"/>
          </p:nvPr>
        </p:nvSpPr>
        <p:spPr/>
        <p:txBody>
          <a:bodyPr/>
          <a:lstStyle/>
          <a:p>
            <a:r>
              <a:rPr lang="en-US" dirty="0"/>
              <a:t>Neu 241</a:t>
            </a:r>
          </a:p>
        </p:txBody>
      </p:sp>
      <p:sp>
        <p:nvSpPr>
          <p:cNvPr id="6" name="Slide Number Placeholder 5"/>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3057922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F48000-FFBF-4CBF-84F3-48366169ED25}" type="datetime1">
              <a:rPr lang="en-US" smtClean="0"/>
              <a:t>2/3/2019</a:t>
            </a:fld>
            <a:endParaRPr lang="en-US" dirty="0"/>
          </a:p>
        </p:txBody>
      </p:sp>
      <p:sp>
        <p:nvSpPr>
          <p:cNvPr id="5" name="Footer Placeholder 4"/>
          <p:cNvSpPr>
            <a:spLocks noGrp="1"/>
          </p:cNvSpPr>
          <p:nvPr>
            <p:ph type="ftr" sz="quarter" idx="11"/>
          </p:nvPr>
        </p:nvSpPr>
        <p:spPr/>
        <p:txBody>
          <a:bodyPr/>
          <a:lstStyle/>
          <a:p>
            <a:r>
              <a:rPr lang="en-US" dirty="0"/>
              <a:t>Neu 241</a:t>
            </a:r>
          </a:p>
        </p:txBody>
      </p:sp>
      <p:sp>
        <p:nvSpPr>
          <p:cNvPr id="6" name="Slide Number Placeholder 5"/>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2181696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7E2CDA-37AB-4220-A731-392BF8180A37}" type="datetime1">
              <a:rPr lang="en-US" smtClean="0"/>
              <a:t>2/3/2019</a:t>
            </a:fld>
            <a:endParaRPr lang="en-US" dirty="0"/>
          </a:p>
        </p:txBody>
      </p:sp>
      <p:sp>
        <p:nvSpPr>
          <p:cNvPr id="5" name="Footer Placeholder 4"/>
          <p:cNvSpPr>
            <a:spLocks noGrp="1"/>
          </p:cNvSpPr>
          <p:nvPr>
            <p:ph type="ftr" sz="quarter" idx="11"/>
          </p:nvPr>
        </p:nvSpPr>
        <p:spPr/>
        <p:txBody>
          <a:bodyPr/>
          <a:lstStyle/>
          <a:p>
            <a:r>
              <a:rPr lang="en-US" dirty="0"/>
              <a:t>Neu 241</a:t>
            </a:r>
          </a:p>
        </p:txBody>
      </p:sp>
      <p:sp>
        <p:nvSpPr>
          <p:cNvPr id="6" name="Slide Number Placeholder 5"/>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3425912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19B8F3-28CB-41DC-98B4-D75137F5EEED}" type="datetime1">
              <a:rPr lang="en-US" smtClean="0"/>
              <a:t>2/3/2019</a:t>
            </a:fld>
            <a:endParaRPr lang="en-US" dirty="0"/>
          </a:p>
        </p:txBody>
      </p:sp>
      <p:sp>
        <p:nvSpPr>
          <p:cNvPr id="6" name="Footer Placeholder 5"/>
          <p:cNvSpPr>
            <a:spLocks noGrp="1"/>
          </p:cNvSpPr>
          <p:nvPr>
            <p:ph type="ftr" sz="quarter" idx="11"/>
          </p:nvPr>
        </p:nvSpPr>
        <p:spPr/>
        <p:txBody>
          <a:bodyPr/>
          <a:lstStyle/>
          <a:p>
            <a:r>
              <a:rPr lang="en-US" dirty="0"/>
              <a:t>Neu 241</a:t>
            </a:r>
          </a:p>
        </p:txBody>
      </p:sp>
      <p:sp>
        <p:nvSpPr>
          <p:cNvPr id="7" name="Slide Number Placeholder 6"/>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91112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5E5C25-EACB-422F-B77F-0E738B667A6F}" type="datetime1">
              <a:rPr lang="en-US" smtClean="0"/>
              <a:t>2/3/2019</a:t>
            </a:fld>
            <a:endParaRPr lang="en-US" dirty="0"/>
          </a:p>
        </p:txBody>
      </p:sp>
      <p:sp>
        <p:nvSpPr>
          <p:cNvPr id="8" name="Footer Placeholder 7"/>
          <p:cNvSpPr>
            <a:spLocks noGrp="1"/>
          </p:cNvSpPr>
          <p:nvPr>
            <p:ph type="ftr" sz="quarter" idx="11"/>
          </p:nvPr>
        </p:nvSpPr>
        <p:spPr/>
        <p:txBody>
          <a:bodyPr/>
          <a:lstStyle/>
          <a:p>
            <a:r>
              <a:rPr lang="en-US" dirty="0"/>
              <a:t>Neu 241</a:t>
            </a:r>
          </a:p>
        </p:txBody>
      </p:sp>
      <p:sp>
        <p:nvSpPr>
          <p:cNvPr id="9" name="Slide Number Placeholder 8"/>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19413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49368CB-C61F-43D7-B7B5-12D6B2B13BC5}" type="datetime1">
              <a:rPr lang="en-US" smtClean="0"/>
              <a:t>2/3/2019</a:t>
            </a:fld>
            <a:endParaRPr lang="en-US" dirty="0"/>
          </a:p>
        </p:txBody>
      </p:sp>
      <p:sp>
        <p:nvSpPr>
          <p:cNvPr id="4" name="Footer Placeholder 3"/>
          <p:cNvSpPr>
            <a:spLocks noGrp="1"/>
          </p:cNvSpPr>
          <p:nvPr>
            <p:ph type="ftr" sz="quarter" idx="11"/>
          </p:nvPr>
        </p:nvSpPr>
        <p:spPr/>
        <p:txBody>
          <a:bodyPr/>
          <a:lstStyle/>
          <a:p>
            <a:r>
              <a:rPr lang="en-US" dirty="0"/>
              <a:t>Neu 241</a:t>
            </a:r>
          </a:p>
        </p:txBody>
      </p:sp>
      <p:sp>
        <p:nvSpPr>
          <p:cNvPr id="5" name="Slide Number Placeholder 4"/>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2023910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60E0F9-3433-47E1-98D0-FDDF28263364}" type="datetime1">
              <a:rPr lang="en-US" smtClean="0"/>
              <a:t>2/3/2019</a:t>
            </a:fld>
            <a:endParaRPr lang="en-US" dirty="0"/>
          </a:p>
        </p:txBody>
      </p:sp>
      <p:sp>
        <p:nvSpPr>
          <p:cNvPr id="3" name="Footer Placeholder 2"/>
          <p:cNvSpPr>
            <a:spLocks noGrp="1"/>
          </p:cNvSpPr>
          <p:nvPr>
            <p:ph type="ftr" sz="quarter" idx="11"/>
          </p:nvPr>
        </p:nvSpPr>
        <p:spPr/>
        <p:txBody>
          <a:bodyPr/>
          <a:lstStyle/>
          <a:p>
            <a:r>
              <a:rPr lang="en-US" dirty="0"/>
              <a:t>Neu 241</a:t>
            </a:r>
          </a:p>
        </p:txBody>
      </p:sp>
      <p:sp>
        <p:nvSpPr>
          <p:cNvPr id="4" name="Slide Number Placeholder 3"/>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2360574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01BD05-BB66-444D-A34A-C6FAA0D99E47}" type="datetime1">
              <a:rPr lang="en-US" smtClean="0"/>
              <a:t>2/3/2019</a:t>
            </a:fld>
            <a:endParaRPr lang="en-US" dirty="0"/>
          </a:p>
        </p:txBody>
      </p:sp>
      <p:sp>
        <p:nvSpPr>
          <p:cNvPr id="6" name="Footer Placeholder 5"/>
          <p:cNvSpPr>
            <a:spLocks noGrp="1"/>
          </p:cNvSpPr>
          <p:nvPr>
            <p:ph type="ftr" sz="quarter" idx="11"/>
          </p:nvPr>
        </p:nvSpPr>
        <p:spPr/>
        <p:txBody>
          <a:bodyPr/>
          <a:lstStyle/>
          <a:p>
            <a:r>
              <a:rPr lang="en-US" dirty="0"/>
              <a:t>Neu 241</a:t>
            </a:r>
          </a:p>
        </p:txBody>
      </p:sp>
      <p:sp>
        <p:nvSpPr>
          <p:cNvPr id="7" name="Slide Number Placeholder 6"/>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3241514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B25ECD9-3036-4BB1-8CBA-9737090DEDEA}" type="datetime1">
              <a:rPr lang="en-US" smtClean="0"/>
              <a:t>2/3/2019</a:t>
            </a:fld>
            <a:endParaRPr lang="en-US" dirty="0"/>
          </a:p>
        </p:txBody>
      </p:sp>
      <p:sp>
        <p:nvSpPr>
          <p:cNvPr id="6" name="Footer Placeholder 5"/>
          <p:cNvSpPr>
            <a:spLocks noGrp="1"/>
          </p:cNvSpPr>
          <p:nvPr>
            <p:ph type="ftr" sz="quarter" idx="11"/>
          </p:nvPr>
        </p:nvSpPr>
        <p:spPr/>
        <p:txBody>
          <a:bodyPr/>
          <a:lstStyle/>
          <a:p>
            <a:r>
              <a:rPr lang="en-US" dirty="0"/>
              <a:t>Neu 241</a:t>
            </a:r>
          </a:p>
        </p:txBody>
      </p:sp>
      <p:sp>
        <p:nvSpPr>
          <p:cNvPr id="7" name="Slide Number Placeholder 6"/>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1854898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BA4A97-15C5-44A8-ADD0-C859469E86D1}" type="datetime1">
              <a:rPr lang="en-US" smtClean="0"/>
              <a:t>2/3/2019</a:t>
            </a:fld>
            <a:endParaRPr lang="en-US" dirty="0"/>
          </a:p>
        </p:txBody>
      </p:sp>
      <p:sp>
        <p:nvSpPr>
          <p:cNvPr id="5" name="Footer Placeholder 4"/>
          <p:cNvSpPr>
            <a:spLocks noGrp="1"/>
          </p:cNvSpPr>
          <p:nvPr>
            <p:ph type="ftr" sz="quarter" idx="11"/>
          </p:nvPr>
        </p:nvSpPr>
        <p:spPr/>
        <p:txBody>
          <a:bodyPr/>
          <a:lstStyle/>
          <a:p>
            <a:r>
              <a:rPr lang="en-US" dirty="0"/>
              <a:t>Neu 241</a:t>
            </a:r>
          </a:p>
        </p:txBody>
      </p:sp>
      <p:sp>
        <p:nvSpPr>
          <p:cNvPr id="6" name="Slide Number Placeholder 5"/>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3562339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739275-741B-4E4C-AC2D-9B5DB5E57E20}" type="datetime1">
              <a:rPr lang="en-US" smtClean="0"/>
              <a:t>2/3/2019</a:t>
            </a:fld>
            <a:endParaRPr lang="en-US" dirty="0"/>
          </a:p>
        </p:txBody>
      </p:sp>
      <p:sp>
        <p:nvSpPr>
          <p:cNvPr id="5" name="Footer Placeholder 4"/>
          <p:cNvSpPr>
            <a:spLocks noGrp="1"/>
          </p:cNvSpPr>
          <p:nvPr>
            <p:ph type="ftr" sz="quarter" idx="11"/>
          </p:nvPr>
        </p:nvSpPr>
        <p:spPr/>
        <p:txBody>
          <a:bodyPr/>
          <a:lstStyle/>
          <a:p>
            <a:r>
              <a:rPr lang="en-US" dirty="0"/>
              <a:t>Neu 241</a:t>
            </a:r>
          </a:p>
        </p:txBody>
      </p:sp>
      <p:sp>
        <p:nvSpPr>
          <p:cNvPr id="6" name="Slide Number Placeholder 5"/>
          <p:cNvSpPr>
            <a:spLocks noGrp="1"/>
          </p:cNvSpPr>
          <p:nvPr>
            <p:ph type="sldNum" sz="quarter" idx="12"/>
          </p:nvPr>
        </p:nvSpPr>
        <p:spPr/>
        <p:txBody>
          <a:bodyPr/>
          <a:lstStyle/>
          <a:p>
            <a:fld id="{A4B9CB67-A7FD-40CF-8AE9-2377496FDEF1}" type="slidenum">
              <a:rPr lang="en-US" smtClean="0"/>
              <a:t>‹#›</a:t>
            </a:fld>
            <a:endParaRPr lang="en-US" dirty="0"/>
          </a:p>
        </p:txBody>
      </p:sp>
    </p:spTree>
    <p:extLst>
      <p:ext uri="{BB962C8B-B14F-4D97-AF65-F5344CB8AC3E}">
        <p14:creationId xmlns:p14="http://schemas.microsoft.com/office/powerpoint/2010/main" val="2779016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8601E4-A424-4DBE-9A4B-E7B249B01505}" type="datetime1">
              <a:rPr lang="en-US" smtClean="0"/>
              <a:t>2/3/2019</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Neu 241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B9CB67-A7FD-40CF-8AE9-2377496FDEF1}" type="slidenum">
              <a:rPr lang="en-US" smtClean="0"/>
              <a:t>‹#›</a:t>
            </a:fld>
            <a:endParaRPr lang="en-US" dirty="0"/>
          </a:p>
        </p:txBody>
      </p:sp>
    </p:spTree>
    <p:extLst>
      <p:ext uri="{BB962C8B-B14F-4D97-AF65-F5344CB8AC3E}">
        <p14:creationId xmlns:p14="http://schemas.microsoft.com/office/powerpoint/2010/main" val="3536207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189" y="2157413"/>
            <a:ext cx="9624811" cy="1352550"/>
          </a:xfrm>
        </p:spPr>
        <p:txBody>
          <a:bodyPr>
            <a:normAutofit/>
          </a:bodyPr>
          <a:lstStyle/>
          <a:p>
            <a:r>
              <a:rPr lang="en-US" sz="6600" dirty="0"/>
              <a:t>TBL -1 Questions</a:t>
            </a:r>
          </a:p>
        </p:txBody>
      </p:sp>
      <p:sp>
        <p:nvSpPr>
          <p:cNvPr id="3" name="Subtitle 2"/>
          <p:cNvSpPr>
            <a:spLocks noGrp="1"/>
          </p:cNvSpPr>
          <p:nvPr>
            <p:ph type="subTitle" idx="1"/>
          </p:nvPr>
        </p:nvSpPr>
        <p:spPr>
          <a:xfrm>
            <a:off x="1043189" y="3881788"/>
            <a:ext cx="9624811" cy="1050823"/>
          </a:xfrm>
        </p:spPr>
        <p:txBody>
          <a:bodyPr>
            <a:normAutofit/>
          </a:bodyPr>
          <a:lstStyle/>
          <a:p>
            <a:r>
              <a:rPr lang="en-US" sz="3600" dirty="0">
                <a:solidFill>
                  <a:srgbClr val="002060"/>
                </a:solidFill>
                <a:latin typeface="Times New Roman" panose="02020603050405020304" pitchFamily="18" charset="0"/>
                <a:cs typeface="Times New Roman" panose="02020603050405020304" pitchFamily="18" charset="0"/>
              </a:rPr>
              <a:t>Exam Committee - 8th Batch</a:t>
            </a:r>
          </a:p>
          <a:p>
            <a:endParaRPr lang="en-US" sz="3600" dirty="0">
              <a:solidFill>
                <a:srgbClr val="002060"/>
              </a:solidFill>
              <a:latin typeface="Times New Roman" panose="02020603050405020304" pitchFamily="18" charset="0"/>
              <a:cs typeface="Times New Roman" panose="02020603050405020304" pitchFamily="18" charset="0"/>
            </a:endParaRPr>
          </a:p>
          <a:p>
            <a:endParaRPr lang="en-US" sz="3600" dirty="0">
              <a:solidFill>
                <a:srgbClr val="002060"/>
              </a:solidFill>
              <a:latin typeface="Times New Roman" panose="02020603050405020304" pitchFamily="18" charset="0"/>
              <a:cs typeface="Times New Roman" panose="02020603050405020304" pitchFamily="18" charset="0"/>
            </a:endParaRPr>
          </a:p>
          <a:p>
            <a:endParaRPr lang="en-US" sz="3600" dirty="0"/>
          </a:p>
        </p:txBody>
      </p:sp>
      <p:sp>
        <p:nvSpPr>
          <p:cNvPr id="4" name="Slide Number Placeholder 3"/>
          <p:cNvSpPr>
            <a:spLocks noGrp="1"/>
          </p:cNvSpPr>
          <p:nvPr>
            <p:ph type="sldNum" sz="quarter" idx="12"/>
          </p:nvPr>
        </p:nvSpPr>
        <p:spPr/>
        <p:txBody>
          <a:bodyPr/>
          <a:lstStyle/>
          <a:p>
            <a:fld id="{4B689A82-AD2C-4896-92D2-567C77EBD8E3}" type="slidenum">
              <a:rPr lang="en-US" smtClean="0"/>
              <a:t>1</a:t>
            </a:fld>
            <a:endParaRPr lang="en-US" dirty="0"/>
          </a:p>
        </p:txBody>
      </p:sp>
      <p:sp>
        <p:nvSpPr>
          <p:cNvPr id="6" name="Footer Placeholder 5"/>
          <p:cNvSpPr>
            <a:spLocks noGrp="1"/>
          </p:cNvSpPr>
          <p:nvPr>
            <p:ph type="ftr" sz="quarter" idx="11"/>
          </p:nvPr>
        </p:nvSpPr>
        <p:spPr/>
        <p:txBody>
          <a:bodyPr/>
          <a:lstStyle/>
          <a:p>
            <a:r>
              <a:rPr lang="en-US" dirty="0"/>
              <a:t>Neu 241</a:t>
            </a:r>
          </a:p>
        </p:txBody>
      </p:sp>
      <p:sp>
        <p:nvSpPr>
          <p:cNvPr id="7" name="TextBox 6"/>
          <p:cNvSpPr txBox="1"/>
          <p:nvPr/>
        </p:nvSpPr>
        <p:spPr>
          <a:xfrm>
            <a:off x="4163688" y="5282662"/>
            <a:ext cx="3383811" cy="523220"/>
          </a:xfrm>
          <a:prstGeom prst="rect">
            <a:avLst/>
          </a:prstGeom>
          <a:noFill/>
        </p:spPr>
        <p:txBody>
          <a:bodyPr wrap="none" rtlCol="0">
            <a:spAutoFit/>
          </a:bodyPr>
          <a:lstStyle/>
          <a:p>
            <a:r>
              <a:rPr lang="en-US" sz="2800" b="1" dirty="0">
                <a:solidFill>
                  <a:srgbClr val="FF0000"/>
                </a:solidFill>
              </a:rPr>
              <a:t>Answers in the notes </a:t>
            </a:r>
          </a:p>
        </p:txBody>
      </p:sp>
    </p:spTree>
    <p:extLst>
      <p:ext uri="{BB962C8B-B14F-4D97-AF65-F5344CB8AC3E}">
        <p14:creationId xmlns:p14="http://schemas.microsoft.com/office/powerpoint/2010/main" val="3274249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 The resting membrane potential of a cell results from the fact that there is an unequal distribution of charged ions across the membrane. Which of the following is most important in maintaining this unequal distribution?</a:t>
            </a:r>
          </a:p>
          <a:p>
            <a:pPr marL="0" indent="0">
              <a:buNone/>
            </a:pPr>
            <a:endParaRPr lang="en-US" dirty="0"/>
          </a:p>
          <a:p>
            <a:pPr marL="514350" indent="-514350">
              <a:buAutoNum type="alphaUcPeriod"/>
            </a:pPr>
            <a:r>
              <a:rPr lang="en-US" dirty="0"/>
              <a:t>High extracellular concentration of sodium</a:t>
            </a:r>
          </a:p>
          <a:p>
            <a:pPr marL="514350" indent="-514350">
              <a:buAutoNum type="alphaUcPeriod"/>
            </a:pPr>
            <a:r>
              <a:rPr lang="en-US" dirty="0"/>
              <a:t>High intracellular concentration of potassium</a:t>
            </a:r>
          </a:p>
          <a:p>
            <a:pPr marL="514350" indent="-514350">
              <a:buAutoNum type="alphaUcPeriod"/>
            </a:pPr>
            <a:r>
              <a:rPr lang="en-US" dirty="0"/>
              <a:t>Presence of non-diffusible negatively charged intracellular ions</a:t>
            </a:r>
          </a:p>
          <a:p>
            <a:pPr marL="514350" indent="-514350">
              <a:buAutoNum type="alphaUcPeriod"/>
            </a:pPr>
            <a:r>
              <a:rPr lang="en-US" dirty="0"/>
              <a:t>The electrogenic property of Na+/K+ ATPase</a:t>
            </a:r>
          </a:p>
          <a:p>
            <a:pPr marL="514350" indent="-514350">
              <a:buAutoNum type="alphaUcPeriod"/>
            </a:pPr>
            <a:r>
              <a:rPr lang="en-US" dirty="0"/>
              <a:t>The membrane is more permeable to certain ions than others</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2</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996132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2. Ahmed gets lost in the desert while camping with his friends. He is rescued three days later by the Civil Defense and brought to the ER. Ahmed is dehydrated, and serum electrolytes show the sodium level has increased from a normal value of 140 mEq/L to 174 mEq/L. the resting membrane potential of a typical neuron is -80mV before dehydration. What is the most likely resting membrane potential after the dehydration, assuming no change in resting sodium conductance?</a:t>
            </a:r>
          </a:p>
          <a:p>
            <a:pPr marL="0" indent="0">
              <a:buNone/>
            </a:pPr>
            <a:endParaRPr lang="en-US" dirty="0"/>
          </a:p>
          <a:p>
            <a:pPr marL="514350" indent="-514350">
              <a:buAutoNum type="alphaUcPeriod"/>
            </a:pPr>
            <a:r>
              <a:rPr lang="en-US" dirty="0"/>
              <a:t>-72 mV</a:t>
            </a:r>
          </a:p>
          <a:p>
            <a:pPr marL="514350" indent="-514350">
              <a:buAutoNum type="alphaUcPeriod"/>
            </a:pPr>
            <a:r>
              <a:rPr lang="en-US" dirty="0"/>
              <a:t>-74 mV</a:t>
            </a:r>
          </a:p>
          <a:p>
            <a:pPr marL="514350" indent="-514350">
              <a:buAutoNum type="alphaUcPeriod"/>
            </a:pPr>
            <a:r>
              <a:rPr lang="en-US" dirty="0"/>
              <a:t>-80 mV</a:t>
            </a:r>
          </a:p>
          <a:p>
            <a:pPr marL="514350" indent="-514350">
              <a:buAutoNum type="alphaUcPeriod"/>
            </a:pPr>
            <a:r>
              <a:rPr lang="en-US" dirty="0"/>
              <a:t>-88 mV</a:t>
            </a:r>
          </a:p>
          <a:p>
            <a:pPr marL="514350" indent="-514350">
              <a:buAutoNum type="alphaUcPeriod"/>
            </a:pPr>
            <a:r>
              <a:rPr lang="en-US" dirty="0"/>
              <a:t>-98 mV</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3</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988034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3. A 56 year old woman with severe muscle weakness is hospitalized. Her serum electrolytes reveals an elevated K+ concentration. How does the elevated serum K+ cause muscle weakness?</a:t>
            </a:r>
          </a:p>
          <a:p>
            <a:pPr marL="0" indent="0">
              <a:buNone/>
            </a:pPr>
            <a:endParaRPr lang="en-US" dirty="0"/>
          </a:p>
          <a:p>
            <a:pPr marL="514350" indent="-514350">
              <a:buAutoNum type="alphaUcPeriod"/>
            </a:pPr>
            <a:r>
              <a:rPr lang="en-US" dirty="0"/>
              <a:t>The resting membrane is hyperpolarized</a:t>
            </a:r>
          </a:p>
          <a:p>
            <a:pPr marL="514350" indent="-514350">
              <a:buAutoNum type="alphaUcPeriod"/>
            </a:pPr>
            <a:r>
              <a:rPr lang="en-US" dirty="0"/>
              <a:t>The K+ equilibrium potential is more negative</a:t>
            </a:r>
          </a:p>
          <a:p>
            <a:pPr marL="514350" indent="-514350">
              <a:buFont typeface="Arial" panose="020B0604020202020204" pitchFamily="34" charset="0"/>
              <a:buAutoNum type="alphaUcPeriod"/>
            </a:pPr>
            <a:r>
              <a:rPr lang="en-US" dirty="0"/>
              <a:t>The Na+ equilibrium potential is more negative </a:t>
            </a:r>
          </a:p>
          <a:p>
            <a:pPr marL="514350" indent="-514350">
              <a:buAutoNum type="alphaUcPeriod"/>
            </a:pPr>
            <a:r>
              <a:rPr lang="en-US" dirty="0"/>
              <a:t>Na+ channels are inactivated</a:t>
            </a:r>
          </a:p>
          <a:p>
            <a:pPr marL="514350" indent="-514350">
              <a:buAutoNum type="alphaUcPeriod"/>
            </a:pPr>
            <a:r>
              <a:rPr lang="en-US" dirty="0"/>
              <a:t>Na+ channels are closed during depolarization</a:t>
            </a:r>
          </a:p>
        </p:txBody>
      </p:sp>
      <p:sp>
        <p:nvSpPr>
          <p:cNvPr id="2" name="Slide Number Placeholder 1"/>
          <p:cNvSpPr>
            <a:spLocks noGrp="1"/>
          </p:cNvSpPr>
          <p:nvPr>
            <p:ph type="sldNum" sz="quarter" idx="12"/>
          </p:nvPr>
        </p:nvSpPr>
        <p:spPr/>
        <p:txBody>
          <a:bodyPr/>
          <a:lstStyle/>
          <a:p>
            <a:fld id="{4B689A82-AD2C-4896-92D2-567C77EBD8E3}" type="slidenum">
              <a:rPr lang="en-US" smtClean="0"/>
              <a:t>4</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4158012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4. The diagram shows an action potential for a nerve fiber. What is the threshold potential for this neuron?</a:t>
            </a:r>
          </a:p>
          <a:p>
            <a:pPr marL="0" indent="0">
              <a:buNone/>
            </a:pPr>
            <a:endParaRPr lang="en-US" dirty="0"/>
          </a:p>
          <a:p>
            <a:pPr marL="514350" indent="-514350">
              <a:buAutoNum type="alphaUcPeriod"/>
            </a:pPr>
            <a:r>
              <a:rPr lang="en-US" dirty="0"/>
              <a:t>-15 mV</a:t>
            </a:r>
          </a:p>
          <a:p>
            <a:pPr marL="514350" indent="-514350">
              <a:buAutoNum type="alphaUcPeriod"/>
            </a:pPr>
            <a:r>
              <a:rPr lang="en-US" dirty="0"/>
              <a:t>-50 to -60 mV</a:t>
            </a:r>
          </a:p>
          <a:p>
            <a:pPr marL="514350" indent="-514350">
              <a:buAutoNum type="alphaUcPeriod"/>
            </a:pPr>
            <a:r>
              <a:rPr lang="en-US" dirty="0"/>
              <a:t>-60 to -70 mV</a:t>
            </a:r>
          </a:p>
          <a:p>
            <a:pPr marL="514350" indent="-514350">
              <a:buAutoNum type="alphaUcPeriod"/>
            </a:pPr>
            <a:r>
              <a:rPr lang="en-US" dirty="0"/>
              <a:t>-70 to -80 mV</a:t>
            </a:r>
          </a:p>
          <a:p>
            <a:pPr marL="514350" indent="-514350">
              <a:buAutoNum type="alphaUcPeriod"/>
            </a:pPr>
            <a:r>
              <a:rPr lang="en-US" dirty="0"/>
              <a:t>-80 mV</a:t>
            </a:r>
          </a:p>
        </p:txBody>
      </p:sp>
      <p:sp>
        <p:nvSpPr>
          <p:cNvPr id="2" name="Slide Number Placeholder 1"/>
          <p:cNvSpPr>
            <a:spLocks noGrp="1"/>
          </p:cNvSpPr>
          <p:nvPr>
            <p:ph type="sldNum" sz="quarter" idx="12"/>
          </p:nvPr>
        </p:nvSpPr>
        <p:spPr/>
        <p:txBody>
          <a:bodyPr/>
          <a:lstStyle/>
          <a:p>
            <a:fld id="{4B689A82-AD2C-4896-92D2-567C77EBD8E3}" type="slidenum">
              <a:rPr lang="en-US" smtClean="0"/>
              <a:t>5</a:t>
            </a:fld>
            <a:endParaRPr lang="en-US" dirty="0"/>
          </a:p>
        </p:txBody>
      </p:sp>
      <p:sp>
        <p:nvSpPr>
          <p:cNvPr id="4" name="Footer Placeholder 3"/>
          <p:cNvSpPr>
            <a:spLocks noGrp="1"/>
          </p:cNvSpPr>
          <p:nvPr>
            <p:ph type="ftr" sz="quarter" idx="11"/>
          </p:nvPr>
        </p:nvSpPr>
        <p:spPr/>
        <p:txBody>
          <a:bodyPr/>
          <a:lstStyle/>
          <a:p>
            <a:r>
              <a:rPr lang="en-US" dirty="0"/>
              <a:t>Neu 241</a:t>
            </a: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70208" t="38542" r="12136" b="41875"/>
          <a:stretch/>
        </p:blipFill>
        <p:spPr>
          <a:xfrm>
            <a:off x="6529386" y="1386813"/>
            <a:ext cx="4400551" cy="3660634"/>
          </a:xfrm>
          <a:prstGeom prst="rect">
            <a:avLst/>
          </a:prstGeom>
        </p:spPr>
      </p:pic>
    </p:spTree>
    <p:extLst>
      <p:ext uri="{BB962C8B-B14F-4D97-AF65-F5344CB8AC3E}">
        <p14:creationId xmlns:p14="http://schemas.microsoft.com/office/powerpoint/2010/main" val="3100058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5. The diagram shows compound action potentials recorded percutaneously ( on the skin) from a single site a certain distance from a stimulating electrode ( arrow). Which peak represents action potentials from small, non-myelinated motor neurons?</a:t>
            </a:r>
          </a:p>
          <a:p>
            <a:pPr marL="0" indent="0">
              <a:buNone/>
            </a:pPr>
            <a:endParaRPr lang="en-US" dirty="0"/>
          </a:p>
          <a:p>
            <a:pPr marL="514350" indent="-514350">
              <a:buAutoNum type="alphaUcPeriod"/>
            </a:pPr>
            <a:r>
              <a:rPr lang="en-US" dirty="0"/>
              <a:t>A</a:t>
            </a:r>
          </a:p>
          <a:p>
            <a:pPr marL="514350" indent="-514350">
              <a:buAutoNum type="alphaUcPeriod"/>
            </a:pPr>
            <a:r>
              <a:rPr lang="en-US" dirty="0"/>
              <a:t>B</a:t>
            </a:r>
          </a:p>
          <a:p>
            <a:pPr marL="514350" indent="-514350">
              <a:buAutoNum type="alphaUcPeriod"/>
            </a:pPr>
            <a:r>
              <a:rPr lang="en-US" dirty="0"/>
              <a:t>C</a:t>
            </a:r>
          </a:p>
          <a:p>
            <a:pPr marL="514350" indent="-514350">
              <a:buAutoNum type="alphaUcPeriod"/>
            </a:pPr>
            <a:r>
              <a:rPr lang="en-US" dirty="0"/>
              <a:t>D</a:t>
            </a:r>
          </a:p>
          <a:p>
            <a:pPr marL="0" indent="0">
              <a:buNone/>
            </a:pPr>
            <a:r>
              <a:rPr lang="en-US" dirty="0"/>
              <a:t> </a:t>
            </a:r>
          </a:p>
        </p:txBody>
      </p:sp>
      <p:sp>
        <p:nvSpPr>
          <p:cNvPr id="2" name="Slide Number Placeholder 1"/>
          <p:cNvSpPr>
            <a:spLocks noGrp="1"/>
          </p:cNvSpPr>
          <p:nvPr>
            <p:ph type="sldNum" sz="quarter" idx="12"/>
          </p:nvPr>
        </p:nvSpPr>
        <p:spPr/>
        <p:txBody>
          <a:bodyPr/>
          <a:lstStyle/>
          <a:p>
            <a:fld id="{4B689A82-AD2C-4896-92D2-567C77EBD8E3}" type="slidenum">
              <a:rPr lang="en-US" smtClean="0"/>
              <a:t>6</a:t>
            </a:fld>
            <a:endParaRPr lang="en-US" dirty="0"/>
          </a:p>
        </p:txBody>
      </p:sp>
      <p:sp>
        <p:nvSpPr>
          <p:cNvPr id="4" name="Footer Placeholder 3"/>
          <p:cNvSpPr>
            <a:spLocks noGrp="1"/>
          </p:cNvSpPr>
          <p:nvPr>
            <p:ph type="ftr" sz="quarter" idx="11"/>
          </p:nvPr>
        </p:nvSpPr>
        <p:spPr/>
        <p:txBody>
          <a:bodyPr/>
          <a:lstStyle/>
          <a:p>
            <a:r>
              <a:rPr lang="en-US" dirty="0"/>
              <a:t>Neu 241</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68957" t="47363" r="10601" b="41539"/>
          <a:stretch/>
        </p:blipFill>
        <p:spPr>
          <a:xfrm>
            <a:off x="6223048" y="2635351"/>
            <a:ext cx="4978351" cy="2026938"/>
          </a:xfrm>
          <a:prstGeom prst="rect">
            <a:avLst/>
          </a:prstGeom>
        </p:spPr>
      </p:pic>
    </p:spTree>
    <p:extLst>
      <p:ext uri="{BB962C8B-B14F-4D97-AF65-F5344CB8AC3E}">
        <p14:creationId xmlns:p14="http://schemas.microsoft.com/office/powerpoint/2010/main" val="16490166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6. The minimum alveolar concentration (MAC) on an inhalational general anesthetic agent: </a:t>
            </a:r>
          </a:p>
          <a:p>
            <a:pPr marL="0" indent="0">
              <a:buNone/>
            </a:pPr>
            <a:endParaRPr lang="en-US" dirty="0"/>
          </a:p>
          <a:p>
            <a:pPr marL="514350" indent="-514350">
              <a:buAutoNum type="alphaUcPeriod"/>
            </a:pPr>
            <a:r>
              <a:rPr lang="en-US" dirty="0"/>
              <a:t>Is a measure of rate of induction of general anesthesia</a:t>
            </a:r>
          </a:p>
          <a:p>
            <a:pPr marL="514350" indent="-514350">
              <a:buAutoNum type="alphaUcPeriod"/>
            </a:pPr>
            <a:r>
              <a:rPr lang="en-US" dirty="0"/>
              <a:t>Is the measure of potency of an inhalational anesthetic</a:t>
            </a:r>
          </a:p>
          <a:p>
            <a:pPr marL="514350" indent="-514350">
              <a:buAutoNum type="alphaUcPeriod"/>
            </a:pPr>
            <a:r>
              <a:rPr lang="en-US" dirty="0"/>
              <a:t>Is low for agents with high solubility in blood</a:t>
            </a:r>
          </a:p>
          <a:p>
            <a:pPr marL="514350" indent="-514350">
              <a:buAutoNum type="alphaUcPeriod"/>
            </a:pPr>
            <a:r>
              <a:rPr lang="en-US" dirty="0"/>
              <a:t>Is the minimum alveolar concentration required for producing anesthesia</a:t>
            </a:r>
          </a:p>
          <a:p>
            <a:pPr marL="514350" indent="-514350">
              <a:buAutoNum type="alphaUcPeriod"/>
            </a:pPr>
            <a:r>
              <a:rPr lang="en-US" dirty="0"/>
              <a:t>Varies for different individuals</a:t>
            </a:r>
          </a:p>
          <a:p>
            <a:pPr marL="0" indent="0">
              <a:buNone/>
            </a:pPr>
            <a:endParaRPr lang="en-US" dirty="0"/>
          </a:p>
          <a:p>
            <a:pPr marL="514350" indent="-514350">
              <a:buAutoNum type="alphaUcPeriod"/>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7</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046343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7. A young boy was administered local anesthetic agent to stitch a small wound on his forearm. He immediately developed raised red macular eruption all over the skin, dyspnea and hypotension. Which of the following local anesthetics was administered?</a:t>
            </a:r>
          </a:p>
          <a:p>
            <a:pPr marL="0" indent="0">
              <a:buNone/>
            </a:pPr>
            <a:endParaRPr lang="en-US" dirty="0"/>
          </a:p>
          <a:p>
            <a:pPr marL="514350" indent="-514350">
              <a:buAutoNum type="alphaUcPeriod"/>
            </a:pPr>
            <a:r>
              <a:rPr lang="en-US" dirty="0"/>
              <a:t>Bupivacaine</a:t>
            </a:r>
          </a:p>
          <a:p>
            <a:pPr marL="514350" indent="-514350">
              <a:buAutoNum type="alphaUcPeriod"/>
            </a:pPr>
            <a:r>
              <a:rPr lang="en-US" dirty="0"/>
              <a:t>Lidocaine</a:t>
            </a:r>
          </a:p>
          <a:p>
            <a:pPr marL="514350" indent="-514350">
              <a:buAutoNum type="alphaUcPeriod"/>
            </a:pPr>
            <a:r>
              <a:rPr lang="en-US" dirty="0"/>
              <a:t>Mepivacaine</a:t>
            </a:r>
          </a:p>
          <a:p>
            <a:pPr marL="514350" indent="-514350">
              <a:buAutoNum type="alphaUcPeriod"/>
            </a:pPr>
            <a:r>
              <a:rPr lang="en-US" dirty="0"/>
              <a:t>Prilocaine</a:t>
            </a:r>
          </a:p>
          <a:p>
            <a:pPr marL="514350" indent="-514350">
              <a:buAutoNum type="alphaUcPeriod"/>
            </a:pPr>
            <a:r>
              <a:rPr lang="en-US" dirty="0"/>
              <a:t>Procaine</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8</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234293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8. A 35-year-old man had an influenza-like illness for one week. A few days later, he experienced a rapidly progressive, ascending motor weakness that required intubation and mechanical ventilation. On physical examination, he is now afebrile and has 3/5 motor strength in his extremities. The patient recovers completely in 3 weeks. Which of the following laboratory test findings would you have most likely expected to be present during his illness ?</a:t>
            </a:r>
          </a:p>
          <a:p>
            <a:pPr marL="0" indent="0">
              <a:buNone/>
            </a:pPr>
            <a:endParaRPr lang="en-US" dirty="0"/>
          </a:p>
          <a:p>
            <a:pPr marL="514350" indent="-514350">
              <a:buAutoNum type="alphaUcPeriod"/>
            </a:pPr>
            <a:r>
              <a:rPr lang="en-US" dirty="0"/>
              <a:t>CSF with increased IgG</a:t>
            </a:r>
          </a:p>
          <a:p>
            <a:pPr marL="514350" indent="-514350">
              <a:buAutoNum type="alphaUcPeriod"/>
            </a:pPr>
            <a:r>
              <a:rPr lang="en-US" dirty="0"/>
              <a:t>Decreased serum level of vitamin B12</a:t>
            </a:r>
          </a:p>
          <a:p>
            <a:pPr marL="514350" indent="-514350">
              <a:buAutoNum type="alphaUcPeriod"/>
            </a:pPr>
            <a:r>
              <a:rPr lang="en-US" dirty="0"/>
              <a:t>Increased amount of lead in plasma</a:t>
            </a:r>
          </a:p>
          <a:p>
            <a:pPr marL="514350" indent="-514350">
              <a:buAutoNum type="alphaUcPeriod"/>
            </a:pPr>
            <a:r>
              <a:rPr lang="en-US" dirty="0"/>
              <a:t>Mutation in PMP22</a:t>
            </a:r>
          </a:p>
          <a:p>
            <a:pPr marL="514350" indent="-514350">
              <a:buAutoNum type="alphaUcPeriod"/>
            </a:pPr>
            <a:r>
              <a:rPr lang="en-US" dirty="0"/>
              <a:t>Serum glucose of 210 mg/dL</a:t>
            </a:r>
          </a:p>
          <a:p>
            <a:pPr marL="514350" indent="-514350">
              <a:buAutoNum type="alphaUcPeriod"/>
            </a:pPr>
            <a:endParaRPr lang="en-US" dirty="0"/>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9</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056129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9. A 65 year old woman has been receiving hemodialysis for chronic renal failure and has noted increasing loss of sensation in her legs for the past 2 years. On physical examination, there is symmetrically decreased sensation over both lower extremities. Investigation showed 8% HbA1C. She has no decrease in strength or abnormality of gait. What is most likely diagnosis in this case ?</a:t>
            </a:r>
          </a:p>
          <a:p>
            <a:pPr marL="514350" indent="-514350">
              <a:buAutoNum type="alphaUcPeriod"/>
            </a:pPr>
            <a:r>
              <a:rPr lang="en-US" dirty="0"/>
              <a:t>Systemic vasculitis</a:t>
            </a:r>
          </a:p>
          <a:p>
            <a:pPr marL="514350" indent="-514350">
              <a:buAutoNum type="alphaUcPeriod"/>
            </a:pPr>
            <a:r>
              <a:rPr lang="en-US" dirty="0"/>
              <a:t>Diabetes mellitus</a:t>
            </a:r>
          </a:p>
          <a:p>
            <a:pPr marL="514350" indent="-514350">
              <a:buAutoNum type="alphaUcPeriod"/>
            </a:pPr>
            <a:r>
              <a:rPr lang="en-US" dirty="0"/>
              <a:t>Paraneoplastic syndrome</a:t>
            </a:r>
          </a:p>
          <a:p>
            <a:pPr marL="514350" indent="-514350">
              <a:buFont typeface="Arial" panose="020B0604020202020204" pitchFamily="34" charset="0"/>
              <a:buAutoNum type="alphaUcPeriod"/>
            </a:pPr>
            <a:r>
              <a:rPr lang="en-US" dirty="0"/>
              <a:t>Guillain-Barre syndrome</a:t>
            </a:r>
          </a:p>
          <a:p>
            <a:pPr marL="514350" indent="-514350">
              <a:buFont typeface="Arial" panose="020B0604020202020204" pitchFamily="34" charset="0"/>
              <a:buAutoNum type="alphaUcPeriod"/>
            </a:pPr>
            <a:r>
              <a:rPr lang="en-US" dirty="0"/>
              <a:t>Chronic inflammatory  demyelinating polyneuropathy</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10</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759877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10. Which of the following cells participate in the formation of blood brain barrier?</a:t>
            </a:r>
          </a:p>
          <a:p>
            <a:pPr marL="0" indent="0">
              <a:buNone/>
            </a:pPr>
            <a:endParaRPr lang="en-US" dirty="0"/>
          </a:p>
          <a:p>
            <a:pPr marL="514350" indent="-514350">
              <a:buAutoNum type="alphaUcPeriod"/>
            </a:pPr>
            <a:r>
              <a:rPr lang="en-US" dirty="0"/>
              <a:t>Astrocytes</a:t>
            </a:r>
          </a:p>
          <a:p>
            <a:pPr marL="514350" indent="-514350">
              <a:buAutoNum type="alphaUcPeriod"/>
            </a:pPr>
            <a:r>
              <a:rPr lang="en-US" dirty="0"/>
              <a:t>Oligodendrocytes</a:t>
            </a:r>
          </a:p>
          <a:p>
            <a:pPr marL="514350" indent="-514350">
              <a:buAutoNum type="alphaUcPeriod"/>
            </a:pPr>
            <a:r>
              <a:rPr lang="en-US" dirty="0"/>
              <a:t>Pyramidal cells</a:t>
            </a:r>
          </a:p>
          <a:p>
            <a:pPr marL="514350" indent="-514350">
              <a:buAutoNum type="alphaUcPeriod"/>
            </a:pPr>
            <a:r>
              <a:rPr lang="en-US" dirty="0"/>
              <a:t>Microglia</a:t>
            </a:r>
          </a:p>
          <a:p>
            <a:pPr marL="514350" indent="-514350">
              <a:buAutoNum type="alphaUcPeriod"/>
            </a:pPr>
            <a:r>
              <a:rPr lang="en-US" dirty="0"/>
              <a:t>Schwann cells </a:t>
            </a:r>
          </a:p>
        </p:txBody>
      </p:sp>
      <p:sp>
        <p:nvSpPr>
          <p:cNvPr id="2" name="Slide Number Placeholder 1"/>
          <p:cNvSpPr>
            <a:spLocks noGrp="1"/>
          </p:cNvSpPr>
          <p:nvPr>
            <p:ph type="sldNum" sz="quarter" idx="12"/>
          </p:nvPr>
        </p:nvSpPr>
        <p:spPr/>
        <p:txBody>
          <a:bodyPr/>
          <a:lstStyle/>
          <a:p>
            <a:fld id="{4B689A82-AD2C-4896-92D2-567C77EBD8E3}" type="slidenum">
              <a:rPr lang="en-US" smtClean="0"/>
              <a:t>11</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256464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11. The following diagram is showing the structural organization of interventricular system of the brain. Which one of the following labels is pointing to the fourth ventricle?</a:t>
            </a:r>
          </a:p>
          <a:p>
            <a:pPr marL="0" indent="0">
              <a:buNone/>
            </a:pPr>
            <a:endParaRPr lang="en-US" dirty="0"/>
          </a:p>
          <a:p>
            <a:pPr marL="514350" indent="-514350">
              <a:buAutoNum type="alphaUcPeriod"/>
            </a:pPr>
            <a:r>
              <a:rPr lang="en-US" dirty="0"/>
              <a:t>A</a:t>
            </a:r>
          </a:p>
          <a:p>
            <a:pPr marL="514350" indent="-514350">
              <a:buAutoNum type="alphaUcPeriod"/>
            </a:pPr>
            <a:r>
              <a:rPr lang="en-US" dirty="0"/>
              <a:t>B</a:t>
            </a:r>
          </a:p>
          <a:p>
            <a:pPr marL="514350" indent="-514350">
              <a:buAutoNum type="alphaUcPeriod"/>
            </a:pPr>
            <a:r>
              <a:rPr lang="en-US" dirty="0"/>
              <a:t>C</a:t>
            </a:r>
          </a:p>
          <a:p>
            <a:pPr marL="514350" indent="-514350">
              <a:buAutoNum type="alphaUcPeriod"/>
            </a:pPr>
            <a:r>
              <a:rPr lang="en-US" dirty="0"/>
              <a:t>D</a:t>
            </a:r>
          </a:p>
          <a:p>
            <a:pPr marL="514350" indent="-514350">
              <a:buAutoNum type="alphaUcPeriod"/>
            </a:pPr>
            <a:r>
              <a:rPr lang="en-US" dirty="0"/>
              <a:t>E</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12</a:t>
            </a:fld>
            <a:endParaRPr lang="en-US" dirty="0"/>
          </a:p>
        </p:txBody>
      </p:sp>
      <p:sp>
        <p:nvSpPr>
          <p:cNvPr id="4" name="Footer Placeholder 3"/>
          <p:cNvSpPr>
            <a:spLocks noGrp="1"/>
          </p:cNvSpPr>
          <p:nvPr>
            <p:ph type="ftr" sz="quarter" idx="11"/>
          </p:nvPr>
        </p:nvSpPr>
        <p:spPr/>
        <p:txBody>
          <a:bodyPr/>
          <a:lstStyle/>
          <a:p>
            <a:r>
              <a:rPr lang="en-US" dirty="0"/>
              <a:t>Neu 241</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73958" t="44894" r="10948" b="33750"/>
          <a:stretch/>
        </p:blipFill>
        <p:spPr>
          <a:xfrm>
            <a:off x="7112149" y="1609646"/>
            <a:ext cx="3379486" cy="3586163"/>
          </a:xfrm>
          <a:prstGeom prst="rect">
            <a:avLst/>
          </a:prstGeom>
        </p:spPr>
      </p:pic>
    </p:spTree>
    <p:extLst>
      <p:ext uri="{BB962C8B-B14F-4D97-AF65-F5344CB8AC3E}">
        <p14:creationId xmlns:p14="http://schemas.microsoft.com/office/powerpoint/2010/main" val="4105685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12. Which one of the following represents the embryological origin of the cerebrum?</a:t>
            </a:r>
          </a:p>
          <a:p>
            <a:pPr marL="0" indent="0">
              <a:buNone/>
            </a:pPr>
            <a:endParaRPr lang="en-US" dirty="0"/>
          </a:p>
          <a:p>
            <a:pPr marL="514350" indent="-514350">
              <a:buAutoNum type="alphaUcPeriod"/>
            </a:pPr>
            <a:r>
              <a:rPr lang="en-US" dirty="0"/>
              <a:t>Diencephalon</a:t>
            </a:r>
          </a:p>
          <a:p>
            <a:pPr marL="514350" indent="-514350">
              <a:buAutoNum type="alphaUcPeriod"/>
            </a:pPr>
            <a:r>
              <a:rPr lang="en-US" dirty="0"/>
              <a:t>Mesencephalon</a:t>
            </a:r>
          </a:p>
          <a:p>
            <a:pPr marL="514350" indent="-514350">
              <a:buAutoNum type="alphaUcPeriod"/>
            </a:pPr>
            <a:r>
              <a:rPr lang="en-US" dirty="0"/>
              <a:t>Metencephalon</a:t>
            </a:r>
          </a:p>
          <a:p>
            <a:pPr marL="514350" indent="-514350">
              <a:buAutoNum type="alphaUcPeriod"/>
            </a:pPr>
            <a:r>
              <a:rPr lang="en-US" dirty="0"/>
              <a:t>Myelencephalon</a:t>
            </a:r>
          </a:p>
          <a:p>
            <a:pPr marL="514350" indent="-514350">
              <a:buAutoNum type="alphaUcPeriod"/>
            </a:pPr>
            <a:r>
              <a:rPr lang="en-US" dirty="0"/>
              <a:t>Telencephalon</a:t>
            </a:r>
          </a:p>
          <a:p>
            <a:pPr marL="0" indent="0">
              <a:buNone/>
            </a:pPr>
            <a:endParaRPr lang="en-US" dirty="0"/>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13</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214168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13. Which of the following signs on examination is indicative of anterior cord syndrome?</a:t>
            </a:r>
          </a:p>
          <a:p>
            <a:pPr marL="0" indent="0">
              <a:buNone/>
            </a:pPr>
            <a:endParaRPr lang="en-US" dirty="0"/>
          </a:p>
          <a:p>
            <a:pPr marL="514350" indent="-514350">
              <a:buAutoNum type="alphaUcPeriod"/>
            </a:pPr>
            <a:r>
              <a:rPr lang="en-US" dirty="0"/>
              <a:t>Contralateral loss of conscious proprioception below the level of the lesion</a:t>
            </a:r>
          </a:p>
          <a:p>
            <a:pPr marL="514350" indent="-514350">
              <a:buAutoNum type="alphaUcPeriod"/>
            </a:pPr>
            <a:r>
              <a:rPr lang="en-US" dirty="0"/>
              <a:t>Contralateral loss of discriminative touch starting at 1-2 segments below the level of the lesion</a:t>
            </a:r>
          </a:p>
          <a:p>
            <a:pPr marL="514350" indent="-514350">
              <a:buAutoNum type="alphaUcPeriod"/>
            </a:pPr>
            <a:r>
              <a:rPr lang="en-US" dirty="0"/>
              <a:t>Contralateral loss of vibration sense below the level of the lesion</a:t>
            </a:r>
          </a:p>
          <a:p>
            <a:pPr marL="514350" indent="-514350">
              <a:buAutoNum type="alphaUcPeriod"/>
            </a:pPr>
            <a:r>
              <a:rPr lang="en-US" dirty="0"/>
              <a:t>Bilateral loss of pain and temperature below the level of the lesion</a:t>
            </a:r>
          </a:p>
          <a:p>
            <a:pPr marL="514350" indent="-514350">
              <a:buAutoNum type="alphaUcPeriod"/>
            </a:pPr>
            <a:r>
              <a:rPr lang="en-US" dirty="0"/>
              <a:t>Bilateral flaccid paralysis below the level of the lesion</a:t>
            </a:r>
          </a:p>
        </p:txBody>
      </p:sp>
      <p:sp>
        <p:nvSpPr>
          <p:cNvPr id="2" name="Slide Number Placeholder 1"/>
          <p:cNvSpPr>
            <a:spLocks noGrp="1"/>
          </p:cNvSpPr>
          <p:nvPr>
            <p:ph type="sldNum" sz="quarter" idx="12"/>
          </p:nvPr>
        </p:nvSpPr>
        <p:spPr/>
        <p:txBody>
          <a:bodyPr/>
          <a:lstStyle/>
          <a:p>
            <a:fld id="{4B689A82-AD2C-4896-92D2-567C77EBD8E3}" type="slidenum">
              <a:rPr lang="en-US" smtClean="0"/>
              <a:t>14</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2798912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14. A neurological exam of a patient within 24 hours of spinal cord injury showed loss of reflexes, all sensations and flaccid paralysis below the level of the injury. What is the reason for this presentation?</a:t>
            </a:r>
          </a:p>
          <a:p>
            <a:pPr marL="0" indent="0">
              <a:buNone/>
            </a:pPr>
            <a:endParaRPr lang="en-US" dirty="0"/>
          </a:p>
          <a:p>
            <a:pPr marL="514350" indent="-514350">
              <a:buAutoNum type="alphaUcPeriod"/>
            </a:pPr>
            <a:r>
              <a:rPr lang="en-US" dirty="0"/>
              <a:t>Hemorrhage in the anterior root of the spinal cord</a:t>
            </a:r>
          </a:p>
          <a:p>
            <a:pPr marL="514350" indent="-514350">
              <a:buAutoNum type="alphaUcPeriod"/>
            </a:pPr>
            <a:r>
              <a:rPr lang="en-US" dirty="0"/>
              <a:t>Necrosis in the dorsal root ganglia</a:t>
            </a:r>
          </a:p>
          <a:p>
            <a:pPr marL="514350" indent="-514350">
              <a:buAutoNum type="alphaUcPeriod"/>
            </a:pPr>
            <a:r>
              <a:rPr lang="en-US" dirty="0"/>
              <a:t>Wallerian degeneration of the lower motor neuron</a:t>
            </a:r>
          </a:p>
          <a:p>
            <a:pPr marL="514350" indent="-514350">
              <a:buAutoNum type="alphaUcPeriod"/>
            </a:pPr>
            <a:r>
              <a:rPr lang="en-US" dirty="0"/>
              <a:t>Spinal shock</a:t>
            </a:r>
          </a:p>
          <a:p>
            <a:pPr marL="514350" indent="-514350">
              <a:buAutoNum type="alphaUcPeriod"/>
            </a:pPr>
            <a:r>
              <a:rPr lang="en-US" dirty="0"/>
              <a:t>Upper motor neuron lesion</a:t>
            </a:r>
          </a:p>
          <a:p>
            <a:pPr marL="0" indent="0">
              <a:buNone/>
            </a:pPr>
            <a:endParaRPr lang="en-US" dirty="0"/>
          </a:p>
        </p:txBody>
      </p:sp>
      <p:sp>
        <p:nvSpPr>
          <p:cNvPr id="2" name="Slide Number Placeholder 1"/>
          <p:cNvSpPr>
            <a:spLocks noGrp="1"/>
          </p:cNvSpPr>
          <p:nvPr>
            <p:ph type="sldNum" sz="quarter" idx="12"/>
          </p:nvPr>
        </p:nvSpPr>
        <p:spPr/>
        <p:txBody>
          <a:bodyPr/>
          <a:lstStyle/>
          <a:p>
            <a:fld id="{4B689A82-AD2C-4896-92D2-567C77EBD8E3}" type="slidenum">
              <a:rPr lang="en-US" smtClean="0"/>
              <a:t>15</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1619360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15. Twenty two years old Zafar received multiple stab wounds in the back while resisting an attempted robbery. An MRI done the next day showed hemi-section of the spinal cord at the level of the left C2 vertebra. Which one of the following spinal segments corresponds to C2 vertebral level ?</a:t>
            </a:r>
          </a:p>
          <a:p>
            <a:pPr marL="0" indent="0">
              <a:buNone/>
            </a:pPr>
            <a:endParaRPr lang="en-US" dirty="0">
              <a:solidFill>
                <a:srgbClr val="C00000"/>
              </a:solidFill>
            </a:endParaRPr>
          </a:p>
          <a:p>
            <a:pPr marL="514350" indent="-514350">
              <a:buAutoNum type="alphaUcPeriod"/>
            </a:pPr>
            <a:r>
              <a:rPr lang="en-US" dirty="0"/>
              <a:t>C2</a:t>
            </a:r>
          </a:p>
          <a:p>
            <a:pPr marL="514350" indent="-514350">
              <a:buAutoNum type="alphaUcPeriod"/>
            </a:pPr>
            <a:r>
              <a:rPr lang="en-US" dirty="0"/>
              <a:t>C3</a:t>
            </a:r>
          </a:p>
          <a:p>
            <a:pPr marL="514350" indent="-514350">
              <a:buAutoNum type="alphaUcPeriod"/>
            </a:pPr>
            <a:r>
              <a:rPr lang="en-US" dirty="0"/>
              <a:t>C4</a:t>
            </a:r>
          </a:p>
          <a:p>
            <a:pPr marL="514350" indent="-514350">
              <a:buAutoNum type="alphaUcPeriod"/>
            </a:pPr>
            <a:r>
              <a:rPr lang="en-US" dirty="0"/>
              <a:t>C5</a:t>
            </a:r>
          </a:p>
          <a:p>
            <a:pPr marL="514350" indent="-514350">
              <a:buAutoNum type="alphaUcPeriod"/>
            </a:pPr>
            <a:r>
              <a:rPr lang="en-US" dirty="0"/>
              <a:t>C6</a:t>
            </a:r>
          </a:p>
        </p:txBody>
      </p:sp>
      <p:sp>
        <p:nvSpPr>
          <p:cNvPr id="2" name="Slide Number Placeholder 1"/>
          <p:cNvSpPr>
            <a:spLocks noGrp="1"/>
          </p:cNvSpPr>
          <p:nvPr>
            <p:ph type="sldNum" sz="quarter" idx="12"/>
          </p:nvPr>
        </p:nvSpPr>
        <p:spPr/>
        <p:txBody>
          <a:bodyPr/>
          <a:lstStyle/>
          <a:p>
            <a:fld id="{4B689A82-AD2C-4896-92D2-567C77EBD8E3}" type="slidenum">
              <a:rPr lang="en-US" smtClean="0"/>
              <a:t>16</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021625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lstStyle/>
          <a:p>
            <a:pPr marL="0" indent="0">
              <a:buNone/>
            </a:pPr>
            <a:r>
              <a:rPr lang="en-US" dirty="0">
                <a:solidFill>
                  <a:srgbClr val="C00000"/>
                </a:solidFill>
              </a:rPr>
              <a:t>16. Which of the following sensory receptors is stimulated when pressure and vibration are applied to the skin?</a:t>
            </a:r>
          </a:p>
          <a:p>
            <a:pPr marL="0" indent="0">
              <a:buNone/>
            </a:pPr>
            <a:endParaRPr lang="en-US" dirty="0"/>
          </a:p>
          <a:p>
            <a:pPr marL="514350" indent="-514350">
              <a:buAutoNum type="alphaUcPeriod"/>
            </a:pPr>
            <a:r>
              <a:rPr lang="en-US" dirty="0"/>
              <a:t>Pacinian corpuscles</a:t>
            </a:r>
          </a:p>
          <a:p>
            <a:pPr marL="514350" indent="-514350">
              <a:buAutoNum type="alphaUcPeriod"/>
            </a:pPr>
            <a:r>
              <a:rPr lang="en-US" dirty="0"/>
              <a:t>Meissner’s corpuscles</a:t>
            </a:r>
          </a:p>
          <a:p>
            <a:pPr marL="514350" indent="-514350">
              <a:buAutoNum type="alphaUcPeriod"/>
            </a:pPr>
            <a:r>
              <a:rPr lang="en-US" dirty="0"/>
              <a:t>Merkel’s discs</a:t>
            </a:r>
          </a:p>
          <a:p>
            <a:pPr marL="514350" indent="-514350">
              <a:buAutoNum type="alphaUcPeriod"/>
            </a:pPr>
            <a:r>
              <a:rPr lang="en-US" dirty="0"/>
              <a:t>Ruffini endings</a:t>
            </a:r>
          </a:p>
          <a:p>
            <a:pPr marL="514350" indent="-514350">
              <a:buAutoNum type="alphaUcPeriod"/>
            </a:pPr>
            <a:r>
              <a:rPr lang="en-US" dirty="0"/>
              <a:t>Free nerve endings</a:t>
            </a:r>
          </a:p>
        </p:txBody>
      </p:sp>
      <p:sp>
        <p:nvSpPr>
          <p:cNvPr id="2" name="Slide Number Placeholder 1"/>
          <p:cNvSpPr>
            <a:spLocks noGrp="1"/>
          </p:cNvSpPr>
          <p:nvPr>
            <p:ph type="sldNum" sz="quarter" idx="12"/>
          </p:nvPr>
        </p:nvSpPr>
        <p:spPr/>
        <p:txBody>
          <a:bodyPr/>
          <a:lstStyle/>
          <a:p>
            <a:fld id="{4B689A82-AD2C-4896-92D2-567C77EBD8E3}" type="slidenum">
              <a:rPr lang="en-US" smtClean="0"/>
              <a:t>17</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4174853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B689A82-AD2C-4896-92D2-567C77EBD8E3}" type="slidenum">
              <a:rPr lang="en-US" smtClean="0"/>
              <a:t>18</a:t>
            </a:fld>
            <a:endParaRPr lang="en-US" dirty="0"/>
          </a:p>
        </p:txBody>
      </p:sp>
      <p:sp>
        <p:nvSpPr>
          <p:cNvPr id="4" name="Footer Placeholder 3"/>
          <p:cNvSpPr>
            <a:spLocks noGrp="1"/>
          </p:cNvSpPr>
          <p:nvPr>
            <p:ph type="ftr" sz="quarter" idx="11"/>
          </p:nvPr>
        </p:nvSpPr>
        <p:spPr/>
        <p:txBody>
          <a:bodyPr/>
          <a:lstStyle/>
          <a:p>
            <a:r>
              <a:rPr lang="en-US" dirty="0"/>
              <a:t>Neu 241</a:t>
            </a:r>
          </a:p>
        </p:txBody>
      </p:sp>
      <p:sp>
        <p:nvSpPr>
          <p:cNvPr id="5" name="TextBox 4"/>
          <p:cNvSpPr txBox="1"/>
          <p:nvPr/>
        </p:nvSpPr>
        <p:spPr>
          <a:xfrm>
            <a:off x="3140869" y="2875002"/>
            <a:ext cx="5910262" cy="1107996"/>
          </a:xfrm>
          <a:prstGeom prst="rect">
            <a:avLst/>
          </a:prstGeom>
          <a:noFill/>
        </p:spPr>
        <p:txBody>
          <a:bodyPr wrap="square" rtlCol="0">
            <a:spAutoFit/>
          </a:bodyPr>
          <a:lstStyle/>
          <a:p>
            <a:r>
              <a:rPr lang="en-US" sz="6600" b="1" dirty="0"/>
              <a:t>Clinical Scenario</a:t>
            </a:r>
          </a:p>
        </p:txBody>
      </p:sp>
    </p:spTree>
    <p:extLst>
      <p:ext uri="{BB962C8B-B14F-4D97-AF65-F5344CB8AC3E}">
        <p14:creationId xmlns:p14="http://schemas.microsoft.com/office/powerpoint/2010/main" val="2467656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5763" y="306224"/>
            <a:ext cx="11358562" cy="5959793"/>
          </a:xfrm>
        </p:spPr>
        <p:txBody>
          <a:bodyPr>
            <a:noAutofit/>
          </a:bodyPr>
          <a:lstStyle/>
          <a:p>
            <a:pPr marL="0" indent="0">
              <a:lnSpc>
                <a:spcPct val="100000"/>
              </a:lnSpc>
              <a:buNone/>
            </a:pPr>
            <a:r>
              <a:rPr lang="en-US" sz="2500" dirty="0"/>
              <a:t>On a rainy day 20-year-old Abdullah Haider slipped from the rooftop of his house, injuring his neck. He was rushed to a hospital where the physician noted that he was unable to move right side of his body. He had a heart rate of 88/min and a blood pressure of 110/75 mm of Hg. </a:t>
            </a:r>
            <a:br>
              <a:rPr lang="en-US" sz="2500" dirty="0"/>
            </a:br>
            <a:r>
              <a:rPr lang="en-US" sz="2500" dirty="0"/>
              <a:t>Initial neurological examination showed depressed motor and sensory function in both upper and lower limbs. The anal reflex was also absent. After 24 hours, Neurological examination showed a flaccid and weak right side of the body and loss of position and vibratory sensations below the level of C5 on the right side. There was also left-sided loss of pain, temperature and crude touch below the level of C5 and a complete loss of sensation in C5 dermatome on the left side. On CT scan, a piece of fractured vertebra was found impacted in the spinal cord at C5 level on the right side. The patient was then operated upon to remove the bone fragment and repair the damaged vertebra. </a:t>
            </a:r>
            <a:br>
              <a:rPr lang="en-US" sz="2500" dirty="0"/>
            </a:br>
            <a:r>
              <a:rPr lang="en-US" sz="2500" dirty="0"/>
              <a:t>After 1 month on subsequent clinic visit, a comprehensive neurological examination revealed the same deficits except for increased tone in all muscles on the right side of the body. The abdominal and deep tendon reflexes were exaggerated on right side. </a:t>
            </a:r>
          </a:p>
          <a:p>
            <a:pPr marL="0" indent="0">
              <a:buNone/>
            </a:pPr>
            <a:endParaRPr lang="en-US" sz="2500" dirty="0"/>
          </a:p>
        </p:txBody>
      </p:sp>
      <p:sp>
        <p:nvSpPr>
          <p:cNvPr id="2" name="Slide Number Placeholder 1"/>
          <p:cNvSpPr>
            <a:spLocks noGrp="1"/>
          </p:cNvSpPr>
          <p:nvPr>
            <p:ph type="sldNum" sz="quarter" idx="12"/>
          </p:nvPr>
        </p:nvSpPr>
        <p:spPr/>
        <p:txBody>
          <a:bodyPr/>
          <a:lstStyle/>
          <a:p>
            <a:fld id="{4B689A82-AD2C-4896-92D2-567C77EBD8E3}" type="slidenum">
              <a:rPr lang="en-US" smtClean="0"/>
              <a:t>19</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928227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9104"/>
            <a:ext cx="10515600" cy="5959793"/>
          </a:xfrm>
        </p:spPr>
        <p:txBody>
          <a:bodyPr>
            <a:normAutofit/>
          </a:bodyPr>
          <a:lstStyle/>
          <a:p>
            <a:pPr marL="0" indent="0">
              <a:buNone/>
            </a:pPr>
            <a:r>
              <a:rPr lang="en-US" sz="3200" dirty="0"/>
              <a:t>Q. 1: Give reason for depressed motor and sensory function in both upper and lower limbs and absent anal reflex. (2 marks) </a:t>
            </a:r>
          </a:p>
          <a:p>
            <a:pPr marL="0" indent="0">
              <a:buNone/>
            </a:pPr>
            <a:br>
              <a:rPr lang="en-US" sz="3200" dirty="0"/>
            </a:br>
            <a:r>
              <a:rPr lang="en-US" sz="3200" dirty="0"/>
              <a:t>Q. 2: Name the tract which is responsible for conducting position and vibratory sensation. (2 marks)</a:t>
            </a:r>
          </a:p>
          <a:p>
            <a:pPr marL="0" indent="0">
              <a:buNone/>
            </a:pPr>
            <a:br>
              <a:rPr lang="en-US" sz="3200" dirty="0"/>
            </a:br>
            <a:r>
              <a:rPr lang="en-US" sz="3200" dirty="0"/>
              <a:t>Q. 3: Explain why pain and temperature sensations are lost on left side below C5 while position and vibratory sense are lost on the right side in this case?  (4 marks) </a:t>
            </a:r>
          </a:p>
          <a:p>
            <a:pPr marL="0" indent="0">
              <a:buNone/>
            </a:pPr>
            <a:br>
              <a:rPr lang="en-US" sz="3200" dirty="0"/>
            </a:br>
            <a:r>
              <a:rPr lang="en-US" sz="3200" dirty="0"/>
              <a:t>Q. 4: Why he developed exaggerated deep tendon reflexes on right side? (2 marks)</a:t>
            </a:r>
          </a:p>
          <a:p>
            <a:pPr marL="0" indent="0">
              <a:buNone/>
            </a:pPr>
            <a:endParaRPr lang="en-US" sz="3200" dirty="0"/>
          </a:p>
        </p:txBody>
      </p:sp>
      <p:sp>
        <p:nvSpPr>
          <p:cNvPr id="2" name="Slide Number Placeholder 1"/>
          <p:cNvSpPr>
            <a:spLocks noGrp="1"/>
          </p:cNvSpPr>
          <p:nvPr>
            <p:ph type="sldNum" sz="quarter" idx="12"/>
          </p:nvPr>
        </p:nvSpPr>
        <p:spPr/>
        <p:txBody>
          <a:bodyPr/>
          <a:lstStyle/>
          <a:p>
            <a:fld id="{4B689A82-AD2C-4896-92D2-567C77EBD8E3}" type="slidenum">
              <a:rPr lang="en-US" smtClean="0"/>
              <a:t>20</a:t>
            </a:fld>
            <a:endParaRPr lang="en-US" dirty="0"/>
          </a:p>
        </p:txBody>
      </p:sp>
      <p:sp>
        <p:nvSpPr>
          <p:cNvPr id="4" name="Footer Placeholder 3"/>
          <p:cNvSpPr>
            <a:spLocks noGrp="1"/>
          </p:cNvSpPr>
          <p:nvPr>
            <p:ph type="ftr" sz="quarter" idx="11"/>
          </p:nvPr>
        </p:nvSpPr>
        <p:spPr/>
        <p:txBody>
          <a:bodyPr/>
          <a:lstStyle/>
          <a:p>
            <a:r>
              <a:rPr lang="en-US" dirty="0"/>
              <a:t>Neu 241</a:t>
            </a:r>
          </a:p>
        </p:txBody>
      </p:sp>
    </p:spTree>
    <p:extLst>
      <p:ext uri="{BB962C8B-B14F-4D97-AF65-F5344CB8AC3E}">
        <p14:creationId xmlns:p14="http://schemas.microsoft.com/office/powerpoint/2010/main" val="3137570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835</TotalTime>
  <Words>1123</Words>
  <Application>Microsoft Office PowerPoint</Application>
  <PresentationFormat>Widescreen</PresentationFormat>
  <Paragraphs>200</Paragraphs>
  <Slides>20</Slides>
  <Notes>19</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TBL -1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mariam hendaz</dc:creator>
  <cp:lastModifiedBy>Anass Mohamed Ashour</cp:lastModifiedBy>
  <cp:revision>19</cp:revision>
  <dcterms:created xsi:type="dcterms:W3CDTF">2017-02-22T20:24:03Z</dcterms:created>
  <dcterms:modified xsi:type="dcterms:W3CDTF">2019-02-03T04:50:40Z</dcterms:modified>
</cp:coreProperties>
</file>