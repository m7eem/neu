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7" r:id="rId2"/>
    <p:sldId id="258" r:id="rId3"/>
    <p:sldId id="259" r:id="rId4"/>
    <p:sldId id="260"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86943" autoAdjust="0"/>
  </p:normalViewPr>
  <p:slideViewPr>
    <p:cSldViewPr snapToGrid="0">
      <p:cViewPr varScale="1">
        <p:scale>
          <a:sx n="81" d="100"/>
          <a:sy n="81" d="100"/>
        </p:scale>
        <p:origin x="2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FE53D-30A7-49D3-AA21-69D0B96A8BFE}" type="datetimeFigureOut">
              <a:rPr lang="en-US" smtClean="0"/>
              <a:t>4/25/2017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1261E7-9043-4931-96AC-55207C64D47D}" type="slidenum">
              <a:rPr lang="en-US" smtClean="0"/>
              <a:t>‹#›</a:t>
            </a:fld>
            <a:endParaRPr lang="en-US"/>
          </a:p>
        </p:txBody>
      </p:sp>
    </p:spTree>
    <p:extLst>
      <p:ext uri="{BB962C8B-B14F-4D97-AF65-F5344CB8AC3E}">
        <p14:creationId xmlns:p14="http://schemas.microsoft.com/office/powerpoint/2010/main" val="2616388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a:t>
            </a:r>
          </a:p>
        </p:txBody>
      </p:sp>
      <p:sp>
        <p:nvSpPr>
          <p:cNvPr id="4" name="Slide Number Placeholder 3"/>
          <p:cNvSpPr>
            <a:spLocks noGrp="1"/>
          </p:cNvSpPr>
          <p:nvPr>
            <p:ph type="sldNum" sz="quarter" idx="10"/>
          </p:nvPr>
        </p:nvSpPr>
        <p:spPr/>
        <p:txBody>
          <a:bodyPr/>
          <a:lstStyle/>
          <a:p>
            <a:fld id="{A1AE4D5C-2422-4464-8733-DB50F4F7FC23}" type="slidenum">
              <a:rPr lang="en-US" smtClean="0"/>
              <a:t>2</a:t>
            </a:fld>
            <a:endParaRPr lang="en-US" dirty="0"/>
          </a:p>
        </p:txBody>
      </p:sp>
    </p:spTree>
    <p:extLst>
      <p:ext uri="{BB962C8B-B14F-4D97-AF65-F5344CB8AC3E}">
        <p14:creationId xmlns:p14="http://schemas.microsoft.com/office/powerpoint/2010/main" val="498619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a:t>
            </a:r>
          </a:p>
        </p:txBody>
      </p:sp>
      <p:sp>
        <p:nvSpPr>
          <p:cNvPr id="4" name="Slide Number Placeholder 3"/>
          <p:cNvSpPr>
            <a:spLocks noGrp="1"/>
          </p:cNvSpPr>
          <p:nvPr>
            <p:ph type="sldNum" sz="quarter" idx="10"/>
          </p:nvPr>
        </p:nvSpPr>
        <p:spPr/>
        <p:txBody>
          <a:bodyPr/>
          <a:lstStyle/>
          <a:p>
            <a:fld id="{A1AE4D5C-2422-4464-8733-DB50F4F7FC23}" type="slidenum">
              <a:rPr lang="en-US" smtClean="0"/>
              <a:t>3</a:t>
            </a:fld>
            <a:endParaRPr lang="en-US" dirty="0"/>
          </a:p>
        </p:txBody>
      </p:sp>
    </p:spTree>
    <p:extLst>
      <p:ext uri="{BB962C8B-B14F-4D97-AF65-F5344CB8AC3E}">
        <p14:creationId xmlns:p14="http://schemas.microsoft.com/office/powerpoint/2010/main" val="3580226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a:t>
            </a:r>
          </a:p>
        </p:txBody>
      </p:sp>
      <p:sp>
        <p:nvSpPr>
          <p:cNvPr id="4" name="Slide Number Placeholder 3"/>
          <p:cNvSpPr>
            <a:spLocks noGrp="1"/>
          </p:cNvSpPr>
          <p:nvPr>
            <p:ph type="sldNum" sz="quarter" idx="10"/>
          </p:nvPr>
        </p:nvSpPr>
        <p:spPr/>
        <p:txBody>
          <a:bodyPr/>
          <a:lstStyle/>
          <a:p>
            <a:fld id="{A1AE4D5C-2422-4464-8733-DB50F4F7FC23}" type="slidenum">
              <a:rPr lang="en-US" smtClean="0"/>
              <a:t>4</a:t>
            </a:fld>
            <a:endParaRPr lang="en-US" dirty="0"/>
          </a:p>
        </p:txBody>
      </p:sp>
    </p:spTree>
    <p:extLst>
      <p:ext uri="{BB962C8B-B14F-4D97-AF65-F5344CB8AC3E}">
        <p14:creationId xmlns:p14="http://schemas.microsoft.com/office/powerpoint/2010/main" val="26924811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a:t>
            </a:r>
          </a:p>
        </p:txBody>
      </p:sp>
      <p:sp>
        <p:nvSpPr>
          <p:cNvPr id="4" name="Slide Number Placeholder 3"/>
          <p:cNvSpPr>
            <a:spLocks noGrp="1"/>
          </p:cNvSpPr>
          <p:nvPr>
            <p:ph type="sldNum" sz="quarter" idx="10"/>
          </p:nvPr>
        </p:nvSpPr>
        <p:spPr/>
        <p:txBody>
          <a:bodyPr/>
          <a:lstStyle/>
          <a:p>
            <a:fld id="{A1AE4D5C-2422-4464-8733-DB50F4F7FC23}" type="slidenum">
              <a:rPr lang="en-US" smtClean="0"/>
              <a:t>5</a:t>
            </a:fld>
            <a:endParaRPr lang="en-US" dirty="0"/>
          </a:p>
        </p:txBody>
      </p:sp>
    </p:spTree>
    <p:extLst>
      <p:ext uri="{BB962C8B-B14F-4D97-AF65-F5344CB8AC3E}">
        <p14:creationId xmlns:p14="http://schemas.microsoft.com/office/powerpoint/2010/main" val="39694269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a:t>
            </a:r>
          </a:p>
        </p:txBody>
      </p:sp>
      <p:sp>
        <p:nvSpPr>
          <p:cNvPr id="4" name="Slide Number Placeholder 3"/>
          <p:cNvSpPr>
            <a:spLocks noGrp="1"/>
          </p:cNvSpPr>
          <p:nvPr>
            <p:ph type="sldNum" sz="quarter" idx="10"/>
          </p:nvPr>
        </p:nvSpPr>
        <p:spPr/>
        <p:txBody>
          <a:bodyPr/>
          <a:lstStyle/>
          <a:p>
            <a:fld id="{A1AE4D5C-2422-4464-8733-DB50F4F7FC23}" type="slidenum">
              <a:rPr lang="en-US" smtClean="0"/>
              <a:t>6</a:t>
            </a:fld>
            <a:endParaRPr lang="en-US" dirty="0"/>
          </a:p>
        </p:txBody>
      </p:sp>
    </p:spTree>
    <p:extLst>
      <p:ext uri="{BB962C8B-B14F-4D97-AF65-F5344CB8AC3E}">
        <p14:creationId xmlns:p14="http://schemas.microsoft.com/office/powerpoint/2010/main" val="7311393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a:t>
            </a:r>
          </a:p>
        </p:txBody>
      </p:sp>
      <p:sp>
        <p:nvSpPr>
          <p:cNvPr id="4" name="Slide Number Placeholder 3"/>
          <p:cNvSpPr>
            <a:spLocks noGrp="1"/>
          </p:cNvSpPr>
          <p:nvPr>
            <p:ph type="sldNum" sz="quarter" idx="10"/>
          </p:nvPr>
        </p:nvSpPr>
        <p:spPr/>
        <p:txBody>
          <a:bodyPr/>
          <a:lstStyle/>
          <a:p>
            <a:fld id="{A1AE4D5C-2422-4464-8733-DB50F4F7FC23}" type="slidenum">
              <a:rPr lang="en-US" smtClean="0"/>
              <a:t>7</a:t>
            </a:fld>
            <a:endParaRPr lang="en-US" dirty="0"/>
          </a:p>
        </p:txBody>
      </p:sp>
    </p:spTree>
    <p:extLst>
      <p:ext uri="{BB962C8B-B14F-4D97-AF65-F5344CB8AC3E}">
        <p14:creationId xmlns:p14="http://schemas.microsoft.com/office/powerpoint/2010/main" val="4269450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a:t>
            </a:r>
          </a:p>
        </p:txBody>
      </p:sp>
      <p:sp>
        <p:nvSpPr>
          <p:cNvPr id="4" name="Slide Number Placeholder 3"/>
          <p:cNvSpPr>
            <a:spLocks noGrp="1"/>
          </p:cNvSpPr>
          <p:nvPr>
            <p:ph type="sldNum" sz="quarter" idx="10"/>
          </p:nvPr>
        </p:nvSpPr>
        <p:spPr/>
        <p:txBody>
          <a:bodyPr/>
          <a:lstStyle/>
          <a:p>
            <a:fld id="{A1AE4D5C-2422-4464-8733-DB50F4F7FC23}" type="slidenum">
              <a:rPr lang="en-US" smtClean="0"/>
              <a:t>8</a:t>
            </a:fld>
            <a:endParaRPr lang="en-US" dirty="0"/>
          </a:p>
        </p:txBody>
      </p:sp>
    </p:spTree>
    <p:extLst>
      <p:ext uri="{BB962C8B-B14F-4D97-AF65-F5344CB8AC3E}">
        <p14:creationId xmlns:p14="http://schemas.microsoft.com/office/powerpoint/2010/main" val="34970303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a:t>
            </a:r>
          </a:p>
        </p:txBody>
      </p:sp>
      <p:sp>
        <p:nvSpPr>
          <p:cNvPr id="4" name="Slide Number Placeholder 3"/>
          <p:cNvSpPr>
            <a:spLocks noGrp="1"/>
          </p:cNvSpPr>
          <p:nvPr>
            <p:ph type="sldNum" sz="quarter" idx="10"/>
          </p:nvPr>
        </p:nvSpPr>
        <p:spPr/>
        <p:txBody>
          <a:bodyPr/>
          <a:lstStyle/>
          <a:p>
            <a:fld id="{A1AE4D5C-2422-4464-8733-DB50F4F7FC23}" type="slidenum">
              <a:rPr lang="en-US" smtClean="0"/>
              <a:t>9</a:t>
            </a:fld>
            <a:endParaRPr lang="en-US" dirty="0"/>
          </a:p>
        </p:txBody>
      </p:sp>
    </p:spTree>
    <p:extLst>
      <p:ext uri="{BB962C8B-B14F-4D97-AF65-F5344CB8AC3E}">
        <p14:creationId xmlns:p14="http://schemas.microsoft.com/office/powerpoint/2010/main" val="35126629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a:t>
            </a:r>
          </a:p>
        </p:txBody>
      </p:sp>
      <p:sp>
        <p:nvSpPr>
          <p:cNvPr id="4" name="Slide Number Placeholder 3"/>
          <p:cNvSpPr>
            <a:spLocks noGrp="1"/>
          </p:cNvSpPr>
          <p:nvPr>
            <p:ph type="sldNum" sz="quarter" idx="10"/>
          </p:nvPr>
        </p:nvSpPr>
        <p:spPr/>
        <p:txBody>
          <a:bodyPr/>
          <a:lstStyle/>
          <a:p>
            <a:fld id="{A1AE4D5C-2422-4464-8733-DB50F4F7FC23}" type="slidenum">
              <a:rPr lang="en-US" smtClean="0"/>
              <a:t>10</a:t>
            </a:fld>
            <a:endParaRPr lang="en-US" dirty="0"/>
          </a:p>
        </p:txBody>
      </p:sp>
    </p:spTree>
    <p:extLst>
      <p:ext uri="{BB962C8B-B14F-4D97-AF65-F5344CB8AC3E}">
        <p14:creationId xmlns:p14="http://schemas.microsoft.com/office/powerpoint/2010/main" val="41255952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a:t>
            </a:r>
          </a:p>
        </p:txBody>
      </p:sp>
      <p:sp>
        <p:nvSpPr>
          <p:cNvPr id="4" name="Slide Number Placeholder 3"/>
          <p:cNvSpPr>
            <a:spLocks noGrp="1"/>
          </p:cNvSpPr>
          <p:nvPr>
            <p:ph type="sldNum" sz="quarter" idx="10"/>
          </p:nvPr>
        </p:nvSpPr>
        <p:spPr/>
        <p:txBody>
          <a:bodyPr/>
          <a:lstStyle/>
          <a:p>
            <a:fld id="{A1AE4D5C-2422-4464-8733-DB50F4F7FC23}" type="slidenum">
              <a:rPr lang="en-US" smtClean="0"/>
              <a:t>11</a:t>
            </a:fld>
            <a:endParaRPr lang="en-US" dirty="0"/>
          </a:p>
        </p:txBody>
      </p:sp>
    </p:spTree>
    <p:extLst>
      <p:ext uri="{BB962C8B-B14F-4D97-AF65-F5344CB8AC3E}">
        <p14:creationId xmlns:p14="http://schemas.microsoft.com/office/powerpoint/2010/main" val="9866813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a:t>
            </a:r>
          </a:p>
        </p:txBody>
      </p:sp>
      <p:sp>
        <p:nvSpPr>
          <p:cNvPr id="4" name="Slide Number Placeholder 3"/>
          <p:cNvSpPr>
            <a:spLocks noGrp="1"/>
          </p:cNvSpPr>
          <p:nvPr>
            <p:ph type="sldNum" sz="quarter" idx="10"/>
          </p:nvPr>
        </p:nvSpPr>
        <p:spPr/>
        <p:txBody>
          <a:bodyPr/>
          <a:lstStyle/>
          <a:p>
            <a:fld id="{A1AE4D5C-2422-4464-8733-DB50F4F7FC23}" type="slidenum">
              <a:rPr lang="en-US" smtClean="0"/>
              <a:t>12</a:t>
            </a:fld>
            <a:endParaRPr lang="en-US" dirty="0"/>
          </a:p>
        </p:txBody>
      </p:sp>
    </p:spTree>
    <p:extLst>
      <p:ext uri="{BB962C8B-B14F-4D97-AF65-F5344CB8AC3E}">
        <p14:creationId xmlns:p14="http://schemas.microsoft.com/office/powerpoint/2010/main" val="32464856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Answer was </a:t>
            </a:r>
            <a:r>
              <a:rPr lang="en-US" b="1" dirty="0" err="1"/>
              <a:t>Buspirone</a:t>
            </a:r>
            <a:r>
              <a:rPr lang="en-US" b="1" dirty="0"/>
              <a:t>.</a:t>
            </a:r>
          </a:p>
        </p:txBody>
      </p:sp>
      <p:sp>
        <p:nvSpPr>
          <p:cNvPr id="4" name="Slide Number Placeholder 3"/>
          <p:cNvSpPr>
            <a:spLocks noGrp="1"/>
          </p:cNvSpPr>
          <p:nvPr>
            <p:ph type="sldNum" sz="quarter" idx="10"/>
          </p:nvPr>
        </p:nvSpPr>
        <p:spPr/>
        <p:txBody>
          <a:bodyPr/>
          <a:lstStyle/>
          <a:p>
            <a:fld id="{A1AE4D5C-2422-4464-8733-DB50F4F7FC23}" type="slidenum">
              <a:rPr lang="en-US" smtClean="0"/>
              <a:t>13</a:t>
            </a:fld>
            <a:endParaRPr lang="en-US" dirty="0"/>
          </a:p>
        </p:txBody>
      </p:sp>
    </p:spTree>
    <p:extLst>
      <p:ext uri="{BB962C8B-B14F-4D97-AF65-F5344CB8AC3E}">
        <p14:creationId xmlns:p14="http://schemas.microsoft.com/office/powerpoint/2010/main" val="39155796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a:t>
            </a:r>
          </a:p>
        </p:txBody>
      </p:sp>
      <p:sp>
        <p:nvSpPr>
          <p:cNvPr id="4" name="Slide Number Placeholder 3"/>
          <p:cNvSpPr>
            <a:spLocks noGrp="1"/>
          </p:cNvSpPr>
          <p:nvPr>
            <p:ph type="sldNum" sz="quarter" idx="10"/>
          </p:nvPr>
        </p:nvSpPr>
        <p:spPr/>
        <p:txBody>
          <a:bodyPr/>
          <a:lstStyle/>
          <a:p>
            <a:fld id="{A1AE4D5C-2422-4464-8733-DB50F4F7FC23}" type="slidenum">
              <a:rPr lang="en-US" smtClean="0"/>
              <a:t>14</a:t>
            </a:fld>
            <a:endParaRPr lang="en-US" dirty="0"/>
          </a:p>
        </p:txBody>
      </p:sp>
    </p:spTree>
    <p:extLst>
      <p:ext uri="{BB962C8B-B14F-4D97-AF65-F5344CB8AC3E}">
        <p14:creationId xmlns:p14="http://schemas.microsoft.com/office/powerpoint/2010/main" val="38848638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a:t>
            </a:r>
          </a:p>
        </p:txBody>
      </p:sp>
      <p:sp>
        <p:nvSpPr>
          <p:cNvPr id="4" name="Slide Number Placeholder 3"/>
          <p:cNvSpPr>
            <a:spLocks noGrp="1"/>
          </p:cNvSpPr>
          <p:nvPr>
            <p:ph type="sldNum" sz="quarter" idx="10"/>
          </p:nvPr>
        </p:nvSpPr>
        <p:spPr/>
        <p:txBody>
          <a:bodyPr/>
          <a:lstStyle/>
          <a:p>
            <a:fld id="{A1AE4D5C-2422-4464-8733-DB50F4F7FC23}" type="slidenum">
              <a:rPr lang="en-US" smtClean="0"/>
              <a:t>15</a:t>
            </a:fld>
            <a:endParaRPr lang="en-US" dirty="0"/>
          </a:p>
        </p:txBody>
      </p:sp>
    </p:spTree>
    <p:extLst>
      <p:ext uri="{BB962C8B-B14F-4D97-AF65-F5344CB8AC3E}">
        <p14:creationId xmlns:p14="http://schemas.microsoft.com/office/powerpoint/2010/main" val="28227546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a:t>
            </a:r>
          </a:p>
        </p:txBody>
      </p:sp>
      <p:sp>
        <p:nvSpPr>
          <p:cNvPr id="4" name="Slide Number Placeholder 3"/>
          <p:cNvSpPr>
            <a:spLocks noGrp="1"/>
          </p:cNvSpPr>
          <p:nvPr>
            <p:ph type="sldNum" sz="quarter" idx="10"/>
          </p:nvPr>
        </p:nvSpPr>
        <p:spPr/>
        <p:txBody>
          <a:bodyPr/>
          <a:lstStyle/>
          <a:p>
            <a:fld id="{A1AE4D5C-2422-4464-8733-DB50F4F7FC23}" type="slidenum">
              <a:rPr lang="en-US" smtClean="0"/>
              <a:t>16</a:t>
            </a:fld>
            <a:endParaRPr lang="en-US" dirty="0"/>
          </a:p>
        </p:txBody>
      </p:sp>
    </p:spTree>
    <p:extLst>
      <p:ext uri="{BB962C8B-B14F-4D97-AF65-F5344CB8AC3E}">
        <p14:creationId xmlns:p14="http://schemas.microsoft.com/office/powerpoint/2010/main" val="20989537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a:t>
            </a:r>
          </a:p>
        </p:txBody>
      </p:sp>
      <p:sp>
        <p:nvSpPr>
          <p:cNvPr id="4" name="Slide Number Placeholder 3"/>
          <p:cNvSpPr>
            <a:spLocks noGrp="1"/>
          </p:cNvSpPr>
          <p:nvPr>
            <p:ph type="sldNum" sz="quarter" idx="10"/>
          </p:nvPr>
        </p:nvSpPr>
        <p:spPr/>
        <p:txBody>
          <a:bodyPr/>
          <a:lstStyle/>
          <a:p>
            <a:fld id="{A1AE4D5C-2422-4464-8733-DB50F4F7FC23}" type="slidenum">
              <a:rPr lang="en-US" smtClean="0"/>
              <a:t>17</a:t>
            </a:fld>
            <a:endParaRPr lang="en-US" dirty="0"/>
          </a:p>
        </p:txBody>
      </p:sp>
    </p:spTree>
    <p:extLst>
      <p:ext uri="{BB962C8B-B14F-4D97-AF65-F5344CB8AC3E}">
        <p14:creationId xmlns:p14="http://schemas.microsoft.com/office/powerpoint/2010/main" val="28138105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a:t>
            </a:r>
          </a:p>
        </p:txBody>
      </p:sp>
      <p:sp>
        <p:nvSpPr>
          <p:cNvPr id="4" name="Slide Number Placeholder 3"/>
          <p:cNvSpPr>
            <a:spLocks noGrp="1"/>
          </p:cNvSpPr>
          <p:nvPr>
            <p:ph type="sldNum" sz="quarter" idx="10"/>
          </p:nvPr>
        </p:nvSpPr>
        <p:spPr/>
        <p:txBody>
          <a:bodyPr/>
          <a:lstStyle/>
          <a:p>
            <a:fld id="{A1AE4D5C-2422-4464-8733-DB50F4F7FC23}" type="slidenum">
              <a:rPr lang="en-US" smtClean="0"/>
              <a:t>18</a:t>
            </a:fld>
            <a:endParaRPr lang="en-US" dirty="0"/>
          </a:p>
        </p:txBody>
      </p:sp>
    </p:spTree>
    <p:extLst>
      <p:ext uri="{BB962C8B-B14F-4D97-AF65-F5344CB8AC3E}">
        <p14:creationId xmlns:p14="http://schemas.microsoft.com/office/powerpoint/2010/main" val="5739935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a:t>
            </a:r>
          </a:p>
        </p:txBody>
      </p:sp>
      <p:sp>
        <p:nvSpPr>
          <p:cNvPr id="4" name="Slide Number Placeholder 3"/>
          <p:cNvSpPr>
            <a:spLocks noGrp="1"/>
          </p:cNvSpPr>
          <p:nvPr>
            <p:ph type="sldNum" sz="quarter" idx="10"/>
          </p:nvPr>
        </p:nvSpPr>
        <p:spPr/>
        <p:txBody>
          <a:bodyPr/>
          <a:lstStyle/>
          <a:p>
            <a:fld id="{A1AE4D5C-2422-4464-8733-DB50F4F7FC23}" type="slidenum">
              <a:rPr lang="en-US" smtClean="0"/>
              <a:t>19</a:t>
            </a:fld>
            <a:endParaRPr lang="en-US" dirty="0"/>
          </a:p>
        </p:txBody>
      </p:sp>
    </p:spTree>
    <p:extLst>
      <p:ext uri="{BB962C8B-B14F-4D97-AF65-F5344CB8AC3E}">
        <p14:creationId xmlns:p14="http://schemas.microsoft.com/office/powerpoint/2010/main" val="18715276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a:t>
            </a:r>
          </a:p>
        </p:txBody>
      </p:sp>
      <p:sp>
        <p:nvSpPr>
          <p:cNvPr id="4" name="Slide Number Placeholder 3"/>
          <p:cNvSpPr>
            <a:spLocks noGrp="1"/>
          </p:cNvSpPr>
          <p:nvPr>
            <p:ph type="sldNum" sz="quarter" idx="10"/>
          </p:nvPr>
        </p:nvSpPr>
        <p:spPr/>
        <p:txBody>
          <a:bodyPr/>
          <a:lstStyle/>
          <a:p>
            <a:fld id="{A1AE4D5C-2422-4464-8733-DB50F4F7FC23}" type="slidenum">
              <a:rPr lang="en-US" smtClean="0"/>
              <a:t>20</a:t>
            </a:fld>
            <a:endParaRPr lang="en-US" dirty="0"/>
          </a:p>
        </p:txBody>
      </p:sp>
    </p:spTree>
    <p:extLst>
      <p:ext uri="{BB962C8B-B14F-4D97-AF65-F5344CB8AC3E}">
        <p14:creationId xmlns:p14="http://schemas.microsoft.com/office/powerpoint/2010/main" val="12516632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55EA8E0-1745-40AE-8DA7-99E7B1A22C9F}" type="datetimeFigureOut">
              <a:rPr lang="en-US" smtClean="0"/>
              <a:t>4/25/2017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FA2691-DBC3-4B65-9E8E-D9AE9ED5E6B5}" type="slidenum">
              <a:rPr lang="en-US" smtClean="0"/>
              <a:t>‹#›</a:t>
            </a:fld>
            <a:endParaRPr lang="en-US"/>
          </a:p>
        </p:txBody>
      </p:sp>
    </p:spTree>
    <p:extLst>
      <p:ext uri="{BB962C8B-B14F-4D97-AF65-F5344CB8AC3E}">
        <p14:creationId xmlns:p14="http://schemas.microsoft.com/office/powerpoint/2010/main" val="1998350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55EA8E0-1745-40AE-8DA7-99E7B1A22C9F}" type="datetimeFigureOut">
              <a:rPr lang="en-US" smtClean="0"/>
              <a:t>4/25/2017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FA2691-DBC3-4B65-9E8E-D9AE9ED5E6B5}" type="slidenum">
              <a:rPr lang="en-US" smtClean="0"/>
              <a:t>‹#›</a:t>
            </a:fld>
            <a:endParaRPr lang="en-US"/>
          </a:p>
        </p:txBody>
      </p:sp>
    </p:spTree>
    <p:extLst>
      <p:ext uri="{BB962C8B-B14F-4D97-AF65-F5344CB8AC3E}">
        <p14:creationId xmlns:p14="http://schemas.microsoft.com/office/powerpoint/2010/main" val="792020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5EA8E0-1745-40AE-8DA7-99E7B1A22C9F}" type="datetimeFigureOut">
              <a:rPr lang="en-US" smtClean="0"/>
              <a:t>4/25/2017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FA2691-DBC3-4B65-9E8E-D9AE9ED5E6B5}" type="slidenum">
              <a:rPr lang="en-US" smtClean="0"/>
              <a:t>‹#›</a:t>
            </a:fld>
            <a:endParaRPr lang="en-US"/>
          </a:p>
        </p:txBody>
      </p:sp>
    </p:spTree>
    <p:extLst>
      <p:ext uri="{BB962C8B-B14F-4D97-AF65-F5344CB8AC3E}">
        <p14:creationId xmlns:p14="http://schemas.microsoft.com/office/powerpoint/2010/main" val="1650491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55EA8E0-1745-40AE-8DA7-99E7B1A22C9F}" type="datetimeFigureOut">
              <a:rPr lang="en-US" smtClean="0"/>
              <a:t>4/25/2017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FA2691-DBC3-4B65-9E8E-D9AE9ED5E6B5}" type="slidenum">
              <a:rPr lang="en-US" smtClean="0"/>
              <a:t>‹#›</a:t>
            </a:fld>
            <a:endParaRPr lang="en-US"/>
          </a:p>
        </p:txBody>
      </p:sp>
    </p:spTree>
    <p:extLst>
      <p:ext uri="{BB962C8B-B14F-4D97-AF65-F5344CB8AC3E}">
        <p14:creationId xmlns:p14="http://schemas.microsoft.com/office/powerpoint/2010/main" val="2325015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55EA8E0-1745-40AE-8DA7-99E7B1A22C9F}" type="datetimeFigureOut">
              <a:rPr lang="en-US" smtClean="0"/>
              <a:t>4/25/2017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FA2691-DBC3-4B65-9E8E-D9AE9ED5E6B5}" type="slidenum">
              <a:rPr lang="en-US" smtClean="0"/>
              <a:t>‹#›</a:t>
            </a:fld>
            <a:endParaRPr lang="en-US"/>
          </a:p>
        </p:txBody>
      </p:sp>
    </p:spTree>
    <p:extLst>
      <p:ext uri="{BB962C8B-B14F-4D97-AF65-F5344CB8AC3E}">
        <p14:creationId xmlns:p14="http://schemas.microsoft.com/office/powerpoint/2010/main" val="17550514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55EA8E0-1745-40AE-8DA7-99E7B1A22C9F}" type="datetimeFigureOut">
              <a:rPr lang="en-US" smtClean="0"/>
              <a:t>4/25/2017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FA2691-DBC3-4B65-9E8E-D9AE9ED5E6B5}" type="slidenum">
              <a:rPr lang="en-US" smtClean="0"/>
              <a:t>‹#›</a:t>
            </a:fld>
            <a:endParaRPr lang="en-US"/>
          </a:p>
        </p:txBody>
      </p:sp>
    </p:spTree>
    <p:extLst>
      <p:ext uri="{BB962C8B-B14F-4D97-AF65-F5344CB8AC3E}">
        <p14:creationId xmlns:p14="http://schemas.microsoft.com/office/powerpoint/2010/main" val="485723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5EA8E0-1745-40AE-8DA7-99E7B1A22C9F}" type="datetimeFigureOut">
              <a:rPr lang="en-US" smtClean="0"/>
              <a:t>4/25/2017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0FA2691-DBC3-4B65-9E8E-D9AE9ED5E6B5}" type="slidenum">
              <a:rPr lang="en-US" smtClean="0"/>
              <a:t>‹#›</a:t>
            </a:fld>
            <a:endParaRPr lang="en-US"/>
          </a:p>
        </p:txBody>
      </p:sp>
    </p:spTree>
    <p:extLst>
      <p:ext uri="{BB962C8B-B14F-4D97-AF65-F5344CB8AC3E}">
        <p14:creationId xmlns:p14="http://schemas.microsoft.com/office/powerpoint/2010/main" val="24459679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5EA8E0-1745-40AE-8DA7-99E7B1A22C9F}" type="datetimeFigureOut">
              <a:rPr lang="en-US" smtClean="0"/>
              <a:t>4/25/2017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FA2691-DBC3-4B65-9E8E-D9AE9ED5E6B5}" type="slidenum">
              <a:rPr lang="en-US" smtClean="0"/>
              <a:t>‹#›</a:t>
            </a:fld>
            <a:endParaRPr lang="en-US"/>
          </a:p>
        </p:txBody>
      </p:sp>
    </p:spTree>
    <p:extLst>
      <p:ext uri="{BB962C8B-B14F-4D97-AF65-F5344CB8AC3E}">
        <p14:creationId xmlns:p14="http://schemas.microsoft.com/office/powerpoint/2010/main" val="8479431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5EA8E0-1745-40AE-8DA7-99E7B1A22C9F}" type="datetimeFigureOut">
              <a:rPr lang="en-US" smtClean="0"/>
              <a:t>4/25/2017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FA2691-DBC3-4B65-9E8E-D9AE9ED5E6B5}" type="slidenum">
              <a:rPr lang="en-US" smtClean="0"/>
              <a:t>‹#›</a:t>
            </a:fld>
            <a:endParaRPr lang="en-US"/>
          </a:p>
        </p:txBody>
      </p:sp>
    </p:spTree>
    <p:extLst>
      <p:ext uri="{BB962C8B-B14F-4D97-AF65-F5344CB8AC3E}">
        <p14:creationId xmlns:p14="http://schemas.microsoft.com/office/powerpoint/2010/main" val="2416725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55EA8E0-1745-40AE-8DA7-99E7B1A22C9F}" type="datetimeFigureOut">
              <a:rPr lang="en-US" smtClean="0"/>
              <a:t>4/25/2017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FA2691-DBC3-4B65-9E8E-D9AE9ED5E6B5}" type="slidenum">
              <a:rPr lang="en-US" smtClean="0"/>
              <a:t>‹#›</a:t>
            </a:fld>
            <a:endParaRPr lang="en-US"/>
          </a:p>
        </p:txBody>
      </p:sp>
    </p:spTree>
    <p:extLst>
      <p:ext uri="{BB962C8B-B14F-4D97-AF65-F5344CB8AC3E}">
        <p14:creationId xmlns:p14="http://schemas.microsoft.com/office/powerpoint/2010/main" val="3688237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55EA8E0-1745-40AE-8DA7-99E7B1A22C9F}" type="datetimeFigureOut">
              <a:rPr lang="en-US" smtClean="0"/>
              <a:t>4/25/2017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FA2691-DBC3-4B65-9E8E-D9AE9ED5E6B5}" type="slidenum">
              <a:rPr lang="en-US" smtClean="0"/>
              <a:t>‹#›</a:t>
            </a:fld>
            <a:endParaRPr lang="en-US"/>
          </a:p>
        </p:txBody>
      </p:sp>
    </p:spTree>
    <p:extLst>
      <p:ext uri="{BB962C8B-B14F-4D97-AF65-F5344CB8AC3E}">
        <p14:creationId xmlns:p14="http://schemas.microsoft.com/office/powerpoint/2010/main" val="3840892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5EA8E0-1745-40AE-8DA7-99E7B1A22C9F}" type="datetimeFigureOut">
              <a:rPr lang="en-US" smtClean="0"/>
              <a:t>4/25/2017</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A2691-DBC3-4B65-9E8E-D9AE9ED5E6B5}" type="slidenum">
              <a:rPr lang="en-US" smtClean="0"/>
              <a:t>‹#›</a:t>
            </a:fld>
            <a:endParaRPr lang="en-US"/>
          </a:p>
        </p:txBody>
      </p:sp>
    </p:spTree>
    <p:extLst>
      <p:ext uri="{BB962C8B-B14F-4D97-AF65-F5344CB8AC3E}">
        <p14:creationId xmlns:p14="http://schemas.microsoft.com/office/powerpoint/2010/main" val="16941920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3189" y="2157413"/>
            <a:ext cx="9624811" cy="1352550"/>
          </a:xfrm>
        </p:spPr>
        <p:txBody>
          <a:bodyPr>
            <a:normAutofit/>
          </a:bodyPr>
          <a:lstStyle/>
          <a:p>
            <a:r>
              <a:rPr lang="en-US" sz="6600" dirty="0"/>
              <a:t>TBL -2 Questions</a:t>
            </a:r>
          </a:p>
        </p:txBody>
      </p:sp>
      <p:sp>
        <p:nvSpPr>
          <p:cNvPr id="3" name="Subtitle 2"/>
          <p:cNvSpPr>
            <a:spLocks noGrp="1"/>
          </p:cNvSpPr>
          <p:nvPr>
            <p:ph type="subTitle" idx="1"/>
          </p:nvPr>
        </p:nvSpPr>
        <p:spPr>
          <a:xfrm>
            <a:off x="1043189" y="3881788"/>
            <a:ext cx="9624811" cy="1050823"/>
          </a:xfrm>
        </p:spPr>
        <p:txBody>
          <a:bodyPr>
            <a:normAutofit/>
          </a:bodyPr>
          <a:lstStyle/>
          <a:p>
            <a:r>
              <a:rPr lang="en-US" sz="3600" dirty="0">
                <a:solidFill>
                  <a:srgbClr val="002060"/>
                </a:solidFill>
                <a:latin typeface="Times New Roman" panose="02020603050405020304" pitchFamily="18" charset="0"/>
                <a:cs typeface="Times New Roman" panose="02020603050405020304" pitchFamily="18" charset="0"/>
              </a:rPr>
              <a:t>Exam Committee - 8th Batch</a:t>
            </a:r>
          </a:p>
          <a:p>
            <a:endParaRPr lang="en-US" sz="3600" dirty="0">
              <a:solidFill>
                <a:srgbClr val="002060"/>
              </a:solidFill>
              <a:latin typeface="Times New Roman" panose="02020603050405020304" pitchFamily="18" charset="0"/>
              <a:cs typeface="Times New Roman" panose="02020603050405020304" pitchFamily="18" charset="0"/>
            </a:endParaRPr>
          </a:p>
          <a:p>
            <a:endParaRPr lang="en-US" sz="3600" dirty="0">
              <a:solidFill>
                <a:srgbClr val="002060"/>
              </a:solidFill>
              <a:latin typeface="Times New Roman" panose="02020603050405020304" pitchFamily="18" charset="0"/>
              <a:cs typeface="Times New Roman" panose="02020603050405020304" pitchFamily="18" charset="0"/>
            </a:endParaRPr>
          </a:p>
          <a:p>
            <a:endParaRPr lang="en-US" sz="3600" dirty="0"/>
          </a:p>
        </p:txBody>
      </p:sp>
      <p:sp>
        <p:nvSpPr>
          <p:cNvPr id="4" name="Slide Number Placeholder 3"/>
          <p:cNvSpPr>
            <a:spLocks noGrp="1"/>
          </p:cNvSpPr>
          <p:nvPr>
            <p:ph type="sldNum" sz="quarter" idx="12"/>
          </p:nvPr>
        </p:nvSpPr>
        <p:spPr/>
        <p:txBody>
          <a:bodyPr/>
          <a:lstStyle/>
          <a:p>
            <a:fld id="{4B689A82-AD2C-4896-92D2-567C77EBD8E3}" type="slidenum">
              <a:rPr lang="en-US" smtClean="0"/>
              <a:t>1</a:t>
            </a:fld>
            <a:endParaRPr lang="en-US" dirty="0"/>
          </a:p>
        </p:txBody>
      </p:sp>
      <p:sp>
        <p:nvSpPr>
          <p:cNvPr id="6" name="Footer Placeholder 5"/>
          <p:cNvSpPr>
            <a:spLocks noGrp="1"/>
          </p:cNvSpPr>
          <p:nvPr>
            <p:ph type="ftr" sz="quarter" idx="11"/>
          </p:nvPr>
        </p:nvSpPr>
        <p:spPr/>
        <p:txBody>
          <a:bodyPr/>
          <a:lstStyle/>
          <a:p>
            <a:r>
              <a:rPr lang="en-US" dirty="0"/>
              <a:t>Neu 241</a:t>
            </a:r>
          </a:p>
        </p:txBody>
      </p:sp>
      <p:sp>
        <p:nvSpPr>
          <p:cNvPr id="7" name="TextBox 6"/>
          <p:cNvSpPr txBox="1"/>
          <p:nvPr/>
        </p:nvSpPr>
        <p:spPr>
          <a:xfrm>
            <a:off x="4163688" y="5282662"/>
            <a:ext cx="3383811" cy="523220"/>
          </a:xfrm>
          <a:prstGeom prst="rect">
            <a:avLst/>
          </a:prstGeom>
          <a:noFill/>
        </p:spPr>
        <p:txBody>
          <a:bodyPr wrap="none" rtlCol="0">
            <a:spAutoFit/>
          </a:bodyPr>
          <a:lstStyle/>
          <a:p>
            <a:r>
              <a:rPr lang="en-US" sz="2800" b="1" dirty="0">
                <a:solidFill>
                  <a:srgbClr val="FF0000"/>
                </a:solidFill>
              </a:rPr>
              <a:t>Answers in the notes </a:t>
            </a:r>
          </a:p>
        </p:txBody>
      </p:sp>
    </p:spTree>
    <p:extLst>
      <p:ext uri="{BB962C8B-B14F-4D97-AF65-F5344CB8AC3E}">
        <p14:creationId xmlns:p14="http://schemas.microsoft.com/office/powerpoint/2010/main" val="32742494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normAutofit/>
          </a:bodyPr>
          <a:lstStyle/>
          <a:p>
            <a:pPr marL="514350" indent="-514350">
              <a:buAutoNum type="arabicPeriod"/>
            </a:pPr>
            <a:r>
              <a:rPr lang="en-US" dirty="0">
                <a:solidFill>
                  <a:srgbClr val="C00000"/>
                </a:solidFill>
              </a:rPr>
              <a:t>A 72-year-old man was diagnosed with conduction aphasia due to a lesion affecting his left arcuate fasciculus. Which of the following is likely to be observed in this patient?</a:t>
            </a:r>
          </a:p>
          <a:p>
            <a:pPr marL="0" indent="0">
              <a:buNone/>
            </a:pPr>
            <a:endParaRPr lang="en-US" dirty="0">
              <a:solidFill>
                <a:srgbClr val="C00000"/>
              </a:solidFill>
            </a:endParaRPr>
          </a:p>
          <a:p>
            <a:pPr marL="514350" indent="-514350">
              <a:buAutoNum type="alphaUcPeriod"/>
            </a:pPr>
            <a:r>
              <a:rPr lang="en-US" dirty="0"/>
              <a:t>Very poor comprehension of spoken language</a:t>
            </a:r>
          </a:p>
          <a:p>
            <a:pPr marL="514350" indent="-514350">
              <a:buAutoNum type="alphaUcPeriod"/>
            </a:pPr>
            <a:r>
              <a:rPr lang="en-US" dirty="0"/>
              <a:t>Very poor comprehension of written language</a:t>
            </a:r>
          </a:p>
          <a:p>
            <a:pPr marL="514350" indent="-514350">
              <a:buAutoNum type="alphaUcPeriod"/>
            </a:pPr>
            <a:r>
              <a:rPr lang="en-US" dirty="0"/>
              <a:t>Absence of spontaneous speech</a:t>
            </a:r>
          </a:p>
          <a:p>
            <a:pPr marL="514350" indent="-514350">
              <a:buAutoNum type="alphaUcPeriod"/>
            </a:pPr>
            <a:r>
              <a:rPr lang="en-US" dirty="0"/>
              <a:t>Spontaneous but incomprehensible speech</a:t>
            </a:r>
          </a:p>
          <a:p>
            <a:pPr marL="514350" indent="-514350">
              <a:buAutoNum type="alphaUcPeriod"/>
            </a:pPr>
            <a:r>
              <a:rPr lang="en-US" dirty="0"/>
              <a:t>Speech interrupted by long pauses to search for words</a:t>
            </a:r>
          </a:p>
          <a:p>
            <a:pPr marL="0" indent="0">
              <a:buNone/>
            </a:pPr>
            <a:endParaRPr lang="en-US" dirty="0">
              <a:solidFill>
                <a:srgbClr val="C00000"/>
              </a:solidFill>
            </a:endParaRPr>
          </a:p>
          <a:p>
            <a:pPr marL="0" indent="0">
              <a:buNone/>
            </a:pPr>
            <a:endParaRPr lang="en-US" dirty="0"/>
          </a:p>
        </p:txBody>
      </p:sp>
      <p:sp>
        <p:nvSpPr>
          <p:cNvPr id="2" name="Slide Number Placeholder 1"/>
          <p:cNvSpPr>
            <a:spLocks noGrp="1"/>
          </p:cNvSpPr>
          <p:nvPr>
            <p:ph type="sldNum" sz="quarter" idx="12"/>
          </p:nvPr>
        </p:nvSpPr>
        <p:spPr/>
        <p:txBody>
          <a:bodyPr/>
          <a:lstStyle/>
          <a:p>
            <a:fld id="{4B689A82-AD2C-4896-92D2-567C77EBD8E3}" type="slidenum">
              <a:rPr lang="en-US" smtClean="0"/>
              <a:t>2</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996132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lstStyle/>
          <a:p>
            <a:pPr marL="0" indent="0">
              <a:buNone/>
            </a:pPr>
            <a:r>
              <a:rPr lang="en-US" dirty="0">
                <a:solidFill>
                  <a:srgbClr val="C00000"/>
                </a:solidFill>
              </a:rPr>
              <a:t>2. To become aggressive, which of the following cortical or subcortical areas should be removed?</a:t>
            </a:r>
          </a:p>
          <a:p>
            <a:pPr marL="0" indent="0">
              <a:buNone/>
            </a:pPr>
            <a:endParaRPr lang="en-US" dirty="0"/>
          </a:p>
          <a:p>
            <a:pPr marL="514350" indent="-514350">
              <a:buAutoNum type="alphaUcPeriod"/>
            </a:pPr>
            <a:r>
              <a:rPr lang="en-US" dirty="0"/>
              <a:t>Removing cerebral cortex and leaving hypothalamus intact</a:t>
            </a:r>
          </a:p>
          <a:p>
            <a:pPr marL="514350" indent="-514350">
              <a:buAutoNum type="alphaUcPeriod"/>
            </a:pPr>
            <a:r>
              <a:rPr lang="en-US" dirty="0"/>
              <a:t>Bilaterally removing amygdala</a:t>
            </a:r>
          </a:p>
          <a:p>
            <a:pPr marL="514350" indent="-514350">
              <a:buAutoNum type="alphaUcPeriod"/>
            </a:pPr>
            <a:r>
              <a:rPr lang="en-US" dirty="0"/>
              <a:t>Removing hypothalamus while leaving cerebral cortex intact</a:t>
            </a:r>
          </a:p>
          <a:p>
            <a:pPr marL="514350" indent="-514350">
              <a:buAutoNum type="alphaUcPeriod"/>
            </a:pPr>
            <a:endParaRPr lang="en-US" dirty="0"/>
          </a:p>
        </p:txBody>
      </p:sp>
      <p:sp>
        <p:nvSpPr>
          <p:cNvPr id="2" name="Slide Number Placeholder 1"/>
          <p:cNvSpPr>
            <a:spLocks noGrp="1"/>
          </p:cNvSpPr>
          <p:nvPr>
            <p:ph type="sldNum" sz="quarter" idx="12"/>
          </p:nvPr>
        </p:nvSpPr>
        <p:spPr/>
        <p:txBody>
          <a:bodyPr/>
          <a:lstStyle/>
          <a:p>
            <a:fld id="{4B689A82-AD2C-4896-92D2-567C77EBD8E3}" type="slidenum">
              <a:rPr lang="en-US" smtClean="0"/>
              <a:t>3</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2858600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normAutofit lnSpcReduction="10000"/>
          </a:bodyPr>
          <a:lstStyle/>
          <a:p>
            <a:pPr marL="0" indent="0">
              <a:buNone/>
            </a:pPr>
            <a:r>
              <a:rPr lang="en-US" dirty="0">
                <a:solidFill>
                  <a:srgbClr val="C00000"/>
                </a:solidFill>
              </a:rPr>
              <a:t>3. An experienced technical diver suffers an episode of nitrogen narcosis while diving at 40 meters with mixed gases. On noticing the diver, the dive guide grabbed him and started a moderate controlled ascent resulting in the diver regaining consciousness. Upon surfacing and some hours later, he had no recollection of events of the dive and those that followed the dive.</a:t>
            </a:r>
          </a:p>
          <a:p>
            <a:pPr marL="0" indent="0">
              <a:buNone/>
            </a:pPr>
            <a:r>
              <a:rPr lang="en-US" dirty="0">
                <a:solidFill>
                  <a:srgbClr val="C00000"/>
                </a:solidFill>
              </a:rPr>
              <a:t>Which structure of the brain was affected?</a:t>
            </a:r>
          </a:p>
          <a:p>
            <a:pPr marL="0" indent="0">
              <a:buNone/>
            </a:pPr>
            <a:endParaRPr lang="en-US" dirty="0"/>
          </a:p>
          <a:p>
            <a:pPr marL="514350" indent="-514350">
              <a:buAutoNum type="alphaUcPeriod"/>
            </a:pPr>
            <a:r>
              <a:rPr lang="en-US" dirty="0"/>
              <a:t>Dorsolateral prefrontal cortex</a:t>
            </a:r>
          </a:p>
          <a:p>
            <a:pPr marL="514350" indent="-514350">
              <a:buAutoNum type="alphaUcPeriod"/>
            </a:pPr>
            <a:r>
              <a:rPr lang="en-US" dirty="0"/>
              <a:t>Orbitofrontal cortex</a:t>
            </a:r>
          </a:p>
          <a:p>
            <a:pPr marL="514350" indent="-514350">
              <a:buAutoNum type="alphaUcPeriod"/>
            </a:pPr>
            <a:r>
              <a:rPr lang="en-US" dirty="0"/>
              <a:t>Hippocampus</a:t>
            </a:r>
          </a:p>
          <a:p>
            <a:pPr marL="514350" indent="-514350">
              <a:buAutoNum type="alphaUcPeriod"/>
            </a:pPr>
            <a:r>
              <a:rPr lang="en-US" dirty="0"/>
              <a:t>Amygdala</a:t>
            </a:r>
          </a:p>
          <a:p>
            <a:pPr marL="514350" indent="-514350">
              <a:buAutoNum type="alphaUcPeriod"/>
            </a:pPr>
            <a:r>
              <a:rPr lang="en-US" dirty="0"/>
              <a:t>Basal ganglia</a:t>
            </a:r>
          </a:p>
        </p:txBody>
      </p:sp>
      <p:sp>
        <p:nvSpPr>
          <p:cNvPr id="2" name="Slide Number Placeholder 1"/>
          <p:cNvSpPr>
            <a:spLocks noGrp="1"/>
          </p:cNvSpPr>
          <p:nvPr>
            <p:ph type="sldNum" sz="quarter" idx="12"/>
          </p:nvPr>
        </p:nvSpPr>
        <p:spPr/>
        <p:txBody>
          <a:bodyPr/>
          <a:lstStyle/>
          <a:p>
            <a:fld id="{4B689A82-AD2C-4896-92D2-567C77EBD8E3}" type="slidenum">
              <a:rPr lang="en-US" smtClean="0"/>
              <a:t>4</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2757937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normAutofit/>
          </a:bodyPr>
          <a:lstStyle/>
          <a:p>
            <a:pPr marL="0" indent="0">
              <a:buNone/>
            </a:pPr>
            <a:r>
              <a:rPr lang="en-US" dirty="0">
                <a:solidFill>
                  <a:srgbClr val="C00000"/>
                </a:solidFill>
              </a:rPr>
              <a:t>5. A patient has suffered a stroke caused by occlusion of the right anterior cerebral artery. </a:t>
            </a:r>
          </a:p>
          <a:p>
            <a:pPr marL="0" indent="0">
              <a:buNone/>
            </a:pPr>
            <a:r>
              <a:rPr lang="en-US" dirty="0">
                <a:solidFill>
                  <a:srgbClr val="C00000"/>
                </a:solidFill>
              </a:rPr>
              <a:t>This patient is most likely to present with:</a:t>
            </a:r>
          </a:p>
          <a:p>
            <a:pPr marL="0" indent="0">
              <a:buNone/>
            </a:pPr>
            <a:endParaRPr lang="en-US" dirty="0"/>
          </a:p>
          <a:p>
            <a:pPr marL="514350" indent="-514350">
              <a:buAutoNum type="alphaUcPeriod"/>
            </a:pPr>
            <a:r>
              <a:rPr lang="en-US" dirty="0"/>
              <a:t>A loss of pain and temperature sensations in the left leg</a:t>
            </a:r>
          </a:p>
          <a:p>
            <a:pPr marL="514350" indent="-514350">
              <a:buAutoNum type="alphaUcPeriod"/>
            </a:pPr>
            <a:r>
              <a:rPr lang="en-US" dirty="0"/>
              <a:t>Weakness of the right leg</a:t>
            </a:r>
          </a:p>
          <a:p>
            <a:pPr marL="514350" indent="-514350">
              <a:buAutoNum type="alphaUcPeriod"/>
            </a:pPr>
            <a:r>
              <a:rPr lang="en-US" dirty="0"/>
              <a:t>Drooping of the corner of the mouth on the left</a:t>
            </a:r>
          </a:p>
          <a:p>
            <a:pPr marL="514350" indent="-514350">
              <a:buAutoNum type="alphaUcPeriod"/>
            </a:pPr>
            <a:r>
              <a:rPr lang="en-US" dirty="0"/>
              <a:t>A non-fluent aphasia</a:t>
            </a:r>
          </a:p>
          <a:p>
            <a:pPr marL="514350" indent="-514350">
              <a:buAutoNum type="alphaUcPeriod"/>
            </a:pPr>
            <a:r>
              <a:rPr lang="en-US" dirty="0"/>
              <a:t>A loss of discriminative touch from the right side of the face</a:t>
            </a:r>
          </a:p>
          <a:p>
            <a:pPr marL="0" indent="0">
              <a:buNone/>
            </a:pPr>
            <a:endParaRPr lang="en-US" dirty="0">
              <a:solidFill>
                <a:srgbClr val="C00000"/>
              </a:solidFill>
            </a:endParaRPr>
          </a:p>
        </p:txBody>
      </p:sp>
      <p:sp>
        <p:nvSpPr>
          <p:cNvPr id="2" name="Slide Number Placeholder 1"/>
          <p:cNvSpPr>
            <a:spLocks noGrp="1"/>
          </p:cNvSpPr>
          <p:nvPr>
            <p:ph type="sldNum" sz="quarter" idx="12"/>
          </p:nvPr>
        </p:nvSpPr>
        <p:spPr/>
        <p:txBody>
          <a:bodyPr/>
          <a:lstStyle/>
          <a:p>
            <a:fld id="{4B689A82-AD2C-4896-92D2-567C77EBD8E3}" type="slidenum">
              <a:rPr lang="en-US" smtClean="0"/>
              <a:t>5</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2231152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normAutofit/>
          </a:bodyPr>
          <a:lstStyle/>
          <a:p>
            <a:pPr marL="0" indent="0">
              <a:buNone/>
            </a:pPr>
            <a:r>
              <a:rPr lang="en-US" dirty="0">
                <a:solidFill>
                  <a:srgbClr val="C00000"/>
                </a:solidFill>
              </a:rPr>
              <a:t>6. Several members of a large family are affected by the onset of decreasing mental function and motor coordination when they reach middle age. Their extremity movements are marked by </a:t>
            </a:r>
            <a:r>
              <a:rPr lang="en-US" dirty="0" err="1">
                <a:solidFill>
                  <a:srgbClr val="C00000"/>
                </a:solidFill>
              </a:rPr>
              <a:t>choreoathetosis</a:t>
            </a:r>
            <a:r>
              <a:rPr lang="en-US" dirty="0">
                <a:solidFill>
                  <a:srgbClr val="C00000"/>
                </a:solidFill>
              </a:rPr>
              <a:t>. Genetic testing reveals increased trinucleotide CAG repeats. Which of the following intracranial structures is most likely to appear grossly abnormal with radiologic imaging of these affected persons? </a:t>
            </a:r>
          </a:p>
          <a:p>
            <a:pPr marL="0" indent="0">
              <a:buNone/>
            </a:pPr>
            <a:endParaRPr lang="en-US" dirty="0"/>
          </a:p>
          <a:p>
            <a:pPr marL="0" indent="0">
              <a:buNone/>
            </a:pPr>
            <a:r>
              <a:rPr lang="en-US" dirty="0"/>
              <a:t>A. Caudate nucleus </a:t>
            </a:r>
          </a:p>
          <a:p>
            <a:pPr marL="0" indent="0">
              <a:buNone/>
            </a:pPr>
            <a:r>
              <a:rPr lang="en-US" dirty="0"/>
              <a:t>B. Midbrain </a:t>
            </a:r>
          </a:p>
          <a:p>
            <a:pPr marL="0" indent="0">
              <a:buNone/>
            </a:pPr>
            <a:r>
              <a:rPr lang="en-US" dirty="0"/>
              <a:t>C. Temporal lobe </a:t>
            </a:r>
          </a:p>
          <a:p>
            <a:pPr marL="0" indent="0">
              <a:buNone/>
            </a:pPr>
            <a:r>
              <a:rPr lang="en-US" dirty="0"/>
              <a:t>D. Locus </a:t>
            </a:r>
            <a:r>
              <a:rPr lang="en-US" dirty="0" err="1"/>
              <a:t>ceruleus</a:t>
            </a:r>
            <a:r>
              <a:rPr lang="en-US" dirty="0"/>
              <a:t> </a:t>
            </a:r>
          </a:p>
          <a:p>
            <a:pPr marL="0" indent="0">
              <a:buNone/>
            </a:pPr>
            <a:r>
              <a:rPr lang="en-US" dirty="0"/>
              <a:t>E. Spinal cord </a:t>
            </a:r>
          </a:p>
        </p:txBody>
      </p:sp>
      <p:sp>
        <p:nvSpPr>
          <p:cNvPr id="2" name="Slide Number Placeholder 1"/>
          <p:cNvSpPr>
            <a:spLocks noGrp="1"/>
          </p:cNvSpPr>
          <p:nvPr>
            <p:ph type="sldNum" sz="quarter" idx="12"/>
          </p:nvPr>
        </p:nvSpPr>
        <p:spPr/>
        <p:txBody>
          <a:bodyPr/>
          <a:lstStyle/>
          <a:p>
            <a:fld id="{4B689A82-AD2C-4896-92D2-567C77EBD8E3}" type="slidenum">
              <a:rPr lang="en-US" smtClean="0"/>
              <a:t>6</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3153633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normAutofit lnSpcReduction="10000"/>
          </a:bodyPr>
          <a:lstStyle/>
          <a:p>
            <a:pPr marL="0" indent="0">
              <a:buNone/>
            </a:pPr>
            <a:r>
              <a:rPr lang="en-US" dirty="0">
                <a:solidFill>
                  <a:srgbClr val="C00000"/>
                </a:solidFill>
              </a:rPr>
              <a:t>7. A 70-year-old alcoholic man has exhibited problems remembering things for the past 7 months, and he is noted by his immediate family members to confabulate. He dies as a consequence of a hepatic failure. At autopsy, his brain demonstrates bilaterally small mammillary bodies revealing brown discoloration. Microscopically, there is gliosis and vascular proliferation and hemosiderin deposition in the mammillary bodies and periaqueductal grey matter. Which of the following is the most likely diagnosis? </a:t>
            </a:r>
          </a:p>
          <a:p>
            <a:pPr marL="0" indent="0">
              <a:buNone/>
            </a:pPr>
            <a:endParaRPr lang="en-US" dirty="0"/>
          </a:p>
          <a:p>
            <a:pPr marL="0" indent="0">
              <a:buNone/>
            </a:pPr>
            <a:r>
              <a:rPr lang="en-US" dirty="0"/>
              <a:t>A. Pick disease </a:t>
            </a:r>
          </a:p>
          <a:p>
            <a:pPr marL="0" indent="0">
              <a:buNone/>
            </a:pPr>
            <a:r>
              <a:rPr lang="en-US" dirty="0"/>
              <a:t>B. Metachromatic </a:t>
            </a:r>
            <a:r>
              <a:rPr lang="en-US" dirty="0" err="1"/>
              <a:t>leukodystrophy</a:t>
            </a:r>
            <a:r>
              <a:rPr lang="en-US" dirty="0"/>
              <a:t> </a:t>
            </a:r>
          </a:p>
          <a:p>
            <a:pPr marL="0" indent="0">
              <a:buNone/>
            </a:pPr>
            <a:r>
              <a:rPr lang="en-US" dirty="0"/>
              <a:t>C. Wernicke-</a:t>
            </a:r>
            <a:r>
              <a:rPr lang="en-US" dirty="0" err="1"/>
              <a:t>korsakoff</a:t>
            </a:r>
            <a:r>
              <a:rPr lang="en-US" dirty="0"/>
              <a:t> syndrome </a:t>
            </a:r>
          </a:p>
          <a:p>
            <a:pPr marL="0" indent="0">
              <a:buNone/>
            </a:pPr>
            <a:r>
              <a:rPr lang="en-US" dirty="0"/>
              <a:t>D. Central pontine </a:t>
            </a:r>
            <a:r>
              <a:rPr lang="en-US" dirty="0" err="1"/>
              <a:t>myelinolysis</a:t>
            </a:r>
            <a:r>
              <a:rPr lang="en-US" dirty="0"/>
              <a:t> </a:t>
            </a:r>
          </a:p>
          <a:p>
            <a:pPr marL="0" indent="0">
              <a:buNone/>
            </a:pPr>
            <a:r>
              <a:rPr lang="en-US" dirty="0"/>
              <a:t>E. Progressive multifocal leukoencephalopathy </a:t>
            </a:r>
          </a:p>
          <a:p>
            <a:pPr marL="0" indent="0">
              <a:buNone/>
            </a:pPr>
            <a:endParaRPr lang="en-US" dirty="0"/>
          </a:p>
        </p:txBody>
      </p:sp>
      <p:sp>
        <p:nvSpPr>
          <p:cNvPr id="2" name="Slide Number Placeholder 1"/>
          <p:cNvSpPr>
            <a:spLocks noGrp="1"/>
          </p:cNvSpPr>
          <p:nvPr>
            <p:ph type="sldNum" sz="quarter" idx="12"/>
          </p:nvPr>
        </p:nvSpPr>
        <p:spPr/>
        <p:txBody>
          <a:bodyPr/>
          <a:lstStyle/>
          <a:p>
            <a:fld id="{4B689A82-AD2C-4896-92D2-567C77EBD8E3}" type="slidenum">
              <a:rPr lang="en-US" smtClean="0"/>
              <a:t>7</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2652185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normAutofit fontScale="92500" lnSpcReduction="10000"/>
          </a:bodyPr>
          <a:lstStyle/>
          <a:p>
            <a:pPr marL="0" indent="0">
              <a:buNone/>
            </a:pPr>
            <a:r>
              <a:rPr lang="en-US" dirty="0">
                <a:solidFill>
                  <a:srgbClr val="C00000"/>
                </a:solidFill>
              </a:rPr>
              <a:t>8. A 45 year old woman noticed tinnitus in her right ear which progressed over 5 weeks to unilateral hearing loss. On physical examination, she has a marked decrease in hearing on the right. The other cranial nerves I-IV and IK-XII are intact. Brain MR imaging reveals a solitary, circumscribed 3 cm mass located in the region of the right cerebellopontine angle, which was resected and sent for histopathological analysis. Histologic sections from the mass would most likely reveal; </a:t>
            </a:r>
          </a:p>
          <a:p>
            <a:pPr marL="0" indent="0">
              <a:buNone/>
            </a:pPr>
            <a:endParaRPr lang="en-US" dirty="0"/>
          </a:p>
          <a:p>
            <a:pPr marL="0" indent="0">
              <a:buNone/>
            </a:pPr>
            <a:r>
              <a:rPr lang="en-US" dirty="0"/>
              <a:t>A. Antoni A areas and </a:t>
            </a:r>
            <a:r>
              <a:rPr lang="en-US" dirty="0" err="1"/>
              <a:t>antoni</a:t>
            </a:r>
            <a:r>
              <a:rPr lang="en-US" dirty="0"/>
              <a:t> B areas with </a:t>
            </a:r>
            <a:r>
              <a:rPr lang="en-US" dirty="0" err="1"/>
              <a:t>verocay</a:t>
            </a:r>
            <a:r>
              <a:rPr lang="en-US" dirty="0"/>
              <a:t> bodies </a:t>
            </a:r>
          </a:p>
          <a:p>
            <a:pPr marL="0" indent="0">
              <a:buNone/>
            </a:pPr>
            <a:r>
              <a:rPr lang="en-US" dirty="0"/>
              <a:t>B. A whorled pattern </a:t>
            </a:r>
            <a:r>
              <a:rPr lang="en-US" dirty="0" err="1"/>
              <a:t>meningoepithelial</a:t>
            </a:r>
            <a:r>
              <a:rPr lang="en-US" dirty="0"/>
              <a:t> cells with scattered </a:t>
            </a:r>
            <a:r>
              <a:rPr lang="en-US" dirty="0" err="1"/>
              <a:t>psammoma</a:t>
            </a:r>
            <a:r>
              <a:rPr lang="en-US" dirty="0"/>
              <a:t> bodies </a:t>
            </a:r>
          </a:p>
          <a:p>
            <a:pPr marL="0" indent="0">
              <a:buNone/>
            </a:pPr>
            <a:r>
              <a:rPr lang="en-US" dirty="0"/>
              <a:t>C. Endothelial </a:t>
            </a:r>
            <a:r>
              <a:rPr lang="en-US" dirty="0" err="1"/>
              <a:t>profileration</a:t>
            </a:r>
            <a:r>
              <a:rPr lang="en-US" dirty="0"/>
              <a:t> &amp; nuclear </a:t>
            </a:r>
            <a:r>
              <a:rPr lang="en-US" dirty="0" err="1"/>
              <a:t>pseudopalisading</a:t>
            </a:r>
            <a:r>
              <a:rPr lang="en-US" dirty="0"/>
              <a:t> of atypical astrocytic cells </a:t>
            </a:r>
          </a:p>
          <a:p>
            <a:pPr marL="0" indent="0">
              <a:buNone/>
            </a:pPr>
            <a:r>
              <a:rPr lang="en-US" dirty="0"/>
              <a:t>D. “Fried-egg” appearance of tumor cells with calcification </a:t>
            </a:r>
          </a:p>
          <a:p>
            <a:pPr marL="0" indent="0">
              <a:buNone/>
            </a:pPr>
            <a:r>
              <a:rPr lang="en-US" dirty="0"/>
              <a:t>E. Small blue cells with homer wright rosettes.</a:t>
            </a:r>
          </a:p>
        </p:txBody>
      </p:sp>
      <p:sp>
        <p:nvSpPr>
          <p:cNvPr id="2" name="Slide Number Placeholder 1"/>
          <p:cNvSpPr>
            <a:spLocks noGrp="1"/>
          </p:cNvSpPr>
          <p:nvPr>
            <p:ph type="sldNum" sz="quarter" idx="12"/>
          </p:nvPr>
        </p:nvSpPr>
        <p:spPr/>
        <p:txBody>
          <a:bodyPr/>
          <a:lstStyle/>
          <a:p>
            <a:fld id="{4B689A82-AD2C-4896-92D2-567C77EBD8E3}" type="slidenum">
              <a:rPr lang="en-US" smtClean="0"/>
              <a:t>8</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1551730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normAutofit fontScale="92500" lnSpcReduction="10000"/>
          </a:bodyPr>
          <a:lstStyle/>
          <a:p>
            <a:pPr marL="0" indent="0">
              <a:buNone/>
            </a:pPr>
            <a:r>
              <a:rPr lang="en-US" dirty="0">
                <a:solidFill>
                  <a:srgbClr val="C00000"/>
                </a:solidFill>
              </a:rPr>
              <a:t>9. A 32 year old woman has noted problems with writing for the past months. She has difficulty controlling her hand movements, and the writing is nearly illegible. On examination, she had decreased strength in her right upper extremity and decreased light touch sensation over the left lower extremity. She has no decrease in </a:t>
            </a:r>
            <a:r>
              <a:rPr lang="en-US" dirty="0" err="1">
                <a:solidFill>
                  <a:srgbClr val="C00000"/>
                </a:solidFill>
              </a:rPr>
              <a:t>mentaion</a:t>
            </a:r>
            <a:r>
              <a:rPr lang="en-US" dirty="0">
                <a:solidFill>
                  <a:srgbClr val="C00000"/>
                </a:solidFill>
              </a:rPr>
              <a:t>, and there is no reported seizure activity. She also mentioned that a year ago, she suffered from mild vision loss in her right eye, but says now that she had made full recovery since then. A LP is performed, and the CSF contained elevated levels of IgG, some mononuclear cells, and oligoclonal bands on gel electrophoresis. Which of the following pathologic findings in the CNS is she most likely to have?</a:t>
            </a:r>
          </a:p>
          <a:p>
            <a:pPr marL="0" indent="0">
              <a:buNone/>
            </a:pPr>
            <a:endParaRPr lang="en-US" dirty="0"/>
          </a:p>
          <a:p>
            <a:pPr marL="514350" indent="-514350">
              <a:buAutoNum type="alphaUcPeriod"/>
            </a:pPr>
            <a:r>
              <a:rPr lang="en-US" dirty="0"/>
              <a:t>Loss of pigmented neurons in the substantia </a:t>
            </a:r>
            <a:r>
              <a:rPr lang="en-US" dirty="0" err="1"/>
              <a:t>niagra</a:t>
            </a:r>
            <a:endParaRPr lang="en-US" dirty="0"/>
          </a:p>
          <a:p>
            <a:pPr marL="514350" indent="-514350">
              <a:buAutoNum type="alphaUcPeriod"/>
            </a:pPr>
            <a:r>
              <a:rPr lang="en-US" dirty="0"/>
              <a:t>Perivascular lymphocytes with demyelinated axons in white matter</a:t>
            </a:r>
          </a:p>
          <a:p>
            <a:pPr marL="514350" indent="-514350">
              <a:buAutoNum type="alphaUcPeriod"/>
            </a:pPr>
            <a:r>
              <a:rPr lang="en-US" dirty="0"/>
              <a:t>Increased neurofibrillary tangles and neuritis plaques in the neocortex</a:t>
            </a:r>
          </a:p>
          <a:p>
            <a:pPr marL="514350" indent="-514350">
              <a:buAutoNum type="alphaUcPeriod"/>
            </a:pPr>
            <a:r>
              <a:rPr lang="en-US" dirty="0"/>
              <a:t>Gliosis with atrophy of caudate and putamen</a:t>
            </a:r>
          </a:p>
          <a:p>
            <a:pPr marL="514350" indent="-514350">
              <a:buAutoNum type="alphaUcPeriod"/>
            </a:pPr>
            <a:r>
              <a:rPr lang="en-US" dirty="0"/>
              <a:t>Periventricular lymphoid aggregates with cell marking with CD19</a:t>
            </a:r>
          </a:p>
        </p:txBody>
      </p:sp>
      <p:sp>
        <p:nvSpPr>
          <p:cNvPr id="2" name="Slide Number Placeholder 1"/>
          <p:cNvSpPr>
            <a:spLocks noGrp="1"/>
          </p:cNvSpPr>
          <p:nvPr>
            <p:ph type="sldNum" sz="quarter" idx="12"/>
          </p:nvPr>
        </p:nvSpPr>
        <p:spPr/>
        <p:txBody>
          <a:bodyPr/>
          <a:lstStyle/>
          <a:p>
            <a:fld id="{4B689A82-AD2C-4896-92D2-567C77EBD8E3}" type="slidenum">
              <a:rPr lang="en-US" smtClean="0"/>
              <a:t>9</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799001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noAutofit/>
          </a:bodyPr>
          <a:lstStyle/>
          <a:p>
            <a:pPr marL="0" indent="0">
              <a:buNone/>
            </a:pPr>
            <a:r>
              <a:rPr lang="en-US" sz="2600" dirty="0">
                <a:solidFill>
                  <a:srgbClr val="C00000"/>
                </a:solidFill>
              </a:rPr>
              <a:t>10. A 20-year-old epileptic person is brought to ER with status epilepticus. An intravenous line was maintained and possible etiology of her condition was determined on history, physical examination as well as emergency blood and urine tests. Then, she was given intravenous lorazepam, repeated after five minutes. Her condition did not improve; therefore high dose phenytoin was given intravenously with cardiac monitoring. She did not respond well, hence intravenous phenobarbital was considered as the next step. Which one of the following would be the next logical step if phenobarbital is not effective?</a:t>
            </a:r>
          </a:p>
          <a:p>
            <a:pPr marL="0" indent="0">
              <a:buNone/>
            </a:pPr>
            <a:r>
              <a:rPr lang="en-US" sz="2600" dirty="0"/>
              <a:t> </a:t>
            </a:r>
          </a:p>
          <a:p>
            <a:pPr marL="0" indent="0">
              <a:buNone/>
            </a:pPr>
            <a:r>
              <a:rPr lang="en-US" sz="2600" dirty="0"/>
              <a:t>A. </a:t>
            </a:r>
            <a:r>
              <a:rPr lang="en-US" sz="2600" dirty="0" err="1"/>
              <a:t>Carbamazepam</a:t>
            </a:r>
            <a:r>
              <a:rPr lang="en-US" sz="2600" dirty="0"/>
              <a:t> </a:t>
            </a:r>
          </a:p>
          <a:p>
            <a:pPr marL="0" indent="0">
              <a:buNone/>
            </a:pPr>
            <a:r>
              <a:rPr lang="en-US" sz="2600" dirty="0"/>
              <a:t>B. General anesthesia </a:t>
            </a:r>
          </a:p>
          <a:p>
            <a:pPr marL="0" indent="0">
              <a:buNone/>
            </a:pPr>
            <a:r>
              <a:rPr lang="en-US" sz="2600" dirty="0"/>
              <a:t>C. Lamotrigine </a:t>
            </a:r>
          </a:p>
          <a:p>
            <a:pPr marL="0" indent="0">
              <a:buNone/>
            </a:pPr>
            <a:r>
              <a:rPr lang="en-US" sz="2600" dirty="0"/>
              <a:t>D. Sodium valproate </a:t>
            </a:r>
          </a:p>
          <a:p>
            <a:pPr marL="0" indent="0">
              <a:buNone/>
            </a:pPr>
            <a:r>
              <a:rPr lang="en-US" sz="2600" dirty="0"/>
              <a:t>E. Topiramate </a:t>
            </a:r>
          </a:p>
          <a:p>
            <a:pPr marL="0" indent="0">
              <a:buNone/>
            </a:pPr>
            <a:endParaRPr lang="en-US" sz="2600" dirty="0">
              <a:solidFill>
                <a:srgbClr val="C00000"/>
              </a:solidFill>
            </a:endParaRPr>
          </a:p>
        </p:txBody>
      </p:sp>
      <p:sp>
        <p:nvSpPr>
          <p:cNvPr id="2" name="Slide Number Placeholder 1"/>
          <p:cNvSpPr>
            <a:spLocks noGrp="1"/>
          </p:cNvSpPr>
          <p:nvPr>
            <p:ph type="sldNum" sz="quarter" idx="12"/>
          </p:nvPr>
        </p:nvSpPr>
        <p:spPr/>
        <p:txBody>
          <a:bodyPr/>
          <a:lstStyle/>
          <a:p>
            <a:fld id="{4B689A82-AD2C-4896-92D2-567C77EBD8E3}" type="slidenum">
              <a:rPr lang="en-US" smtClean="0"/>
              <a:t>10</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3734856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lstStyle/>
          <a:p>
            <a:pPr marL="0" indent="0">
              <a:buNone/>
            </a:pPr>
            <a:r>
              <a:rPr lang="en-US" dirty="0">
                <a:solidFill>
                  <a:srgbClr val="C00000"/>
                </a:solidFill>
              </a:rPr>
              <a:t>11. Which one of the following mechanism is not applicable to suppression of generalized tonic- </a:t>
            </a:r>
            <a:r>
              <a:rPr lang="en-US" dirty="0" err="1">
                <a:solidFill>
                  <a:srgbClr val="C00000"/>
                </a:solidFill>
              </a:rPr>
              <a:t>clonic</a:t>
            </a:r>
            <a:r>
              <a:rPr lang="en-US" dirty="0">
                <a:solidFill>
                  <a:srgbClr val="C00000"/>
                </a:solidFill>
              </a:rPr>
              <a:t> seizure, using the standard drug doses? </a:t>
            </a:r>
          </a:p>
          <a:p>
            <a:pPr marL="0" indent="0">
              <a:buNone/>
            </a:pPr>
            <a:endParaRPr lang="en-US" dirty="0"/>
          </a:p>
          <a:p>
            <a:pPr marL="0" indent="0">
              <a:buNone/>
            </a:pPr>
            <a:r>
              <a:rPr lang="en-US" dirty="0"/>
              <a:t>A. Increased duration of opening of neuronal chloride channels. </a:t>
            </a:r>
          </a:p>
          <a:p>
            <a:pPr marL="0" indent="0">
              <a:buNone/>
            </a:pPr>
            <a:r>
              <a:rPr lang="en-US" dirty="0"/>
              <a:t>B. Increased frequency of opening of neuronal chloride channels. </a:t>
            </a:r>
          </a:p>
          <a:p>
            <a:pPr marL="0" indent="0">
              <a:buNone/>
            </a:pPr>
            <a:r>
              <a:rPr lang="en-US" dirty="0"/>
              <a:t>C. Inhibition of calcium channels in basal nuclei </a:t>
            </a:r>
          </a:p>
          <a:p>
            <a:pPr marL="0" indent="0">
              <a:buNone/>
            </a:pPr>
            <a:r>
              <a:rPr lang="en-US" dirty="0"/>
              <a:t>D. Inhibition of neuronal glutamatergic transmission </a:t>
            </a:r>
          </a:p>
          <a:p>
            <a:pPr marL="0" indent="0">
              <a:buNone/>
            </a:pPr>
            <a:r>
              <a:rPr lang="en-US" dirty="0"/>
              <a:t>E. Inhibition of sodium channels </a:t>
            </a:r>
          </a:p>
          <a:p>
            <a:pPr marL="0" indent="0">
              <a:buNone/>
            </a:pPr>
            <a:endParaRPr lang="en-US" dirty="0">
              <a:solidFill>
                <a:srgbClr val="C00000"/>
              </a:solidFill>
            </a:endParaRPr>
          </a:p>
        </p:txBody>
      </p:sp>
      <p:sp>
        <p:nvSpPr>
          <p:cNvPr id="2" name="Slide Number Placeholder 1"/>
          <p:cNvSpPr>
            <a:spLocks noGrp="1"/>
          </p:cNvSpPr>
          <p:nvPr>
            <p:ph type="sldNum" sz="quarter" idx="12"/>
          </p:nvPr>
        </p:nvSpPr>
        <p:spPr/>
        <p:txBody>
          <a:bodyPr/>
          <a:lstStyle/>
          <a:p>
            <a:fld id="{4B689A82-AD2C-4896-92D2-567C77EBD8E3}" type="slidenum">
              <a:rPr lang="en-US" smtClean="0"/>
              <a:t>11</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3103402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lstStyle/>
          <a:p>
            <a:pPr marL="0" indent="0">
              <a:buNone/>
            </a:pPr>
            <a:r>
              <a:rPr lang="en-US" dirty="0">
                <a:solidFill>
                  <a:srgbClr val="C00000"/>
                </a:solidFill>
              </a:rPr>
              <a:t>12. Which of the following is the mechanism of action of diazepam? </a:t>
            </a:r>
          </a:p>
          <a:p>
            <a:pPr marL="0" indent="0">
              <a:buNone/>
            </a:pPr>
            <a:endParaRPr lang="en-US" dirty="0"/>
          </a:p>
          <a:p>
            <a:pPr marL="514350" indent="-514350">
              <a:buAutoNum type="alphaUcPeriod"/>
            </a:pPr>
            <a:r>
              <a:rPr lang="en-US" dirty="0"/>
              <a:t>Facilitator between GABA and GABAA receptor</a:t>
            </a:r>
          </a:p>
          <a:p>
            <a:pPr marL="514350" indent="-514350">
              <a:buAutoNum type="alphaUcPeriod"/>
            </a:pPr>
            <a:r>
              <a:rPr lang="en-US" dirty="0"/>
              <a:t>GABAA receptor agonist to depress the CNS</a:t>
            </a:r>
          </a:p>
          <a:p>
            <a:pPr marL="514350" indent="-514350">
              <a:buAutoNum type="alphaUcPeriod"/>
            </a:pPr>
            <a:r>
              <a:rPr lang="en-US" dirty="0"/>
              <a:t>GABAA receptor agonist to increase duration of Cl- channel opening</a:t>
            </a:r>
          </a:p>
          <a:p>
            <a:pPr marL="514350" indent="-514350">
              <a:buFont typeface="Arial" panose="020B0604020202020204" pitchFamily="34" charset="0"/>
              <a:buAutoNum type="alphaUcPeriod"/>
            </a:pPr>
            <a:r>
              <a:rPr lang="en-US" dirty="0"/>
              <a:t>GABAA receptor agonist to increase frequency  of Cl- channel opening</a:t>
            </a:r>
          </a:p>
          <a:p>
            <a:pPr marL="514350" indent="-514350">
              <a:buFont typeface="Arial" panose="020B0604020202020204" pitchFamily="34" charset="0"/>
              <a:buAutoNum type="alphaUcPeriod"/>
            </a:pPr>
            <a:r>
              <a:rPr lang="en-US" dirty="0"/>
              <a:t>GABAA receptor antagonist to prevent Cl- channel opening </a:t>
            </a:r>
          </a:p>
          <a:p>
            <a:pPr marL="514350" indent="-514350">
              <a:buAutoNum type="alphaUcPeriod"/>
            </a:pPr>
            <a:endParaRPr lang="en-US" dirty="0"/>
          </a:p>
        </p:txBody>
      </p:sp>
      <p:sp>
        <p:nvSpPr>
          <p:cNvPr id="2" name="Slide Number Placeholder 1"/>
          <p:cNvSpPr>
            <a:spLocks noGrp="1"/>
          </p:cNvSpPr>
          <p:nvPr>
            <p:ph type="sldNum" sz="quarter" idx="12"/>
          </p:nvPr>
        </p:nvSpPr>
        <p:spPr/>
        <p:txBody>
          <a:bodyPr/>
          <a:lstStyle/>
          <a:p>
            <a:fld id="{4B689A82-AD2C-4896-92D2-567C77EBD8E3}" type="slidenum">
              <a:rPr lang="en-US" smtClean="0"/>
              <a:t>12</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40189020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lstStyle/>
          <a:p>
            <a:pPr marL="0" indent="0">
              <a:buNone/>
            </a:pPr>
            <a:r>
              <a:rPr lang="en-US" dirty="0">
                <a:solidFill>
                  <a:srgbClr val="C00000"/>
                </a:solidFill>
              </a:rPr>
              <a:t>13. Pharmacology question where the patient was given anxiolytic or sedative drugs. He had to no sleep initiating problem. Which drug was prescribed? </a:t>
            </a:r>
          </a:p>
          <a:p>
            <a:pPr marL="0" indent="0">
              <a:buNone/>
            </a:pPr>
            <a:endParaRPr lang="en-US" dirty="0"/>
          </a:p>
          <a:p>
            <a:pPr marL="0" indent="0">
              <a:buNone/>
            </a:pPr>
            <a:endParaRPr lang="en-US" dirty="0"/>
          </a:p>
        </p:txBody>
      </p:sp>
      <p:sp>
        <p:nvSpPr>
          <p:cNvPr id="2" name="Slide Number Placeholder 1"/>
          <p:cNvSpPr>
            <a:spLocks noGrp="1"/>
          </p:cNvSpPr>
          <p:nvPr>
            <p:ph type="sldNum" sz="quarter" idx="12"/>
          </p:nvPr>
        </p:nvSpPr>
        <p:spPr/>
        <p:txBody>
          <a:bodyPr/>
          <a:lstStyle/>
          <a:p>
            <a:fld id="{4B689A82-AD2C-4896-92D2-567C77EBD8E3}" type="slidenum">
              <a:rPr lang="en-US" smtClean="0"/>
              <a:t>13</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5493761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normAutofit/>
          </a:bodyPr>
          <a:lstStyle/>
          <a:p>
            <a:pPr marL="0" indent="0">
              <a:buNone/>
            </a:pPr>
            <a:r>
              <a:rPr lang="en-US" dirty="0">
                <a:solidFill>
                  <a:srgbClr val="C00000"/>
                </a:solidFill>
              </a:rPr>
              <a:t>14. A 30-year-old woman complains of unsteadiness while standing and walking. She tends to deviate to the right, neurologic examination reveals </a:t>
            </a:r>
            <a:r>
              <a:rPr lang="en-US" dirty="0" err="1">
                <a:solidFill>
                  <a:srgbClr val="C00000"/>
                </a:solidFill>
              </a:rPr>
              <a:t>dysmetria</a:t>
            </a:r>
            <a:r>
              <a:rPr lang="en-US" dirty="0">
                <a:solidFill>
                  <a:srgbClr val="C00000"/>
                </a:solidFill>
              </a:rPr>
              <a:t> on the right side, dysdiadochokinesia, and nystagmus that is more marked when she looks to the right side. Where is the lesion located? </a:t>
            </a:r>
          </a:p>
          <a:p>
            <a:pPr marL="0" indent="0">
              <a:buNone/>
            </a:pPr>
            <a:endParaRPr lang="en-US" dirty="0"/>
          </a:p>
          <a:p>
            <a:pPr marL="0" indent="0">
              <a:buNone/>
            </a:pPr>
            <a:r>
              <a:rPr lang="en-US" dirty="0"/>
              <a:t>A. Right cerebellum</a:t>
            </a:r>
          </a:p>
          <a:p>
            <a:pPr marL="0" indent="0">
              <a:buNone/>
            </a:pPr>
            <a:r>
              <a:rPr lang="en-US" dirty="0"/>
              <a:t>B. Left </a:t>
            </a:r>
            <a:r>
              <a:rPr lang="en-US" dirty="0" err="1"/>
              <a:t>globus</a:t>
            </a:r>
            <a:r>
              <a:rPr lang="en-US" dirty="0"/>
              <a:t> pallidus</a:t>
            </a:r>
          </a:p>
          <a:p>
            <a:pPr marL="0" indent="0">
              <a:buNone/>
            </a:pPr>
            <a:r>
              <a:rPr lang="en-US" dirty="0"/>
              <a:t>C. Right </a:t>
            </a:r>
            <a:r>
              <a:rPr lang="en-US" dirty="0" err="1"/>
              <a:t>globus</a:t>
            </a:r>
            <a:r>
              <a:rPr lang="en-US" dirty="0"/>
              <a:t> pallidus</a:t>
            </a:r>
          </a:p>
          <a:p>
            <a:pPr marL="0" indent="0">
              <a:buNone/>
            </a:pPr>
            <a:r>
              <a:rPr lang="en-US" dirty="0"/>
              <a:t>D. Right striatum</a:t>
            </a:r>
          </a:p>
          <a:p>
            <a:pPr marL="0" indent="0">
              <a:buNone/>
            </a:pPr>
            <a:r>
              <a:rPr lang="en-US" dirty="0"/>
              <a:t>E. Left cerebellum</a:t>
            </a:r>
          </a:p>
        </p:txBody>
      </p:sp>
      <p:sp>
        <p:nvSpPr>
          <p:cNvPr id="2" name="Slide Number Placeholder 1"/>
          <p:cNvSpPr>
            <a:spLocks noGrp="1"/>
          </p:cNvSpPr>
          <p:nvPr>
            <p:ph type="sldNum" sz="quarter" idx="12"/>
          </p:nvPr>
        </p:nvSpPr>
        <p:spPr/>
        <p:txBody>
          <a:bodyPr/>
          <a:lstStyle/>
          <a:p>
            <a:fld id="{4B689A82-AD2C-4896-92D2-567C77EBD8E3}" type="slidenum">
              <a:rPr lang="en-US" smtClean="0"/>
              <a:t>14</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17331127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normAutofit/>
          </a:bodyPr>
          <a:lstStyle/>
          <a:p>
            <a:pPr marL="0" indent="0">
              <a:buNone/>
            </a:pPr>
            <a:r>
              <a:rPr lang="en-US" dirty="0">
                <a:solidFill>
                  <a:srgbClr val="C00000"/>
                </a:solidFill>
              </a:rPr>
              <a:t>15. A 20-year-old has an inherited progressive neuronal degeneration of brain. This resulted in twitching movement of head, grimacing movements in face and lips, gesticulating movements in distal parts of upper limbs and jerking movements in distal parts of lower limbs. The neurons in which one of the following parts of the brain were degenerated in this patient?</a:t>
            </a:r>
          </a:p>
          <a:p>
            <a:pPr marL="0" indent="0">
              <a:buNone/>
            </a:pPr>
            <a:endParaRPr lang="en-US" dirty="0"/>
          </a:p>
          <a:p>
            <a:pPr marL="0" indent="0">
              <a:buNone/>
            </a:pPr>
            <a:r>
              <a:rPr lang="en-US" dirty="0"/>
              <a:t>A. Substantia </a:t>
            </a:r>
            <a:r>
              <a:rPr lang="en-US" dirty="0" err="1"/>
              <a:t>nigra</a:t>
            </a:r>
            <a:r>
              <a:rPr lang="en-US" dirty="0"/>
              <a:t> compacta </a:t>
            </a:r>
          </a:p>
          <a:p>
            <a:pPr marL="0" indent="0">
              <a:buNone/>
            </a:pPr>
            <a:r>
              <a:rPr lang="en-US" dirty="0"/>
              <a:t>B. Globus pallidus externa </a:t>
            </a:r>
          </a:p>
          <a:p>
            <a:pPr marL="0" indent="0">
              <a:buNone/>
            </a:pPr>
            <a:r>
              <a:rPr lang="en-US" dirty="0"/>
              <a:t>C. Globus pallidus </a:t>
            </a:r>
            <a:r>
              <a:rPr lang="en-US" dirty="0" err="1"/>
              <a:t>interna</a:t>
            </a:r>
            <a:r>
              <a:rPr lang="en-US" dirty="0"/>
              <a:t> </a:t>
            </a:r>
          </a:p>
          <a:p>
            <a:pPr marL="0" indent="0">
              <a:buNone/>
            </a:pPr>
            <a:r>
              <a:rPr lang="en-US" dirty="0"/>
              <a:t>D. Subthalamus  </a:t>
            </a:r>
          </a:p>
          <a:p>
            <a:pPr marL="0" indent="0">
              <a:buNone/>
            </a:pPr>
            <a:r>
              <a:rPr lang="en-US" dirty="0"/>
              <a:t>E. Striatum </a:t>
            </a:r>
          </a:p>
        </p:txBody>
      </p:sp>
      <p:sp>
        <p:nvSpPr>
          <p:cNvPr id="2" name="Slide Number Placeholder 1"/>
          <p:cNvSpPr>
            <a:spLocks noGrp="1"/>
          </p:cNvSpPr>
          <p:nvPr>
            <p:ph type="sldNum" sz="quarter" idx="12"/>
          </p:nvPr>
        </p:nvSpPr>
        <p:spPr/>
        <p:txBody>
          <a:bodyPr/>
          <a:lstStyle/>
          <a:p>
            <a:fld id="{4B689A82-AD2C-4896-92D2-567C77EBD8E3}" type="slidenum">
              <a:rPr lang="en-US" smtClean="0"/>
              <a:t>15</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10901224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normAutofit/>
          </a:bodyPr>
          <a:lstStyle/>
          <a:p>
            <a:pPr marL="0" indent="0">
              <a:buNone/>
            </a:pPr>
            <a:r>
              <a:rPr lang="en-US" dirty="0">
                <a:solidFill>
                  <a:srgbClr val="C00000"/>
                </a:solidFill>
              </a:rPr>
              <a:t>16. A 63 year old man has been bothered by shaking of his hand at rest and generalized stiffness of his body, which have become progressively worse during the last three years. On entering the examining room he moves slowly and deliberately, shuffling his feet, his shoulders and trunk are stooped forward and his arms at side not swinging. He has mask like face and resting pill rolling tremor. Neurons in which of the following areas of brain may have degenerated in this case?</a:t>
            </a:r>
          </a:p>
          <a:p>
            <a:pPr marL="0" indent="0">
              <a:buNone/>
            </a:pPr>
            <a:endParaRPr lang="en-US" dirty="0"/>
          </a:p>
          <a:p>
            <a:pPr marL="0" indent="0">
              <a:buNone/>
            </a:pPr>
            <a:r>
              <a:rPr lang="en-US" dirty="0"/>
              <a:t>A. Caudate nucleus </a:t>
            </a:r>
          </a:p>
          <a:p>
            <a:pPr marL="0" indent="0">
              <a:buNone/>
            </a:pPr>
            <a:r>
              <a:rPr lang="en-US" dirty="0"/>
              <a:t>B. Globus pallidus externa </a:t>
            </a:r>
          </a:p>
          <a:p>
            <a:pPr marL="0" indent="0">
              <a:buNone/>
            </a:pPr>
            <a:r>
              <a:rPr lang="en-US" dirty="0"/>
              <a:t>C. Globus pallidus </a:t>
            </a:r>
            <a:r>
              <a:rPr lang="en-US" dirty="0" err="1"/>
              <a:t>interna</a:t>
            </a:r>
            <a:r>
              <a:rPr lang="en-US" dirty="0"/>
              <a:t> </a:t>
            </a:r>
          </a:p>
          <a:p>
            <a:pPr marL="0" indent="0">
              <a:buNone/>
            </a:pPr>
            <a:r>
              <a:rPr lang="en-US" dirty="0"/>
              <a:t>D. Substantia </a:t>
            </a:r>
            <a:r>
              <a:rPr lang="en-US" dirty="0" err="1"/>
              <a:t>nigra</a:t>
            </a:r>
            <a:r>
              <a:rPr lang="en-US" dirty="0"/>
              <a:t> </a:t>
            </a:r>
            <a:r>
              <a:rPr lang="en-US" dirty="0" err="1"/>
              <a:t>reticulata</a:t>
            </a:r>
            <a:r>
              <a:rPr lang="en-US" dirty="0"/>
              <a:t> </a:t>
            </a:r>
          </a:p>
          <a:p>
            <a:pPr marL="0" indent="0">
              <a:buNone/>
            </a:pPr>
            <a:r>
              <a:rPr lang="en-US" dirty="0"/>
              <a:t>E. Substantia </a:t>
            </a:r>
            <a:r>
              <a:rPr lang="en-US" dirty="0" err="1"/>
              <a:t>nigra</a:t>
            </a:r>
            <a:r>
              <a:rPr lang="en-US" dirty="0"/>
              <a:t> compacta </a:t>
            </a:r>
          </a:p>
          <a:p>
            <a:pPr marL="0" indent="0">
              <a:buNone/>
            </a:pPr>
            <a:endParaRPr lang="en-US" dirty="0">
              <a:solidFill>
                <a:srgbClr val="C00000"/>
              </a:solidFill>
            </a:endParaRPr>
          </a:p>
          <a:p>
            <a:pPr marL="0" indent="0">
              <a:buNone/>
            </a:pPr>
            <a:endParaRPr lang="en-US" dirty="0"/>
          </a:p>
          <a:p>
            <a:pPr marL="514350" indent="-514350">
              <a:buAutoNum type="alphaUcPeriod"/>
            </a:pPr>
            <a:endParaRPr lang="en-US" dirty="0"/>
          </a:p>
        </p:txBody>
      </p:sp>
      <p:sp>
        <p:nvSpPr>
          <p:cNvPr id="2" name="Slide Number Placeholder 1"/>
          <p:cNvSpPr>
            <a:spLocks noGrp="1"/>
          </p:cNvSpPr>
          <p:nvPr>
            <p:ph type="sldNum" sz="quarter" idx="12"/>
          </p:nvPr>
        </p:nvSpPr>
        <p:spPr/>
        <p:txBody>
          <a:bodyPr/>
          <a:lstStyle/>
          <a:p>
            <a:fld id="{4B689A82-AD2C-4896-92D2-567C77EBD8E3}" type="slidenum">
              <a:rPr lang="en-US" smtClean="0"/>
              <a:t>16</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1272081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lstStyle/>
          <a:p>
            <a:pPr marL="0" indent="0">
              <a:buNone/>
            </a:pPr>
            <a:r>
              <a:rPr lang="en-US" dirty="0">
                <a:solidFill>
                  <a:srgbClr val="C00000"/>
                </a:solidFill>
              </a:rPr>
              <a:t>17. Patients with Parkinson’s disease may obtain symptomatic relief from which of the following?</a:t>
            </a:r>
          </a:p>
          <a:p>
            <a:pPr marL="0" indent="0">
              <a:buNone/>
            </a:pPr>
            <a:endParaRPr lang="en-US" dirty="0"/>
          </a:p>
          <a:p>
            <a:pPr marL="514350" indent="-514350">
              <a:buAutoNum type="alphaUcPeriod"/>
            </a:pPr>
            <a:r>
              <a:rPr lang="en-US" dirty="0"/>
              <a:t>Decreasing dopamine levels in the striatum</a:t>
            </a:r>
          </a:p>
          <a:p>
            <a:pPr marL="514350" indent="-514350">
              <a:buAutoNum type="alphaUcPeriod"/>
            </a:pPr>
            <a:r>
              <a:rPr lang="en-US" dirty="0"/>
              <a:t>Increasing acetylcholine levels in the striatum</a:t>
            </a:r>
          </a:p>
          <a:p>
            <a:pPr marL="514350" indent="-514350">
              <a:buAutoNum type="alphaUcPeriod"/>
            </a:pPr>
            <a:r>
              <a:rPr lang="en-US" dirty="0"/>
              <a:t>Increasing GABAergic stimulation of </a:t>
            </a:r>
            <a:r>
              <a:rPr lang="en-US" dirty="0" err="1"/>
              <a:t>GPe</a:t>
            </a:r>
            <a:endParaRPr lang="en-US" dirty="0"/>
          </a:p>
          <a:p>
            <a:pPr marL="514350" indent="-514350">
              <a:buAutoNum type="alphaUcPeriod"/>
            </a:pPr>
            <a:r>
              <a:rPr lang="en-US" dirty="0"/>
              <a:t>Decreasing the tonic drive from </a:t>
            </a:r>
            <a:r>
              <a:rPr lang="en-US" dirty="0" err="1"/>
              <a:t>GPi</a:t>
            </a:r>
            <a:r>
              <a:rPr lang="en-US" dirty="0"/>
              <a:t> to motor thalamus</a:t>
            </a:r>
          </a:p>
          <a:p>
            <a:pPr marL="514350" indent="-514350">
              <a:buAutoNum type="alphaUcPeriod"/>
            </a:pPr>
            <a:r>
              <a:rPr lang="en-US" dirty="0"/>
              <a:t>Blocking glutamatergic input from the cortex to the striatum </a:t>
            </a:r>
          </a:p>
        </p:txBody>
      </p:sp>
      <p:sp>
        <p:nvSpPr>
          <p:cNvPr id="2" name="Slide Number Placeholder 1"/>
          <p:cNvSpPr>
            <a:spLocks noGrp="1"/>
          </p:cNvSpPr>
          <p:nvPr>
            <p:ph type="sldNum" sz="quarter" idx="12"/>
          </p:nvPr>
        </p:nvSpPr>
        <p:spPr/>
        <p:txBody>
          <a:bodyPr/>
          <a:lstStyle/>
          <a:p>
            <a:fld id="{4B689A82-AD2C-4896-92D2-567C77EBD8E3}" type="slidenum">
              <a:rPr lang="en-US" smtClean="0"/>
              <a:t>17</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851154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normAutofit/>
          </a:bodyPr>
          <a:lstStyle/>
          <a:p>
            <a:pPr marL="0" indent="0">
              <a:buNone/>
            </a:pPr>
            <a:r>
              <a:rPr lang="en-US" dirty="0">
                <a:solidFill>
                  <a:srgbClr val="C00000"/>
                </a:solidFill>
              </a:rPr>
              <a:t>18. A patient is confused and displays localized jerks in his right hand, which progress to jerks of the entire arm with a brief loss of consciousness. This disorder can best be characterized as a:</a:t>
            </a:r>
          </a:p>
          <a:p>
            <a:pPr marL="0" indent="0">
              <a:buNone/>
            </a:pPr>
            <a:endParaRPr lang="en-US" dirty="0"/>
          </a:p>
          <a:p>
            <a:pPr marL="0" indent="0">
              <a:buNone/>
            </a:pPr>
            <a:r>
              <a:rPr lang="en-US" dirty="0"/>
              <a:t>A. Generalized seizure </a:t>
            </a:r>
          </a:p>
          <a:p>
            <a:pPr marL="0" indent="0">
              <a:buNone/>
            </a:pPr>
            <a:r>
              <a:rPr lang="en-US" dirty="0"/>
              <a:t>B. Absence seizure </a:t>
            </a:r>
          </a:p>
          <a:p>
            <a:pPr marL="0" indent="0">
              <a:buNone/>
            </a:pPr>
            <a:r>
              <a:rPr lang="en-US" dirty="0"/>
              <a:t>C. Simple partial seizure </a:t>
            </a:r>
          </a:p>
          <a:p>
            <a:pPr marL="0" indent="0">
              <a:buNone/>
            </a:pPr>
            <a:r>
              <a:rPr lang="en-US" dirty="0"/>
              <a:t>D. Complex partial seizure </a:t>
            </a:r>
          </a:p>
          <a:p>
            <a:pPr marL="0" indent="0">
              <a:buNone/>
            </a:pPr>
            <a:r>
              <a:rPr lang="en-US" dirty="0"/>
              <a:t>E. Petit mal seizure</a:t>
            </a:r>
          </a:p>
          <a:p>
            <a:pPr marL="0" indent="0">
              <a:buNone/>
            </a:pPr>
            <a:r>
              <a:rPr lang="en-US" dirty="0">
                <a:solidFill>
                  <a:srgbClr val="C00000"/>
                </a:solidFill>
              </a:rPr>
              <a:t> </a:t>
            </a:r>
            <a:r>
              <a:rPr lang="en-US" dirty="0"/>
              <a:t> </a:t>
            </a:r>
          </a:p>
        </p:txBody>
      </p:sp>
      <p:sp>
        <p:nvSpPr>
          <p:cNvPr id="2" name="Slide Number Placeholder 1"/>
          <p:cNvSpPr>
            <a:spLocks noGrp="1"/>
          </p:cNvSpPr>
          <p:nvPr>
            <p:ph type="sldNum" sz="quarter" idx="12"/>
          </p:nvPr>
        </p:nvSpPr>
        <p:spPr/>
        <p:txBody>
          <a:bodyPr/>
          <a:lstStyle/>
          <a:p>
            <a:fld id="{4B689A82-AD2C-4896-92D2-567C77EBD8E3}" type="slidenum">
              <a:rPr lang="en-US" smtClean="0"/>
              <a:t>18</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31678437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normAutofit/>
          </a:bodyPr>
          <a:lstStyle/>
          <a:p>
            <a:pPr marL="0" indent="0">
              <a:buNone/>
            </a:pPr>
            <a:r>
              <a:rPr lang="en-US" dirty="0">
                <a:solidFill>
                  <a:srgbClr val="C00000"/>
                </a:solidFill>
              </a:rPr>
              <a:t>19. Which of the following EEG rhythms, if recorded from an awake young adult, will be indicative of serious brain damage?</a:t>
            </a:r>
          </a:p>
          <a:p>
            <a:pPr marL="0" indent="0">
              <a:buNone/>
            </a:pPr>
            <a:r>
              <a:rPr lang="en-US" dirty="0"/>
              <a:t> </a:t>
            </a:r>
          </a:p>
          <a:p>
            <a:pPr marL="0" indent="0">
              <a:buNone/>
            </a:pPr>
            <a:r>
              <a:rPr lang="en-US" dirty="0"/>
              <a:t>A. Alpha rhythm </a:t>
            </a:r>
          </a:p>
          <a:p>
            <a:pPr marL="0" indent="0">
              <a:buNone/>
            </a:pPr>
            <a:r>
              <a:rPr lang="en-US" dirty="0"/>
              <a:t>B. Beta rhythm </a:t>
            </a:r>
          </a:p>
          <a:p>
            <a:pPr marL="0" indent="0">
              <a:buNone/>
            </a:pPr>
            <a:r>
              <a:rPr lang="en-US" dirty="0"/>
              <a:t>C. Theta rhythm </a:t>
            </a:r>
          </a:p>
          <a:p>
            <a:pPr marL="0" indent="0">
              <a:buNone/>
            </a:pPr>
            <a:r>
              <a:rPr lang="en-US" dirty="0"/>
              <a:t>D. Delta rhythm </a:t>
            </a:r>
          </a:p>
          <a:p>
            <a:pPr marL="0" indent="0">
              <a:buNone/>
            </a:pPr>
            <a:r>
              <a:rPr lang="en-US" dirty="0"/>
              <a:t>E. Gamma rhythm </a:t>
            </a:r>
          </a:p>
          <a:p>
            <a:pPr marL="0" indent="0">
              <a:buNone/>
            </a:pPr>
            <a:r>
              <a:rPr lang="en-US" dirty="0">
                <a:solidFill>
                  <a:srgbClr val="C00000"/>
                </a:solidFill>
              </a:rPr>
              <a:t> </a:t>
            </a:r>
          </a:p>
          <a:p>
            <a:pPr marL="0" indent="0">
              <a:buNone/>
            </a:pPr>
            <a:endParaRPr lang="en-US" dirty="0"/>
          </a:p>
        </p:txBody>
      </p:sp>
      <p:sp>
        <p:nvSpPr>
          <p:cNvPr id="2" name="Slide Number Placeholder 1"/>
          <p:cNvSpPr>
            <a:spLocks noGrp="1"/>
          </p:cNvSpPr>
          <p:nvPr>
            <p:ph type="sldNum" sz="quarter" idx="12"/>
          </p:nvPr>
        </p:nvSpPr>
        <p:spPr/>
        <p:txBody>
          <a:bodyPr/>
          <a:lstStyle/>
          <a:p>
            <a:fld id="{4B689A82-AD2C-4896-92D2-567C77EBD8E3}" type="slidenum">
              <a:rPr lang="en-US" smtClean="0"/>
              <a:t>19</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16230449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normAutofit lnSpcReduction="10000"/>
          </a:bodyPr>
          <a:lstStyle/>
          <a:p>
            <a:pPr marL="0" indent="0">
              <a:buNone/>
            </a:pPr>
            <a:r>
              <a:rPr lang="en-US" dirty="0">
                <a:solidFill>
                  <a:srgbClr val="C00000"/>
                </a:solidFill>
              </a:rPr>
              <a:t>20. A 52-year- old woman with insomnia undergoes an electroencephalogram (EEG) in a sleep disorder clinic. At 3:00 AM, the EEG technician notes that the women’s recording was exhibiting sleep spindles and K complexes. Which stage of sleep is she in at this time?</a:t>
            </a:r>
          </a:p>
          <a:p>
            <a:pPr marL="0" indent="0">
              <a:buNone/>
            </a:pPr>
            <a:r>
              <a:rPr lang="en-US" dirty="0"/>
              <a:t> </a:t>
            </a:r>
          </a:p>
          <a:p>
            <a:pPr marL="0" indent="0">
              <a:buNone/>
            </a:pPr>
            <a:r>
              <a:rPr lang="en-US" dirty="0"/>
              <a:t>A. REM </a:t>
            </a:r>
          </a:p>
          <a:p>
            <a:pPr marL="0" indent="0">
              <a:buNone/>
            </a:pPr>
            <a:r>
              <a:rPr lang="en-US" dirty="0"/>
              <a:t>B. Stage 1 </a:t>
            </a:r>
          </a:p>
          <a:p>
            <a:pPr marL="0" indent="0">
              <a:buNone/>
            </a:pPr>
            <a:r>
              <a:rPr lang="en-US" dirty="0"/>
              <a:t>C. Stage 2 </a:t>
            </a:r>
          </a:p>
          <a:p>
            <a:pPr marL="0" indent="0">
              <a:buNone/>
            </a:pPr>
            <a:r>
              <a:rPr lang="en-US" dirty="0"/>
              <a:t>D. Stage 3 </a:t>
            </a:r>
          </a:p>
          <a:p>
            <a:pPr marL="0" indent="0">
              <a:buNone/>
            </a:pPr>
            <a:r>
              <a:rPr lang="en-US" dirty="0"/>
              <a:t>E. Stage 4 </a:t>
            </a:r>
          </a:p>
          <a:p>
            <a:pPr marL="0" indent="0">
              <a:buNone/>
            </a:pPr>
            <a:r>
              <a:rPr lang="en-US" dirty="0">
                <a:solidFill>
                  <a:srgbClr val="C00000"/>
                </a:solidFill>
              </a:rPr>
              <a:t> </a:t>
            </a:r>
          </a:p>
          <a:p>
            <a:pPr marL="0" indent="0">
              <a:buNone/>
            </a:pPr>
            <a:endParaRPr lang="en-US" dirty="0"/>
          </a:p>
          <a:p>
            <a:pPr marL="0" indent="0">
              <a:buNone/>
            </a:pPr>
            <a:r>
              <a:rPr lang="en-US" dirty="0"/>
              <a:t> </a:t>
            </a:r>
          </a:p>
        </p:txBody>
      </p:sp>
      <p:sp>
        <p:nvSpPr>
          <p:cNvPr id="2" name="Slide Number Placeholder 1"/>
          <p:cNvSpPr>
            <a:spLocks noGrp="1"/>
          </p:cNvSpPr>
          <p:nvPr>
            <p:ph type="sldNum" sz="quarter" idx="12"/>
          </p:nvPr>
        </p:nvSpPr>
        <p:spPr/>
        <p:txBody>
          <a:bodyPr/>
          <a:lstStyle/>
          <a:p>
            <a:fld id="{4B689A82-AD2C-4896-92D2-567C77EBD8E3}" type="slidenum">
              <a:rPr lang="en-US" smtClean="0"/>
              <a:t>20</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1685827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957</TotalTime>
  <Words>1655</Words>
  <Application>Microsoft Office PowerPoint</Application>
  <PresentationFormat>Widescreen</PresentationFormat>
  <Paragraphs>215</Paragraphs>
  <Slides>20</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Times New Roman</vt:lpstr>
      <vt:lpstr>Office Theme</vt:lpstr>
      <vt:lpstr>TBL -2 Questions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 -2 Questions</dc:title>
  <dc:creator>mariam hendaz</dc:creator>
  <cp:lastModifiedBy>mariam hendaz</cp:lastModifiedBy>
  <cp:revision>22</cp:revision>
  <dcterms:created xsi:type="dcterms:W3CDTF">2017-04-17T06:04:40Z</dcterms:created>
  <dcterms:modified xsi:type="dcterms:W3CDTF">2017-04-25T08:05:47Z</dcterms:modified>
</cp:coreProperties>
</file>