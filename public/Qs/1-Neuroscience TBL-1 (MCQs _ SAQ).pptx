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73" r:id="rId4"/>
    <p:sldId id="258" r:id="rId5"/>
    <p:sldId id="259" r:id="rId6"/>
    <p:sldId id="260" r:id="rId7"/>
    <p:sldId id="263" r:id="rId8"/>
    <p:sldId id="264" r:id="rId9"/>
    <p:sldId id="265" r:id="rId10"/>
    <p:sldId id="266" r:id="rId11"/>
    <p:sldId id="261" r:id="rId12"/>
    <p:sldId id="262" r:id="rId13"/>
    <p:sldId id="267" r:id="rId14"/>
    <p:sldId id="268" r:id="rId15"/>
    <p:sldId id="269" r:id="rId16"/>
    <p:sldId id="270" r:id="rId17"/>
    <p:sldId id="271" r:id="rId18"/>
    <p:sldId id="274" r:id="rId19"/>
    <p:sldId id="272" r:id="rId20"/>
    <p:sldId id="277" r:id="rId21"/>
    <p:sldId id="278" r:id="rId22"/>
    <p:sldId id="279" r:id="rId23"/>
    <p:sldId id="27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8998" autoAdjust="0"/>
  </p:normalViewPr>
  <p:slideViewPr>
    <p:cSldViewPr snapToGrid="0">
      <p:cViewPr varScale="1">
        <p:scale>
          <a:sx n="87" d="100"/>
          <a:sy n="87" d="100"/>
        </p:scale>
        <p:origin x="-888"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interSettings" Target="printerSettings/printerSettings1.bin"/><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EE57FE-972A-4C29-9324-E468F7610DE0}" type="datetimeFigureOut">
              <a:rPr lang="en-US" smtClean="0"/>
              <a:t>4/12/15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E6A66A-FD6D-4131-9619-10D19B8461A7}" type="slidenum">
              <a:rPr lang="en-US" smtClean="0"/>
              <a:t>‹#›</a:t>
            </a:fld>
            <a:endParaRPr lang="en-US"/>
          </a:p>
        </p:txBody>
      </p:sp>
    </p:spTree>
    <p:extLst>
      <p:ext uri="{BB962C8B-B14F-4D97-AF65-F5344CB8AC3E}">
        <p14:creationId xmlns:p14="http://schemas.microsoft.com/office/powerpoint/2010/main" val="3408500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a:t>
            </a:r>
            <a:endParaRPr lang="en-US" dirty="0"/>
          </a:p>
        </p:txBody>
      </p:sp>
      <p:sp>
        <p:nvSpPr>
          <p:cNvPr id="4" name="Slide Number Placeholder 3"/>
          <p:cNvSpPr>
            <a:spLocks noGrp="1"/>
          </p:cNvSpPr>
          <p:nvPr>
            <p:ph type="sldNum" sz="quarter" idx="10"/>
          </p:nvPr>
        </p:nvSpPr>
        <p:spPr/>
        <p:txBody>
          <a:bodyPr/>
          <a:lstStyle/>
          <a:p>
            <a:fld id="{80E6A66A-FD6D-4131-9619-10D19B8461A7}" type="slidenum">
              <a:rPr lang="en-US" smtClean="0"/>
              <a:t>2</a:t>
            </a:fld>
            <a:endParaRPr lang="en-US"/>
          </a:p>
        </p:txBody>
      </p:sp>
    </p:spTree>
    <p:extLst>
      <p:ext uri="{BB962C8B-B14F-4D97-AF65-F5344CB8AC3E}">
        <p14:creationId xmlns:p14="http://schemas.microsoft.com/office/powerpoint/2010/main" val="3604743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a:t>
            </a:r>
            <a:endParaRPr lang="en-US" dirty="0"/>
          </a:p>
        </p:txBody>
      </p:sp>
      <p:sp>
        <p:nvSpPr>
          <p:cNvPr id="4" name="Slide Number Placeholder 3"/>
          <p:cNvSpPr>
            <a:spLocks noGrp="1"/>
          </p:cNvSpPr>
          <p:nvPr>
            <p:ph type="sldNum" sz="quarter" idx="10"/>
          </p:nvPr>
        </p:nvSpPr>
        <p:spPr/>
        <p:txBody>
          <a:bodyPr/>
          <a:lstStyle/>
          <a:p>
            <a:fld id="{80E6A66A-FD6D-4131-9619-10D19B8461A7}" type="slidenum">
              <a:rPr lang="en-US" smtClean="0"/>
              <a:t>3</a:t>
            </a:fld>
            <a:endParaRPr lang="en-US"/>
          </a:p>
        </p:txBody>
      </p:sp>
    </p:spTree>
    <p:extLst>
      <p:ext uri="{BB962C8B-B14F-4D97-AF65-F5344CB8AC3E}">
        <p14:creationId xmlns:p14="http://schemas.microsoft.com/office/powerpoint/2010/main" val="218406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a:t>
            </a:r>
            <a:endParaRPr lang="en-US" dirty="0"/>
          </a:p>
        </p:txBody>
      </p:sp>
      <p:sp>
        <p:nvSpPr>
          <p:cNvPr id="4" name="Slide Number Placeholder 3"/>
          <p:cNvSpPr>
            <a:spLocks noGrp="1"/>
          </p:cNvSpPr>
          <p:nvPr>
            <p:ph type="sldNum" sz="quarter" idx="10"/>
          </p:nvPr>
        </p:nvSpPr>
        <p:spPr/>
        <p:txBody>
          <a:bodyPr/>
          <a:lstStyle/>
          <a:p>
            <a:fld id="{80E6A66A-FD6D-4131-9619-10D19B8461A7}" type="slidenum">
              <a:rPr lang="en-US" smtClean="0"/>
              <a:t>4</a:t>
            </a:fld>
            <a:endParaRPr lang="en-US"/>
          </a:p>
        </p:txBody>
      </p:sp>
    </p:spTree>
    <p:extLst>
      <p:ext uri="{BB962C8B-B14F-4D97-AF65-F5344CB8AC3E}">
        <p14:creationId xmlns:p14="http://schemas.microsoft.com/office/powerpoint/2010/main" val="1456017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a:t>
            </a:r>
            <a:endParaRPr lang="en-US" dirty="0"/>
          </a:p>
        </p:txBody>
      </p:sp>
      <p:sp>
        <p:nvSpPr>
          <p:cNvPr id="4" name="Slide Number Placeholder 3"/>
          <p:cNvSpPr>
            <a:spLocks noGrp="1"/>
          </p:cNvSpPr>
          <p:nvPr>
            <p:ph type="sldNum" sz="quarter" idx="10"/>
          </p:nvPr>
        </p:nvSpPr>
        <p:spPr/>
        <p:txBody>
          <a:bodyPr/>
          <a:lstStyle/>
          <a:p>
            <a:fld id="{80E6A66A-FD6D-4131-9619-10D19B8461A7}" type="slidenum">
              <a:rPr lang="en-US" smtClean="0"/>
              <a:t>5</a:t>
            </a:fld>
            <a:endParaRPr lang="en-US"/>
          </a:p>
        </p:txBody>
      </p:sp>
    </p:spTree>
    <p:extLst>
      <p:ext uri="{BB962C8B-B14F-4D97-AF65-F5344CB8AC3E}">
        <p14:creationId xmlns:p14="http://schemas.microsoft.com/office/powerpoint/2010/main" val="66928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a:t>
            </a:r>
            <a:endParaRPr lang="en-US" dirty="0"/>
          </a:p>
        </p:txBody>
      </p:sp>
      <p:sp>
        <p:nvSpPr>
          <p:cNvPr id="4" name="Slide Number Placeholder 3"/>
          <p:cNvSpPr>
            <a:spLocks noGrp="1"/>
          </p:cNvSpPr>
          <p:nvPr>
            <p:ph type="sldNum" sz="quarter" idx="10"/>
          </p:nvPr>
        </p:nvSpPr>
        <p:spPr/>
        <p:txBody>
          <a:bodyPr/>
          <a:lstStyle/>
          <a:p>
            <a:fld id="{80E6A66A-FD6D-4131-9619-10D19B8461A7}" type="slidenum">
              <a:rPr lang="en-US" smtClean="0"/>
              <a:t>6</a:t>
            </a:fld>
            <a:endParaRPr lang="en-US"/>
          </a:p>
        </p:txBody>
      </p:sp>
    </p:spTree>
    <p:extLst>
      <p:ext uri="{BB962C8B-B14F-4D97-AF65-F5344CB8AC3E}">
        <p14:creationId xmlns:p14="http://schemas.microsoft.com/office/powerpoint/2010/main" val="41116929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a:t>
            </a:r>
            <a:endParaRPr lang="en-US" dirty="0"/>
          </a:p>
        </p:txBody>
      </p:sp>
      <p:sp>
        <p:nvSpPr>
          <p:cNvPr id="4" name="Slide Number Placeholder 3"/>
          <p:cNvSpPr>
            <a:spLocks noGrp="1"/>
          </p:cNvSpPr>
          <p:nvPr>
            <p:ph type="sldNum" sz="quarter" idx="10"/>
          </p:nvPr>
        </p:nvSpPr>
        <p:spPr/>
        <p:txBody>
          <a:bodyPr/>
          <a:lstStyle/>
          <a:p>
            <a:fld id="{80E6A66A-FD6D-4131-9619-10D19B8461A7}" type="slidenum">
              <a:rPr lang="en-US" smtClean="0"/>
              <a:t>7</a:t>
            </a:fld>
            <a:endParaRPr lang="en-US"/>
          </a:p>
        </p:txBody>
      </p:sp>
    </p:spTree>
    <p:extLst>
      <p:ext uri="{BB962C8B-B14F-4D97-AF65-F5344CB8AC3E}">
        <p14:creationId xmlns:p14="http://schemas.microsoft.com/office/powerpoint/2010/main" val="29524132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a:t>
            </a:r>
            <a:endParaRPr lang="en-US" dirty="0"/>
          </a:p>
        </p:txBody>
      </p:sp>
      <p:sp>
        <p:nvSpPr>
          <p:cNvPr id="4" name="Slide Number Placeholder 3"/>
          <p:cNvSpPr>
            <a:spLocks noGrp="1"/>
          </p:cNvSpPr>
          <p:nvPr>
            <p:ph type="sldNum" sz="quarter" idx="10"/>
          </p:nvPr>
        </p:nvSpPr>
        <p:spPr/>
        <p:txBody>
          <a:bodyPr/>
          <a:lstStyle/>
          <a:p>
            <a:fld id="{80E6A66A-FD6D-4131-9619-10D19B8461A7}" type="slidenum">
              <a:rPr lang="en-US" smtClean="0"/>
              <a:t>8</a:t>
            </a:fld>
            <a:endParaRPr lang="en-US"/>
          </a:p>
        </p:txBody>
      </p:sp>
    </p:spTree>
    <p:extLst>
      <p:ext uri="{BB962C8B-B14F-4D97-AF65-F5344CB8AC3E}">
        <p14:creationId xmlns:p14="http://schemas.microsoft.com/office/powerpoint/2010/main" val="20571927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t>
            </a:r>
            <a:endParaRPr lang="en-US" dirty="0"/>
          </a:p>
        </p:txBody>
      </p:sp>
      <p:sp>
        <p:nvSpPr>
          <p:cNvPr id="4" name="Slide Number Placeholder 3"/>
          <p:cNvSpPr>
            <a:spLocks noGrp="1"/>
          </p:cNvSpPr>
          <p:nvPr>
            <p:ph type="sldNum" sz="quarter" idx="10"/>
          </p:nvPr>
        </p:nvSpPr>
        <p:spPr/>
        <p:txBody>
          <a:bodyPr/>
          <a:lstStyle/>
          <a:p>
            <a:fld id="{80E6A66A-FD6D-4131-9619-10D19B8461A7}" type="slidenum">
              <a:rPr lang="en-US" smtClean="0"/>
              <a:t>9</a:t>
            </a:fld>
            <a:endParaRPr lang="en-US"/>
          </a:p>
        </p:txBody>
      </p:sp>
    </p:spTree>
    <p:extLst>
      <p:ext uri="{BB962C8B-B14F-4D97-AF65-F5344CB8AC3E}">
        <p14:creationId xmlns:p14="http://schemas.microsoft.com/office/powerpoint/2010/main" val="5497510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a:t>
            </a:r>
            <a:endParaRPr lang="en-US" dirty="0"/>
          </a:p>
        </p:txBody>
      </p:sp>
      <p:sp>
        <p:nvSpPr>
          <p:cNvPr id="4" name="Slide Number Placeholder 3"/>
          <p:cNvSpPr>
            <a:spLocks noGrp="1"/>
          </p:cNvSpPr>
          <p:nvPr>
            <p:ph type="sldNum" sz="quarter" idx="10"/>
          </p:nvPr>
        </p:nvSpPr>
        <p:spPr/>
        <p:txBody>
          <a:bodyPr/>
          <a:lstStyle/>
          <a:p>
            <a:fld id="{80E6A66A-FD6D-4131-9619-10D19B8461A7}" type="slidenum">
              <a:rPr lang="en-US" smtClean="0"/>
              <a:t>10</a:t>
            </a:fld>
            <a:endParaRPr lang="en-US"/>
          </a:p>
        </p:txBody>
      </p:sp>
    </p:spTree>
    <p:extLst>
      <p:ext uri="{BB962C8B-B14F-4D97-AF65-F5344CB8AC3E}">
        <p14:creationId xmlns:p14="http://schemas.microsoft.com/office/powerpoint/2010/main" val="40989119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a:t>
            </a:r>
            <a:endParaRPr lang="en-US" dirty="0"/>
          </a:p>
        </p:txBody>
      </p:sp>
      <p:sp>
        <p:nvSpPr>
          <p:cNvPr id="4" name="Slide Number Placeholder 3"/>
          <p:cNvSpPr>
            <a:spLocks noGrp="1"/>
          </p:cNvSpPr>
          <p:nvPr>
            <p:ph type="sldNum" sz="quarter" idx="10"/>
          </p:nvPr>
        </p:nvSpPr>
        <p:spPr/>
        <p:txBody>
          <a:bodyPr/>
          <a:lstStyle/>
          <a:p>
            <a:fld id="{80E6A66A-FD6D-4131-9619-10D19B8461A7}" type="slidenum">
              <a:rPr lang="en-US" smtClean="0"/>
              <a:t>11</a:t>
            </a:fld>
            <a:endParaRPr lang="en-US"/>
          </a:p>
        </p:txBody>
      </p:sp>
    </p:spTree>
    <p:extLst>
      <p:ext uri="{BB962C8B-B14F-4D97-AF65-F5344CB8AC3E}">
        <p14:creationId xmlns:p14="http://schemas.microsoft.com/office/powerpoint/2010/main" val="35135034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a:t>
            </a:r>
            <a:endParaRPr lang="en-US" dirty="0"/>
          </a:p>
        </p:txBody>
      </p:sp>
      <p:sp>
        <p:nvSpPr>
          <p:cNvPr id="4" name="Slide Number Placeholder 3"/>
          <p:cNvSpPr>
            <a:spLocks noGrp="1"/>
          </p:cNvSpPr>
          <p:nvPr>
            <p:ph type="sldNum" sz="quarter" idx="10"/>
          </p:nvPr>
        </p:nvSpPr>
        <p:spPr/>
        <p:txBody>
          <a:bodyPr/>
          <a:lstStyle/>
          <a:p>
            <a:fld id="{80E6A66A-FD6D-4131-9619-10D19B8461A7}" type="slidenum">
              <a:rPr lang="en-US" smtClean="0"/>
              <a:t>12</a:t>
            </a:fld>
            <a:endParaRPr lang="en-US"/>
          </a:p>
        </p:txBody>
      </p:sp>
    </p:spTree>
    <p:extLst>
      <p:ext uri="{BB962C8B-B14F-4D97-AF65-F5344CB8AC3E}">
        <p14:creationId xmlns:p14="http://schemas.microsoft.com/office/powerpoint/2010/main" val="786549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a:t>
            </a:r>
            <a:endParaRPr lang="en-US" dirty="0"/>
          </a:p>
        </p:txBody>
      </p:sp>
      <p:sp>
        <p:nvSpPr>
          <p:cNvPr id="4" name="Slide Number Placeholder 3"/>
          <p:cNvSpPr>
            <a:spLocks noGrp="1"/>
          </p:cNvSpPr>
          <p:nvPr>
            <p:ph type="sldNum" sz="quarter" idx="10"/>
          </p:nvPr>
        </p:nvSpPr>
        <p:spPr/>
        <p:txBody>
          <a:bodyPr/>
          <a:lstStyle/>
          <a:p>
            <a:fld id="{80E6A66A-FD6D-4131-9619-10D19B8461A7}" type="slidenum">
              <a:rPr lang="en-US" smtClean="0"/>
              <a:t>13</a:t>
            </a:fld>
            <a:endParaRPr lang="en-US"/>
          </a:p>
        </p:txBody>
      </p:sp>
    </p:spTree>
    <p:extLst>
      <p:ext uri="{BB962C8B-B14F-4D97-AF65-F5344CB8AC3E}">
        <p14:creationId xmlns:p14="http://schemas.microsoft.com/office/powerpoint/2010/main" val="25754398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a:t>
            </a:r>
            <a:endParaRPr lang="en-US" dirty="0"/>
          </a:p>
        </p:txBody>
      </p:sp>
      <p:sp>
        <p:nvSpPr>
          <p:cNvPr id="4" name="Slide Number Placeholder 3"/>
          <p:cNvSpPr>
            <a:spLocks noGrp="1"/>
          </p:cNvSpPr>
          <p:nvPr>
            <p:ph type="sldNum" sz="quarter" idx="10"/>
          </p:nvPr>
        </p:nvSpPr>
        <p:spPr/>
        <p:txBody>
          <a:bodyPr/>
          <a:lstStyle/>
          <a:p>
            <a:fld id="{80E6A66A-FD6D-4131-9619-10D19B8461A7}" type="slidenum">
              <a:rPr lang="en-US" smtClean="0"/>
              <a:t>14</a:t>
            </a:fld>
            <a:endParaRPr lang="en-US"/>
          </a:p>
        </p:txBody>
      </p:sp>
    </p:spTree>
    <p:extLst>
      <p:ext uri="{BB962C8B-B14F-4D97-AF65-F5344CB8AC3E}">
        <p14:creationId xmlns:p14="http://schemas.microsoft.com/office/powerpoint/2010/main" val="23679365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a:t>
            </a:r>
            <a:endParaRPr lang="en-US" dirty="0"/>
          </a:p>
        </p:txBody>
      </p:sp>
      <p:sp>
        <p:nvSpPr>
          <p:cNvPr id="4" name="Slide Number Placeholder 3"/>
          <p:cNvSpPr>
            <a:spLocks noGrp="1"/>
          </p:cNvSpPr>
          <p:nvPr>
            <p:ph type="sldNum" sz="quarter" idx="10"/>
          </p:nvPr>
        </p:nvSpPr>
        <p:spPr/>
        <p:txBody>
          <a:bodyPr/>
          <a:lstStyle/>
          <a:p>
            <a:fld id="{80E6A66A-FD6D-4131-9619-10D19B8461A7}" type="slidenum">
              <a:rPr lang="en-US" smtClean="0"/>
              <a:t>15</a:t>
            </a:fld>
            <a:endParaRPr lang="en-US"/>
          </a:p>
        </p:txBody>
      </p:sp>
    </p:spTree>
    <p:extLst>
      <p:ext uri="{BB962C8B-B14F-4D97-AF65-F5344CB8AC3E}">
        <p14:creationId xmlns:p14="http://schemas.microsoft.com/office/powerpoint/2010/main" val="13308574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t>
            </a:r>
            <a:endParaRPr lang="en-US" dirty="0"/>
          </a:p>
        </p:txBody>
      </p:sp>
      <p:sp>
        <p:nvSpPr>
          <p:cNvPr id="4" name="Slide Number Placeholder 3"/>
          <p:cNvSpPr>
            <a:spLocks noGrp="1"/>
          </p:cNvSpPr>
          <p:nvPr>
            <p:ph type="sldNum" sz="quarter" idx="10"/>
          </p:nvPr>
        </p:nvSpPr>
        <p:spPr/>
        <p:txBody>
          <a:bodyPr/>
          <a:lstStyle/>
          <a:p>
            <a:fld id="{80E6A66A-FD6D-4131-9619-10D19B8461A7}" type="slidenum">
              <a:rPr lang="en-US" smtClean="0"/>
              <a:t>16</a:t>
            </a:fld>
            <a:endParaRPr lang="en-US"/>
          </a:p>
        </p:txBody>
      </p:sp>
    </p:spTree>
    <p:extLst>
      <p:ext uri="{BB962C8B-B14F-4D97-AF65-F5344CB8AC3E}">
        <p14:creationId xmlns:p14="http://schemas.microsoft.com/office/powerpoint/2010/main" val="14877281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a:t>
            </a:r>
            <a:endParaRPr lang="en-US" dirty="0"/>
          </a:p>
        </p:txBody>
      </p:sp>
      <p:sp>
        <p:nvSpPr>
          <p:cNvPr id="4" name="Slide Number Placeholder 3"/>
          <p:cNvSpPr>
            <a:spLocks noGrp="1"/>
          </p:cNvSpPr>
          <p:nvPr>
            <p:ph type="sldNum" sz="quarter" idx="10"/>
          </p:nvPr>
        </p:nvSpPr>
        <p:spPr/>
        <p:txBody>
          <a:bodyPr/>
          <a:lstStyle/>
          <a:p>
            <a:fld id="{80E6A66A-FD6D-4131-9619-10D19B8461A7}" type="slidenum">
              <a:rPr lang="en-US" smtClean="0"/>
              <a:t>17</a:t>
            </a:fld>
            <a:endParaRPr lang="en-US"/>
          </a:p>
        </p:txBody>
      </p:sp>
    </p:spTree>
    <p:extLst>
      <p:ext uri="{BB962C8B-B14F-4D97-AF65-F5344CB8AC3E}">
        <p14:creationId xmlns:p14="http://schemas.microsoft.com/office/powerpoint/2010/main" val="20814335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a:t>
            </a:r>
            <a:endParaRPr lang="en-US" dirty="0"/>
          </a:p>
        </p:txBody>
      </p:sp>
      <p:sp>
        <p:nvSpPr>
          <p:cNvPr id="4" name="Slide Number Placeholder 3"/>
          <p:cNvSpPr>
            <a:spLocks noGrp="1"/>
          </p:cNvSpPr>
          <p:nvPr>
            <p:ph type="sldNum" sz="quarter" idx="10"/>
          </p:nvPr>
        </p:nvSpPr>
        <p:spPr/>
        <p:txBody>
          <a:bodyPr/>
          <a:lstStyle/>
          <a:p>
            <a:fld id="{80E6A66A-FD6D-4131-9619-10D19B8461A7}" type="slidenum">
              <a:rPr lang="en-US" smtClean="0"/>
              <a:t>18</a:t>
            </a:fld>
            <a:endParaRPr lang="en-US"/>
          </a:p>
        </p:txBody>
      </p:sp>
    </p:spTree>
    <p:extLst>
      <p:ext uri="{BB962C8B-B14F-4D97-AF65-F5344CB8AC3E}">
        <p14:creationId xmlns:p14="http://schemas.microsoft.com/office/powerpoint/2010/main" val="39117617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a:t>
            </a:r>
            <a:endParaRPr lang="en-US" dirty="0"/>
          </a:p>
        </p:txBody>
      </p:sp>
      <p:sp>
        <p:nvSpPr>
          <p:cNvPr id="4" name="Slide Number Placeholder 3"/>
          <p:cNvSpPr>
            <a:spLocks noGrp="1"/>
          </p:cNvSpPr>
          <p:nvPr>
            <p:ph type="sldNum" sz="quarter" idx="10"/>
          </p:nvPr>
        </p:nvSpPr>
        <p:spPr/>
        <p:txBody>
          <a:bodyPr/>
          <a:lstStyle/>
          <a:p>
            <a:fld id="{80E6A66A-FD6D-4131-9619-10D19B8461A7}" type="slidenum">
              <a:rPr lang="en-US" smtClean="0"/>
              <a:t>19</a:t>
            </a:fld>
            <a:endParaRPr lang="en-US"/>
          </a:p>
        </p:txBody>
      </p:sp>
    </p:spTree>
    <p:extLst>
      <p:ext uri="{BB962C8B-B14F-4D97-AF65-F5344CB8AC3E}">
        <p14:creationId xmlns:p14="http://schemas.microsoft.com/office/powerpoint/2010/main" val="7934617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 Spinal Shock</a:t>
            </a:r>
          </a:p>
          <a:p>
            <a:endParaRPr lang="en-US" dirty="0" smtClean="0"/>
          </a:p>
          <a:p>
            <a:r>
              <a:rPr lang="en-US" dirty="0" smtClean="0"/>
              <a:t>2:</a:t>
            </a:r>
            <a:r>
              <a:rPr lang="en-US" baseline="0" dirty="0" smtClean="0"/>
              <a:t> Dorsal column</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3: Pain &amp; temperature </a:t>
            </a:r>
            <a:r>
              <a:rPr lang="en-US" baseline="0" dirty="0" smtClean="0">
                <a:sym typeface="Wingdings" panose="05000000000000000000" pitchFamily="2" charset="2"/>
              </a:rPr>
              <a:t> Lateral </a:t>
            </a:r>
            <a:r>
              <a:rPr lang="en-US" baseline="0" dirty="0" err="1" smtClean="0">
                <a:sym typeface="Wingdings" panose="05000000000000000000" pitchFamily="2" charset="2"/>
              </a:rPr>
              <a:t>spinothalamic</a:t>
            </a:r>
            <a:r>
              <a:rPr lang="en-US" baseline="0" dirty="0" smtClean="0">
                <a:sym typeface="Wingdings" panose="05000000000000000000" pitchFamily="2" charset="2"/>
              </a:rPr>
              <a:t> tract synapse at same spinal cord level then decussate  injury would manifest on contralateral side</a:t>
            </a:r>
          </a:p>
          <a:p>
            <a:r>
              <a:rPr lang="en-US" baseline="0" dirty="0" smtClean="0">
                <a:sym typeface="Wingdings" panose="05000000000000000000" pitchFamily="2" charset="2"/>
              </a:rPr>
              <a:t>   Position &amp; vibratory sense  Dorsal column  ascends through spinal cord to medulla where it synapses then decussate  injury in spinal cord would manifest on ipsilateral side</a:t>
            </a:r>
          </a:p>
          <a:p>
            <a:endParaRPr lang="en-US" baseline="0" dirty="0" smtClean="0">
              <a:sym typeface="Wingdings" panose="05000000000000000000" pitchFamily="2" charset="2"/>
            </a:endParaRPr>
          </a:p>
          <a:p>
            <a:r>
              <a:rPr lang="en-US" baseline="0" dirty="0" smtClean="0">
                <a:sym typeface="Wingdings" panose="05000000000000000000" pitchFamily="2" charset="2"/>
              </a:rPr>
              <a:t>4: UMN lesion  LMN aren’t inhibited  exaggerated reflexes (not inhibited by UMN)</a:t>
            </a:r>
          </a:p>
          <a:p>
            <a:endParaRPr lang="en-US" baseline="0" dirty="0" smtClean="0">
              <a:sym typeface="Wingdings" panose="05000000000000000000" pitchFamily="2" charset="2"/>
            </a:endParaRPr>
          </a:p>
          <a:p>
            <a:endParaRPr lang="en-US" dirty="0"/>
          </a:p>
        </p:txBody>
      </p:sp>
      <p:sp>
        <p:nvSpPr>
          <p:cNvPr id="4" name="Slide Number Placeholder 3"/>
          <p:cNvSpPr>
            <a:spLocks noGrp="1"/>
          </p:cNvSpPr>
          <p:nvPr>
            <p:ph type="sldNum" sz="quarter" idx="10"/>
          </p:nvPr>
        </p:nvSpPr>
        <p:spPr/>
        <p:txBody>
          <a:bodyPr/>
          <a:lstStyle/>
          <a:p>
            <a:fld id="{80E6A66A-FD6D-4131-9619-10D19B8461A7}" type="slidenum">
              <a:rPr lang="en-US" smtClean="0"/>
              <a:t>22</a:t>
            </a:fld>
            <a:endParaRPr lang="en-US"/>
          </a:p>
        </p:txBody>
      </p:sp>
    </p:spTree>
    <p:extLst>
      <p:ext uri="{BB962C8B-B14F-4D97-AF65-F5344CB8AC3E}">
        <p14:creationId xmlns:p14="http://schemas.microsoft.com/office/powerpoint/2010/main" val="180924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48CF02E-8D6E-4C2C-BFB7-9BA24F855E62}" type="datetimeFigureOut">
              <a:rPr lang="en-US" smtClean="0"/>
              <a:t>4/12/15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839ACD-DB90-4161-A276-C1CB9946EC32}" type="slidenum">
              <a:rPr lang="en-US" smtClean="0"/>
              <a:t>‹#›</a:t>
            </a:fld>
            <a:endParaRPr lang="en-US"/>
          </a:p>
        </p:txBody>
      </p:sp>
    </p:spTree>
    <p:extLst>
      <p:ext uri="{BB962C8B-B14F-4D97-AF65-F5344CB8AC3E}">
        <p14:creationId xmlns:p14="http://schemas.microsoft.com/office/powerpoint/2010/main" val="3532607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8CF02E-8D6E-4C2C-BFB7-9BA24F855E62}" type="datetimeFigureOut">
              <a:rPr lang="en-US" smtClean="0"/>
              <a:t>4/12/15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839ACD-DB90-4161-A276-C1CB9946EC32}" type="slidenum">
              <a:rPr lang="en-US" smtClean="0"/>
              <a:t>‹#›</a:t>
            </a:fld>
            <a:endParaRPr lang="en-US"/>
          </a:p>
        </p:txBody>
      </p:sp>
    </p:spTree>
    <p:extLst>
      <p:ext uri="{BB962C8B-B14F-4D97-AF65-F5344CB8AC3E}">
        <p14:creationId xmlns:p14="http://schemas.microsoft.com/office/powerpoint/2010/main" val="183111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48CF02E-8D6E-4C2C-BFB7-9BA24F855E62}" type="datetimeFigureOut">
              <a:rPr lang="en-US" smtClean="0"/>
              <a:t>4/12/15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839ACD-DB90-4161-A276-C1CB9946EC32}" type="slidenum">
              <a:rPr lang="en-US" smtClean="0"/>
              <a:t>‹#›</a:t>
            </a:fld>
            <a:endParaRPr lang="en-US"/>
          </a:p>
        </p:txBody>
      </p:sp>
    </p:spTree>
    <p:extLst>
      <p:ext uri="{BB962C8B-B14F-4D97-AF65-F5344CB8AC3E}">
        <p14:creationId xmlns:p14="http://schemas.microsoft.com/office/powerpoint/2010/main" val="2342103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48CF02E-8D6E-4C2C-BFB7-9BA24F855E62}" type="datetimeFigureOut">
              <a:rPr lang="en-US" smtClean="0"/>
              <a:t>4/12/15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839ACD-DB90-4161-A276-C1CB9946EC32}" type="slidenum">
              <a:rPr lang="en-US" smtClean="0"/>
              <a:t>‹#›</a:t>
            </a:fld>
            <a:endParaRPr lang="en-US"/>
          </a:p>
        </p:txBody>
      </p:sp>
    </p:spTree>
    <p:extLst>
      <p:ext uri="{BB962C8B-B14F-4D97-AF65-F5344CB8AC3E}">
        <p14:creationId xmlns:p14="http://schemas.microsoft.com/office/powerpoint/2010/main" val="4178140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48CF02E-8D6E-4C2C-BFB7-9BA24F855E62}" type="datetimeFigureOut">
              <a:rPr lang="en-US" smtClean="0"/>
              <a:t>4/12/15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839ACD-DB90-4161-A276-C1CB9946EC32}" type="slidenum">
              <a:rPr lang="en-US" smtClean="0"/>
              <a:t>‹#›</a:t>
            </a:fld>
            <a:endParaRPr lang="en-US"/>
          </a:p>
        </p:txBody>
      </p:sp>
    </p:spTree>
    <p:extLst>
      <p:ext uri="{BB962C8B-B14F-4D97-AF65-F5344CB8AC3E}">
        <p14:creationId xmlns:p14="http://schemas.microsoft.com/office/powerpoint/2010/main" val="4131662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48CF02E-8D6E-4C2C-BFB7-9BA24F855E62}" type="datetimeFigureOut">
              <a:rPr lang="en-US" smtClean="0"/>
              <a:t>4/12/15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839ACD-DB90-4161-A276-C1CB9946EC32}" type="slidenum">
              <a:rPr lang="en-US" smtClean="0"/>
              <a:t>‹#›</a:t>
            </a:fld>
            <a:endParaRPr lang="en-US"/>
          </a:p>
        </p:txBody>
      </p:sp>
    </p:spTree>
    <p:extLst>
      <p:ext uri="{BB962C8B-B14F-4D97-AF65-F5344CB8AC3E}">
        <p14:creationId xmlns:p14="http://schemas.microsoft.com/office/powerpoint/2010/main" val="3904987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8CF02E-8D6E-4C2C-BFB7-9BA24F855E62}" type="datetimeFigureOut">
              <a:rPr lang="en-US" smtClean="0"/>
              <a:t>4/12/15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839ACD-DB90-4161-A276-C1CB9946EC32}" type="slidenum">
              <a:rPr lang="en-US" smtClean="0"/>
              <a:t>‹#›</a:t>
            </a:fld>
            <a:endParaRPr lang="en-US"/>
          </a:p>
        </p:txBody>
      </p:sp>
    </p:spTree>
    <p:extLst>
      <p:ext uri="{BB962C8B-B14F-4D97-AF65-F5344CB8AC3E}">
        <p14:creationId xmlns:p14="http://schemas.microsoft.com/office/powerpoint/2010/main" val="3320627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8CF02E-8D6E-4C2C-BFB7-9BA24F855E62}" type="datetimeFigureOut">
              <a:rPr lang="en-US" smtClean="0"/>
              <a:t>4/12/15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839ACD-DB90-4161-A276-C1CB9946EC32}" type="slidenum">
              <a:rPr lang="en-US" smtClean="0"/>
              <a:t>‹#›</a:t>
            </a:fld>
            <a:endParaRPr lang="en-US"/>
          </a:p>
        </p:txBody>
      </p:sp>
    </p:spTree>
    <p:extLst>
      <p:ext uri="{BB962C8B-B14F-4D97-AF65-F5344CB8AC3E}">
        <p14:creationId xmlns:p14="http://schemas.microsoft.com/office/powerpoint/2010/main" val="1662361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8CF02E-8D6E-4C2C-BFB7-9BA24F855E62}" type="datetimeFigureOut">
              <a:rPr lang="en-US" smtClean="0"/>
              <a:t>4/12/15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839ACD-DB90-4161-A276-C1CB9946EC32}" type="slidenum">
              <a:rPr lang="en-US" smtClean="0"/>
              <a:t>‹#›</a:t>
            </a:fld>
            <a:endParaRPr lang="en-US"/>
          </a:p>
        </p:txBody>
      </p:sp>
    </p:spTree>
    <p:extLst>
      <p:ext uri="{BB962C8B-B14F-4D97-AF65-F5344CB8AC3E}">
        <p14:creationId xmlns:p14="http://schemas.microsoft.com/office/powerpoint/2010/main" val="958760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8CF02E-8D6E-4C2C-BFB7-9BA24F855E62}" type="datetimeFigureOut">
              <a:rPr lang="en-US" smtClean="0"/>
              <a:t>4/12/15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839ACD-DB90-4161-A276-C1CB9946EC32}" type="slidenum">
              <a:rPr lang="en-US" smtClean="0"/>
              <a:t>‹#›</a:t>
            </a:fld>
            <a:endParaRPr lang="en-US"/>
          </a:p>
        </p:txBody>
      </p:sp>
    </p:spTree>
    <p:extLst>
      <p:ext uri="{BB962C8B-B14F-4D97-AF65-F5344CB8AC3E}">
        <p14:creationId xmlns:p14="http://schemas.microsoft.com/office/powerpoint/2010/main" val="865660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8CF02E-8D6E-4C2C-BFB7-9BA24F855E62}" type="datetimeFigureOut">
              <a:rPr lang="en-US" smtClean="0"/>
              <a:t>4/12/15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839ACD-DB90-4161-A276-C1CB9946EC32}" type="slidenum">
              <a:rPr lang="en-US" smtClean="0"/>
              <a:t>‹#›</a:t>
            </a:fld>
            <a:endParaRPr lang="en-US"/>
          </a:p>
        </p:txBody>
      </p:sp>
    </p:spTree>
    <p:extLst>
      <p:ext uri="{BB962C8B-B14F-4D97-AF65-F5344CB8AC3E}">
        <p14:creationId xmlns:p14="http://schemas.microsoft.com/office/powerpoint/2010/main" val="1812446796"/>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8CF02E-8D6E-4C2C-BFB7-9BA24F855E62}" type="datetimeFigureOut">
              <a:rPr lang="en-US" smtClean="0"/>
              <a:t>4/12/15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839ACD-DB90-4161-A276-C1CB9946EC32}" type="slidenum">
              <a:rPr lang="en-US" smtClean="0"/>
              <a:t>‹#›</a:t>
            </a:fld>
            <a:endParaRPr lang="en-US"/>
          </a:p>
        </p:txBody>
      </p:sp>
    </p:spTree>
    <p:extLst>
      <p:ext uri="{BB962C8B-B14F-4D97-AF65-F5344CB8AC3E}">
        <p14:creationId xmlns:p14="http://schemas.microsoft.com/office/powerpoint/2010/main" val="26659757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latin typeface="AR BLANCA" panose="02000000000000000000" pitchFamily="2" charset="0"/>
              </a:rPr>
              <a:t>Neuroscience</a:t>
            </a:r>
            <a:endParaRPr lang="en-US" dirty="0">
              <a:latin typeface="AR BLANCA" panose="02000000000000000000" pitchFamily="2" charset="0"/>
            </a:endParaRPr>
          </a:p>
        </p:txBody>
      </p:sp>
      <p:sp>
        <p:nvSpPr>
          <p:cNvPr id="3" name="Subtitle 2"/>
          <p:cNvSpPr>
            <a:spLocks noGrp="1"/>
          </p:cNvSpPr>
          <p:nvPr>
            <p:ph type="subTitle" idx="1"/>
          </p:nvPr>
        </p:nvSpPr>
        <p:spPr/>
        <p:txBody>
          <a:bodyPr/>
          <a:lstStyle/>
          <a:p>
            <a:r>
              <a:rPr lang="en-US" i="1" dirty="0" smtClean="0"/>
              <a:t>TBL 1</a:t>
            </a:r>
            <a:endParaRPr lang="en-US" i="1" dirty="0"/>
          </a:p>
        </p:txBody>
      </p:sp>
      <p:sp>
        <p:nvSpPr>
          <p:cNvPr id="4" name="TextBox 3"/>
          <p:cNvSpPr txBox="1"/>
          <p:nvPr/>
        </p:nvSpPr>
        <p:spPr>
          <a:xfrm>
            <a:off x="600501" y="4804012"/>
            <a:ext cx="10959153" cy="369332"/>
          </a:xfrm>
          <a:prstGeom prst="rect">
            <a:avLst/>
          </a:prstGeom>
          <a:noFill/>
        </p:spPr>
        <p:txBody>
          <a:bodyPr wrap="square" rtlCol="0">
            <a:spAutoFit/>
          </a:bodyPr>
          <a:lstStyle/>
          <a:p>
            <a:r>
              <a:rPr lang="en-US" dirty="0" smtClean="0">
                <a:solidFill>
                  <a:srgbClr val="FF0000"/>
                </a:solidFill>
              </a:rPr>
              <a:t>Note: Check “Notes” of each slide for the answer</a:t>
            </a:r>
            <a:endParaRPr lang="en-US" dirty="0">
              <a:solidFill>
                <a:srgbClr val="FF0000"/>
              </a:solidFill>
            </a:endParaRPr>
          </a:p>
        </p:txBody>
      </p:sp>
    </p:spTree>
    <p:extLst>
      <p:ext uri="{BB962C8B-B14F-4D97-AF65-F5344CB8AC3E}">
        <p14:creationId xmlns:p14="http://schemas.microsoft.com/office/powerpoint/2010/main" val="1588750183"/>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490"/>
            <a:ext cx="10515600" cy="5808473"/>
          </a:xfrm>
        </p:spPr>
        <p:txBody>
          <a:bodyPr anchor="ctr"/>
          <a:lstStyle/>
          <a:p>
            <a:pPr marL="0" indent="0">
              <a:buNone/>
            </a:pPr>
            <a:r>
              <a:rPr lang="en-US" dirty="0" smtClean="0">
                <a:solidFill>
                  <a:schemeClr val="accent2"/>
                </a:solidFill>
              </a:rPr>
              <a:t>Q.1 The resting membrane potential of a cell results from the fact that there is an </a:t>
            </a:r>
            <a:r>
              <a:rPr lang="en-US" dirty="0">
                <a:solidFill>
                  <a:schemeClr val="accent2"/>
                </a:solidFill>
              </a:rPr>
              <a:t>u</a:t>
            </a:r>
            <a:r>
              <a:rPr lang="en-US" dirty="0" smtClean="0">
                <a:solidFill>
                  <a:schemeClr val="accent2"/>
                </a:solidFill>
              </a:rPr>
              <a:t>nequal distribution of charged ions across the membrane. Which of the following is most important in maintaining this unequal </a:t>
            </a:r>
            <a:r>
              <a:rPr lang="en-US" dirty="0" err="1" smtClean="0">
                <a:solidFill>
                  <a:schemeClr val="accent2"/>
                </a:solidFill>
              </a:rPr>
              <a:t>dirstribution</a:t>
            </a:r>
            <a:r>
              <a:rPr lang="en-US" dirty="0" smtClean="0">
                <a:solidFill>
                  <a:schemeClr val="accent2"/>
                </a:solidFill>
              </a:rPr>
              <a:t>?</a:t>
            </a:r>
          </a:p>
          <a:p>
            <a:pPr marL="514350" indent="-514350">
              <a:buAutoNum type="alphaUcPeriod"/>
            </a:pPr>
            <a:r>
              <a:rPr lang="en-US" dirty="0" smtClean="0"/>
              <a:t>High extracellular concentration of Sodium</a:t>
            </a:r>
          </a:p>
          <a:p>
            <a:pPr marL="514350" indent="-514350">
              <a:buAutoNum type="alphaUcPeriod"/>
            </a:pPr>
            <a:r>
              <a:rPr lang="en-US" dirty="0" smtClean="0"/>
              <a:t>High intracellular concentration of Potassium</a:t>
            </a:r>
          </a:p>
          <a:p>
            <a:pPr marL="514350" indent="-514350">
              <a:buAutoNum type="alphaUcPeriod"/>
            </a:pPr>
            <a:r>
              <a:rPr lang="en-US" dirty="0" smtClean="0"/>
              <a:t>Presence of non-diffusible negatively charged molecules inside the cell</a:t>
            </a:r>
          </a:p>
          <a:p>
            <a:pPr marL="514350" indent="-514350">
              <a:buAutoNum type="alphaUcPeriod"/>
            </a:pPr>
            <a:r>
              <a:rPr lang="en-US" dirty="0" smtClean="0"/>
              <a:t>The </a:t>
            </a:r>
            <a:r>
              <a:rPr lang="en-US" dirty="0" err="1" smtClean="0"/>
              <a:t>electrogenic</a:t>
            </a:r>
            <a:r>
              <a:rPr lang="en-US" dirty="0" smtClean="0"/>
              <a:t> </a:t>
            </a:r>
            <a:r>
              <a:rPr lang="en-US" dirty="0" err="1" smtClean="0"/>
              <a:t>propery</a:t>
            </a:r>
            <a:r>
              <a:rPr lang="en-US" dirty="0" smtClean="0"/>
              <a:t> of the Na+/K+ ATPase</a:t>
            </a:r>
          </a:p>
          <a:p>
            <a:pPr marL="514350" indent="-514350">
              <a:buAutoNum type="alphaUcPeriod"/>
            </a:pPr>
            <a:r>
              <a:rPr lang="en-US" dirty="0" smtClean="0"/>
              <a:t>The membrane is more permeable to certain ions than others</a:t>
            </a:r>
          </a:p>
        </p:txBody>
      </p:sp>
    </p:spTree>
    <p:extLst>
      <p:ext uri="{BB962C8B-B14F-4D97-AF65-F5344CB8AC3E}">
        <p14:creationId xmlns:p14="http://schemas.microsoft.com/office/powerpoint/2010/main" val="2065516142"/>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490"/>
            <a:ext cx="10515600" cy="5808473"/>
          </a:xfrm>
        </p:spPr>
        <p:txBody>
          <a:bodyPr anchor="ctr"/>
          <a:lstStyle/>
          <a:p>
            <a:pPr marL="0" indent="0">
              <a:buNone/>
            </a:pPr>
            <a:r>
              <a:rPr lang="en-US" dirty="0" smtClean="0">
                <a:solidFill>
                  <a:schemeClr val="accent2"/>
                </a:solidFill>
              </a:rPr>
              <a:t>Q.2 While experimenting with a nerve-muscle preparation, a medical student adds a solution that caused the nerve to generate action potentials and the muscle to contract. The solution added most likely contained a high concentration of which of the following ions ?</a:t>
            </a:r>
          </a:p>
          <a:p>
            <a:pPr marL="514350" indent="-514350">
              <a:buAutoNum type="alphaUcPeriod"/>
            </a:pPr>
            <a:r>
              <a:rPr lang="en-US" dirty="0" smtClean="0"/>
              <a:t>Ca</a:t>
            </a:r>
            <a:r>
              <a:rPr lang="en-US" baseline="30000" dirty="0" smtClean="0"/>
              <a:t>+2</a:t>
            </a:r>
          </a:p>
          <a:p>
            <a:pPr marL="514350" indent="-514350">
              <a:buAutoNum type="alphaUcPeriod"/>
            </a:pPr>
            <a:r>
              <a:rPr lang="en-US" dirty="0" smtClean="0"/>
              <a:t>Cl</a:t>
            </a:r>
            <a:r>
              <a:rPr lang="en-US" baseline="30000" dirty="0" smtClean="0"/>
              <a:t>-</a:t>
            </a:r>
          </a:p>
          <a:p>
            <a:pPr marL="514350" indent="-514350">
              <a:buAutoNum type="alphaUcPeriod"/>
            </a:pPr>
            <a:r>
              <a:rPr lang="en-US" dirty="0" smtClean="0"/>
              <a:t>H</a:t>
            </a:r>
            <a:r>
              <a:rPr lang="en-US" baseline="30000" dirty="0" smtClean="0"/>
              <a:t>+</a:t>
            </a:r>
          </a:p>
          <a:p>
            <a:pPr marL="514350" indent="-514350">
              <a:buAutoNum type="alphaUcPeriod"/>
            </a:pPr>
            <a:r>
              <a:rPr lang="en-US" dirty="0" smtClean="0"/>
              <a:t>K</a:t>
            </a:r>
            <a:r>
              <a:rPr lang="en-US" baseline="30000" dirty="0" smtClean="0"/>
              <a:t>+</a:t>
            </a:r>
          </a:p>
          <a:p>
            <a:pPr marL="514350" indent="-514350">
              <a:buAutoNum type="alphaUcPeriod"/>
            </a:pPr>
            <a:r>
              <a:rPr lang="en-US" dirty="0" smtClean="0"/>
              <a:t>Na</a:t>
            </a:r>
            <a:r>
              <a:rPr lang="en-US" baseline="30000" dirty="0" smtClean="0"/>
              <a:t>+</a:t>
            </a:r>
            <a:endParaRPr lang="en-US" dirty="0"/>
          </a:p>
        </p:txBody>
      </p:sp>
    </p:spTree>
    <p:extLst>
      <p:ext uri="{BB962C8B-B14F-4D97-AF65-F5344CB8AC3E}">
        <p14:creationId xmlns:p14="http://schemas.microsoft.com/office/powerpoint/2010/main" val="3991729536"/>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490"/>
            <a:ext cx="10515600" cy="5808473"/>
          </a:xfrm>
        </p:spPr>
        <p:txBody>
          <a:bodyPr anchor="ctr"/>
          <a:lstStyle/>
          <a:p>
            <a:pPr marL="0" indent="0">
              <a:buNone/>
            </a:pPr>
            <a:r>
              <a:rPr lang="en-US" dirty="0" smtClean="0">
                <a:solidFill>
                  <a:schemeClr val="accent2"/>
                </a:solidFill>
              </a:rPr>
              <a:t>Q.3 During a neuronal action potential there is a period when the cell cannot be activated by another stimulus, no matter how strong. This period is known as the:</a:t>
            </a:r>
            <a:endParaRPr lang="en-US" dirty="0" smtClean="0"/>
          </a:p>
          <a:p>
            <a:pPr marL="514350" indent="-514350">
              <a:buAutoNum type="alphaUcPeriod"/>
            </a:pPr>
            <a:r>
              <a:rPr lang="en-US" dirty="0" smtClean="0"/>
              <a:t>Absolute refractory period</a:t>
            </a:r>
          </a:p>
          <a:p>
            <a:pPr marL="514350" indent="-514350">
              <a:buAutoNum type="alphaUcPeriod"/>
            </a:pPr>
            <a:r>
              <a:rPr lang="en-US" dirty="0" smtClean="0"/>
              <a:t>Depolarization period</a:t>
            </a:r>
          </a:p>
          <a:p>
            <a:pPr marL="514350" indent="-514350">
              <a:buAutoNum type="alphaUcPeriod"/>
            </a:pPr>
            <a:r>
              <a:rPr lang="en-US" dirty="0" smtClean="0"/>
              <a:t>Hyperpolarization period</a:t>
            </a:r>
          </a:p>
          <a:p>
            <a:pPr marL="514350" indent="-514350">
              <a:buAutoNum type="alphaUcPeriod"/>
            </a:pPr>
            <a:r>
              <a:rPr lang="en-US" dirty="0" smtClean="0"/>
              <a:t>Relative refractory period</a:t>
            </a:r>
          </a:p>
          <a:p>
            <a:pPr marL="514350" indent="-514350">
              <a:buAutoNum type="alphaUcPeriod"/>
            </a:pPr>
            <a:r>
              <a:rPr lang="en-US" dirty="0" smtClean="0"/>
              <a:t>Repolarization period</a:t>
            </a:r>
          </a:p>
        </p:txBody>
      </p:sp>
    </p:spTree>
    <p:extLst>
      <p:ext uri="{BB962C8B-B14F-4D97-AF65-F5344CB8AC3E}">
        <p14:creationId xmlns:p14="http://schemas.microsoft.com/office/powerpoint/2010/main" val="1138911299"/>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490"/>
            <a:ext cx="10515600" cy="5808473"/>
          </a:xfrm>
        </p:spPr>
        <p:txBody>
          <a:bodyPr anchor="ctr"/>
          <a:lstStyle/>
          <a:p>
            <a:pPr marL="0" indent="0">
              <a:buNone/>
            </a:pPr>
            <a:r>
              <a:rPr lang="en-US" dirty="0" smtClean="0">
                <a:solidFill>
                  <a:schemeClr val="accent2"/>
                </a:solidFill>
              </a:rPr>
              <a:t>Q.4 you discover a neurotransmitter. You demonstrate that it acts by activating a metabotropic receptor leading to closure of a K+ Channel. What type of post synaptic potential would you predict in the target cell?</a:t>
            </a:r>
          </a:p>
          <a:p>
            <a:pPr marL="514350" indent="-514350">
              <a:buAutoNum type="alphaUcPeriod"/>
            </a:pPr>
            <a:r>
              <a:rPr lang="en-US" dirty="0" smtClean="0"/>
              <a:t>Fast excitatory post synaptic potentials</a:t>
            </a:r>
          </a:p>
          <a:p>
            <a:pPr marL="514350" indent="-514350">
              <a:buFont typeface="Arial" panose="020B0604020202020204" pitchFamily="34" charset="0"/>
              <a:buAutoNum type="alphaUcPeriod"/>
            </a:pPr>
            <a:r>
              <a:rPr lang="en-US" dirty="0" smtClean="0"/>
              <a:t>Fast inhibitory post synaptic potentials</a:t>
            </a:r>
          </a:p>
          <a:p>
            <a:pPr marL="514350" indent="-514350">
              <a:buFont typeface="Arial" panose="020B0604020202020204" pitchFamily="34" charset="0"/>
              <a:buAutoNum type="alphaUcPeriod"/>
            </a:pPr>
            <a:r>
              <a:rPr lang="en-US" dirty="0" smtClean="0"/>
              <a:t>Fast miniature end-plate potentials</a:t>
            </a:r>
          </a:p>
          <a:p>
            <a:pPr marL="514350" indent="-514350">
              <a:buFont typeface="Arial" panose="020B0604020202020204" pitchFamily="34" charset="0"/>
              <a:buAutoNum type="alphaUcPeriod"/>
            </a:pPr>
            <a:r>
              <a:rPr lang="en-US" dirty="0" smtClean="0"/>
              <a:t>Slow excitatory post synaptic potentials</a:t>
            </a:r>
          </a:p>
          <a:p>
            <a:pPr marL="514350" indent="-514350">
              <a:buFont typeface="Arial" panose="020B0604020202020204" pitchFamily="34" charset="0"/>
              <a:buAutoNum type="alphaUcPeriod"/>
            </a:pPr>
            <a:r>
              <a:rPr lang="en-US" dirty="0" smtClean="0"/>
              <a:t>Slow inhibitory post synaptic potentials</a:t>
            </a:r>
          </a:p>
          <a:p>
            <a:pPr marL="514350" indent="-514350">
              <a:buFont typeface="Arial" panose="020B0604020202020204" pitchFamily="34" charset="0"/>
              <a:buAutoNum type="alphaUcPeriod"/>
            </a:pPr>
            <a:endParaRPr lang="en-US" dirty="0" smtClean="0"/>
          </a:p>
          <a:p>
            <a:pPr marL="514350" indent="-514350">
              <a:buAutoNum type="alphaUcPeriod"/>
            </a:pPr>
            <a:endParaRPr lang="en-US" dirty="0"/>
          </a:p>
        </p:txBody>
      </p:sp>
    </p:spTree>
    <p:extLst>
      <p:ext uri="{BB962C8B-B14F-4D97-AF65-F5344CB8AC3E}">
        <p14:creationId xmlns:p14="http://schemas.microsoft.com/office/powerpoint/2010/main" val="2780480024"/>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490"/>
            <a:ext cx="10515600" cy="5808473"/>
          </a:xfrm>
        </p:spPr>
        <p:txBody>
          <a:bodyPr anchor="ctr"/>
          <a:lstStyle/>
          <a:p>
            <a:pPr marL="0" indent="0">
              <a:buNone/>
            </a:pPr>
            <a:r>
              <a:rPr lang="en-US" dirty="0" smtClean="0">
                <a:solidFill>
                  <a:schemeClr val="accent2"/>
                </a:solidFill>
              </a:rPr>
              <a:t>Q.5 You stimulate a neuron A to fire an action potential and record a synaptic response from neuron B. Which of the following is most consistent with the idea that the connection between A and B is mediated by an electrical synapse?</a:t>
            </a:r>
          </a:p>
          <a:p>
            <a:pPr marL="514350" indent="-514350">
              <a:buAutoNum type="alphaUcPeriod"/>
            </a:pPr>
            <a:r>
              <a:rPr lang="en-US" dirty="0" smtClean="0"/>
              <a:t>Absence of a delay in the response of neuron B</a:t>
            </a:r>
          </a:p>
          <a:p>
            <a:pPr marL="514350" indent="-514350">
              <a:buAutoNum type="alphaUcPeriod"/>
            </a:pPr>
            <a:r>
              <a:rPr lang="en-US" dirty="0" smtClean="0"/>
              <a:t>An action potential in neuron B elicits an EPSP in neuron A</a:t>
            </a:r>
          </a:p>
          <a:p>
            <a:pPr marL="514350" indent="-514350">
              <a:buAutoNum type="alphaUcPeriod"/>
            </a:pPr>
            <a:r>
              <a:rPr lang="en-US" dirty="0" smtClean="0"/>
              <a:t>An action potential in neuron B elicits an IPSP in neuron A</a:t>
            </a:r>
          </a:p>
          <a:p>
            <a:pPr marL="514350" indent="-514350">
              <a:buAutoNum type="alphaUcPeriod"/>
            </a:pPr>
            <a:r>
              <a:rPr lang="en-US" dirty="0" smtClean="0"/>
              <a:t>An increase in external calcium enhances the synaptic response of neuron B</a:t>
            </a:r>
          </a:p>
          <a:p>
            <a:pPr marL="514350" indent="-514350">
              <a:buAutoNum type="alphaUcPeriod"/>
            </a:pPr>
            <a:r>
              <a:rPr lang="en-US" dirty="0" smtClean="0"/>
              <a:t>Neuron B is much larger than neuron A</a:t>
            </a:r>
          </a:p>
        </p:txBody>
      </p:sp>
    </p:spTree>
    <p:extLst>
      <p:ext uri="{BB962C8B-B14F-4D97-AF65-F5344CB8AC3E}">
        <p14:creationId xmlns:p14="http://schemas.microsoft.com/office/powerpoint/2010/main" val="3692815258"/>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490"/>
            <a:ext cx="10515600" cy="5808473"/>
          </a:xfrm>
        </p:spPr>
        <p:txBody>
          <a:bodyPr anchor="ctr"/>
          <a:lstStyle/>
          <a:p>
            <a:pPr marL="0" indent="0">
              <a:buNone/>
            </a:pPr>
            <a:r>
              <a:rPr lang="en-US" dirty="0" smtClean="0">
                <a:solidFill>
                  <a:schemeClr val="accent2"/>
                </a:solidFill>
              </a:rPr>
              <a:t>Q.6 In which of the following reflexes is the primary response an inhibition of the effector ?</a:t>
            </a:r>
          </a:p>
          <a:p>
            <a:pPr marL="514350" indent="-514350">
              <a:buAutoNum type="alphaUcPeriod"/>
            </a:pPr>
            <a:r>
              <a:rPr lang="en-US" dirty="0" err="1" smtClean="0"/>
              <a:t>Cremasteric</a:t>
            </a:r>
            <a:r>
              <a:rPr lang="en-US" dirty="0" smtClean="0"/>
              <a:t> reflex</a:t>
            </a:r>
          </a:p>
          <a:p>
            <a:pPr marL="514350" indent="-514350">
              <a:buAutoNum type="alphaUcPeriod"/>
            </a:pPr>
            <a:r>
              <a:rPr lang="en-US" dirty="0" smtClean="0"/>
              <a:t>Crossed extensor reflex</a:t>
            </a:r>
          </a:p>
          <a:p>
            <a:pPr marL="514350" indent="-514350">
              <a:buAutoNum type="alphaUcPeriod"/>
            </a:pPr>
            <a:r>
              <a:rPr lang="en-US" dirty="0" smtClean="0"/>
              <a:t>Golgi tendon reflex</a:t>
            </a:r>
          </a:p>
          <a:p>
            <a:pPr marL="514350" indent="-514350">
              <a:buAutoNum type="alphaUcPeriod"/>
            </a:pPr>
            <a:r>
              <a:rPr lang="en-US" dirty="0" err="1" smtClean="0"/>
              <a:t>Myotatic</a:t>
            </a:r>
            <a:r>
              <a:rPr lang="en-US" dirty="0" smtClean="0"/>
              <a:t> (stretch) reflex</a:t>
            </a:r>
          </a:p>
          <a:p>
            <a:pPr marL="514350" indent="-514350">
              <a:buAutoNum type="alphaUcPeriod"/>
            </a:pPr>
            <a:r>
              <a:rPr lang="en-US" dirty="0" smtClean="0"/>
              <a:t>Withdrawal reflex</a:t>
            </a:r>
            <a:endParaRPr lang="en-US" dirty="0"/>
          </a:p>
        </p:txBody>
      </p:sp>
    </p:spTree>
    <p:extLst>
      <p:ext uri="{BB962C8B-B14F-4D97-AF65-F5344CB8AC3E}">
        <p14:creationId xmlns:p14="http://schemas.microsoft.com/office/powerpoint/2010/main" val="2191766647"/>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490"/>
            <a:ext cx="10515600" cy="5808473"/>
          </a:xfrm>
        </p:spPr>
        <p:txBody>
          <a:bodyPr anchor="ctr"/>
          <a:lstStyle/>
          <a:p>
            <a:pPr marL="0" indent="0">
              <a:buNone/>
            </a:pPr>
            <a:r>
              <a:rPr lang="en-US" dirty="0" smtClean="0">
                <a:solidFill>
                  <a:schemeClr val="accent2"/>
                </a:solidFill>
              </a:rPr>
              <a:t>Q.7 Twenty two years old Zafar received multiple stab wounds in the back while resisting an attempted robbery, An MRI done the next day showed hemi-section of the spinal cord at the level of the left T8 vertebra. Which one of the following spinal segments corresponds to T8 vertebral level ?</a:t>
            </a:r>
          </a:p>
          <a:p>
            <a:pPr marL="514350" indent="-514350">
              <a:buAutoNum type="alphaUcPeriod"/>
            </a:pPr>
            <a:r>
              <a:rPr lang="en-US" dirty="0" smtClean="0"/>
              <a:t>L1</a:t>
            </a:r>
          </a:p>
          <a:p>
            <a:pPr marL="514350" indent="-514350">
              <a:buAutoNum type="alphaUcPeriod"/>
            </a:pPr>
            <a:r>
              <a:rPr lang="en-US" dirty="0" smtClean="0"/>
              <a:t>T10</a:t>
            </a:r>
          </a:p>
          <a:p>
            <a:pPr marL="514350" indent="-514350">
              <a:buAutoNum type="alphaUcPeriod"/>
            </a:pPr>
            <a:r>
              <a:rPr lang="en-US" dirty="0" smtClean="0"/>
              <a:t>T11</a:t>
            </a:r>
          </a:p>
          <a:p>
            <a:pPr marL="514350" indent="-514350">
              <a:buAutoNum type="alphaUcPeriod"/>
            </a:pPr>
            <a:r>
              <a:rPr lang="en-US" dirty="0" smtClean="0"/>
              <a:t>T8</a:t>
            </a:r>
          </a:p>
          <a:p>
            <a:pPr marL="514350" indent="-514350">
              <a:buAutoNum type="alphaUcPeriod"/>
            </a:pPr>
            <a:r>
              <a:rPr lang="en-US" dirty="0" smtClean="0"/>
              <a:t>T9</a:t>
            </a:r>
            <a:endParaRPr lang="en-US" dirty="0"/>
          </a:p>
        </p:txBody>
      </p:sp>
    </p:spTree>
    <p:extLst>
      <p:ext uri="{BB962C8B-B14F-4D97-AF65-F5344CB8AC3E}">
        <p14:creationId xmlns:p14="http://schemas.microsoft.com/office/powerpoint/2010/main" val="1059389476"/>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490"/>
            <a:ext cx="10515600" cy="5808473"/>
          </a:xfrm>
        </p:spPr>
        <p:txBody>
          <a:bodyPr anchor="ctr"/>
          <a:lstStyle/>
          <a:p>
            <a:pPr marL="0" indent="0">
              <a:buNone/>
            </a:pPr>
            <a:r>
              <a:rPr lang="en-US" dirty="0" smtClean="0">
                <a:solidFill>
                  <a:schemeClr val="accent2"/>
                </a:solidFill>
              </a:rPr>
              <a:t>Q.8 A neurological exam of a patient with spinal cord injury showed left lower limb stiffness with brisk deep tendon reflexes. The reason for brisk tendon reflexes is:</a:t>
            </a:r>
          </a:p>
          <a:p>
            <a:pPr marL="514350" indent="-514350">
              <a:buAutoNum type="alphaUcPeriod"/>
            </a:pPr>
            <a:r>
              <a:rPr lang="en-US" dirty="0" smtClean="0"/>
              <a:t>Lesion in the cerebellum</a:t>
            </a:r>
          </a:p>
          <a:p>
            <a:pPr marL="514350" indent="-514350">
              <a:buAutoNum type="alphaUcPeriod"/>
            </a:pPr>
            <a:r>
              <a:rPr lang="en-US" dirty="0" smtClean="0"/>
              <a:t>Lesion in the basal ganglia</a:t>
            </a:r>
          </a:p>
          <a:p>
            <a:pPr marL="514350" indent="-514350">
              <a:buAutoNum type="alphaUcPeriod"/>
            </a:pPr>
            <a:r>
              <a:rPr lang="en-US" dirty="0" smtClean="0"/>
              <a:t>Lower motor neuron lesion</a:t>
            </a:r>
          </a:p>
          <a:p>
            <a:pPr marL="514350" indent="-514350">
              <a:buAutoNum type="alphaUcPeriod"/>
            </a:pPr>
            <a:r>
              <a:rPr lang="en-US" dirty="0" smtClean="0"/>
              <a:t>Spinal shock</a:t>
            </a:r>
          </a:p>
          <a:p>
            <a:pPr marL="514350" indent="-514350">
              <a:buAutoNum type="alphaUcPeriod"/>
            </a:pPr>
            <a:r>
              <a:rPr lang="en-US" dirty="0" smtClean="0"/>
              <a:t>Upper motor neuron lesion</a:t>
            </a:r>
            <a:endParaRPr lang="en-US" dirty="0"/>
          </a:p>
        </p:txBody>
      </p:sp>
    </p:spTree>
    <p:extLst>
      <p:ext uri="{BB962C8B-B14F-4D97-AF65-F5344CB8AC3E}">
        <p14:creationId xmlns:p14="http://schemas.microsoft.com/office/powerpoint/2010/main" val="3727841766"/>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490"/>
            <a:ext cx="10515600" cy="5808473"/>
          </a:xfrm>
        </p:spPr>
        <p:txBody>
          <a:bodyPr anchor="ctr"/>
          <a:lstStyle/>
          <a:p>
            <a:pPr marL="0" indent="0">
              <a:buNone/>
            </a:pPr>
            <a:r>
              <a:rPr lang="en-US" dirty="0" smtClean="0">
                <a:solidFill>
                  <a:schemeClr val="accent2"/>
                </a:solidFill>
              </a:rPr>
              <a:t>Q.9 Which of the following signs on examination is indicative of a complete hemi-section involving the dorsal column?</a:t>
            </a:r>
          </a:p>
          <a:p>
            <a:pPr marL="514350" indent="-514350">
              <a:buAutoNum type="alphaUcPeriod"/>
            </a:pPr>
            <a:r>
              <a:rPr lang="en-US" dirty="0" smtClean="0"/>
              <a:t>Contralateral loss of conscious proprioception below the level of the lesion</a:t>
            </a:r>
          </a:p>
          <a:p>
            <a:pPr marL="514350" indent="-514350">
              <a:buAutoNum type="alphaUcPeriod"/>
            </a:pPr>
            <a:r>
              <a:rPr lang="en-US" dirty="0" smtClean="0"/>
              <a:t>Contralateral loss of discriminative touch starting at 1-2 segments below the level of the lesion</a:t>
            </a:r>
          </a:p>
          <a:p>
            <a:pPr marL="514350" indent="-514350">
              <a:buAutoNum type="alphaUcPeriod"/>
            </a:pPr>
            <a:r>
              <a:rPr lang="en-US" dirty="0" smtClean="0"/>
              <a:t>Intact vibratory sensation </a:t>
            </a:r>
            <a:r>
              <a:rPr lang="en-US" dirty="0" err="1" smtClean="0"/>
              <a:t>ipsilaterally</a:t>
            </a:r>
            <a:r>
              <a:rPr lang="en-US" dirty="0" smtClean="0"/>
              <a:t> below the level of the lesion</a:t>
            </a:r>
          </a:p>
          <a:p>
            <a:pPr marL="514350" indent="-514350">
              <a:buAutoNum type="alphaUcPeriod"/>
            </a:pPr>
            <a:r>
              <a:rPr lang="en-US" dirty="0" smtClean="0"/>
              <a:t>Ipsilateral loss of conscious proprioception below the level of the lesion</a:t>
            </a:r>
          </a:p>
          <a:p>
            <a:pPr marL="514350" indent="-514350">
              <a:buAutoNum type="alphaUcPeriod"/>
            </a:pPr>
            <a:r>
              <a:rPr lang="en-US" dirty="0" smtClean="0"/>
              <a:t>Loss of pain and temperature sensation </a:t>
            </a:r>
            <a:r>
              <a:rPr lang="en-US" dirty="0" err="1" smtClean="0"/>
              <a:t>ipsilaterally</a:t>
            </a:r>
            <a:r>
              <a:rPr lang="en-US" dirty="0" smtClean="0"/>
              <a:t> below the level of the lesion</a:t>
            </a:r>
            <a:endParaRPr lang="en-US" dirty="0"/>
          </a:p>
        </p:txBody>
      </p:sp>
    </p:spTree>
    <p:extLst>
      <p:ext uri="{BB962C8B-B14F-4D97-AF65-F5344CB8AC3E}">
        <p14:creationId xmlns:p14="http://schemas.microsoft.com/office/powerpoint/2010/main" val="2931822918"/>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490"/>
            <a:ext cx="10515600" cy="5808473"/>
          </a:xfrm>
        </p:spPr>
        <p:txBody>
          <a:bodyPr anchor="ctr"/>
          <a:lstStyle/>
          <a:p>
            <a:pPr marL="0" indent="0">
              <a:buNone/>
            </a:pPr>
            <a:r>
              <a:rPr lang="en-US" dirty="0" smtClean="0">
                <a:solidFill>
                  <a:schemeClr val="accent2"/>
                </a:solidFill>
              </a:rPr>
              <a:t>Q10. Which one of the following represents the embryological origin of the structure lying on either side of the third ventricle?</a:t>
            </a:r>
          </a:p>
          <a:p>
            <a:pPr marL="514350" indent="-514350">
              <a:buAutoNum type="alphaUcPeriod"/>
            </a:pPr>
            <a:r>
              <a:rPr lang="en-US" dirty="0" smtClean="0"/>
              <a:t>Diencephalon</a:t>
            </a:r>
          </a:p>
          <a:p>
            <a:pPr marL="514350" indent="-514350">
              <a:buAutoNum type="alphaUcPeriod"/>
            </a:pPr>
            <a:r>
              <a:rPr lang="en-US" dirty="0" smtClean="0"/>
              <a:t>Mesencephalon</a:t>
            </a:r>
          </a:p>
          <a:p>
            <a:pPr marL="514350" indent="-514350">
              <a:buAutoNum type="alphaUcPeriod"/>
            </a:pPr>
            <a:r>
              <a:rPr lang="en-US" dirty="0" err="1" smtClean="0"/>
              <a:t>Metencephalon</a:t>
            </a:r>
            <a:endParaRPr lang="en-US" dirty="0" smtClean="0"/>
          </a:p>
          <a:p>
            <a:pPr marL="514350" indent="-514350">
              <a:buAutoNum type="alphaUcPeriod"/>
            </a:pPr>
            <a:r>
              <a:rPr lang="en-US" dirty="0" err="1" smtClean="0"/>
              <a:t>Myelencephalon</a:t>
            </a:r>
            <a:endParaRPr lang="en-US" dirty="0"/>
          </a:p>
          <a:p>
            <a:pPr marL="514350" indent="-514350">
              <a:buAutoNum type="alphaUcPeriod"/>
            </a:pPr>
            <a:r>
              <a:rPr lang="en-US" dirty="0" smtClean="0"/>
              <a:t>Telencephalon</a:t>
            </a:r>
          </a:p>
          <a:p>
            <a:pPr marL="0" indent="0">
              <a:buNone/>
            </a:pPr>
            <a:endParaRPr lang="en-US" dirty="0">
              <a:solidFill>
                <a:schemeClr val="accent2"/>
              </a:solidFill>
            </a:endParaRPr>
          </a:p>
        </p:txBody>
      </p:sp>
    </p:spTree>
    <p:extLst>
      <p:ext uri="{BB962C8B-B14F-4D97-AF65-F5344CB8AC3E}">
        <p14:creationId xmlns:p14="http://schemas.microsoft.com/office/powerpoint/2010/main" val="1521079318"/>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490"/>
            <a:ext cx="10515600" cy="5808473"/>
          </a:xfrm>
        </p:spPr>
        <p:txBody>
          <a:bodyPr anchor="ctr"/>
          <a:lstStyle/>
          <a:p>
            <a:pPr marL="0" indent="0">
              <a:buNone/>
            </a:pPr>
            <a:r>
              <a:rPr lang="en-US" dirty="0" smtClean="0">
                <a:solidFill>
                  <a:schemeClr val="accent2"/>
                </a:solidFill>
              </a:rPr>
              <a:t>Q.11 The following diagram is showing the structural organization of meninges and interventricular system of the brain. Which one of the following labels is pointing to Arachnoid Villi?</a:t>
            </a:r>
          </a:p>
          <a:p>
            <a:pPr marL="514350" indent="-514350">
              <a:buAutoNum type="alphaUcPeriod"/>
            </a:pPr>
            <a:r>
              <a:rPr lang="en-US" dirty="0" smtClean="0"/>
              <a:t>1</a:t>
            </a:r>
          </a:p>
          <a:p>
            <a:pPr marL="514350" indent="-514350">
              <a:buAutoNum type="alphaUcPeriod"/>
            </a:pPr>
            <a:r>
              <a:rPr lang="en-US" dirty="0" smtClean="0"/>
              <a:t>2</a:t>
            </a:r>
          </a:p>
          <a:p>
            <a:pPr marL="514350" indent="-514350">
              <a:buAutoNum type="alphaUcPeriod"/>
            </a:pPr>
            <a:r>
              <a:rPr lang="en-US" dirty="0" smtClean="0"/>
              <a:t>3</a:t>
            </a:r>
          </a:p>
          <a:p>
            <a:pPr marL="514350" indent="-514350">
              <a:buAutoNum type="alphaUcPeriod"/>
            </a:pPr>
            <a:r>
              <a:rPr lang="en-US" dirty="0" smtClean="0"/>
              <a:t>4</a:t>
            </a:r>
          </a:p>
          <a:p>
            <a:pPr marL="514350" indent="-514350">
              <a:buAutoNum type="alphaUcPeriod"/>
            </a:pPr>
            <a:r>
              <a:rPr lang="en-US" dirty="0"/>
              <a:t>5</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0258" y="2683907"/>
            <a:ext cx="4987759" cy="3493056"/>
          </a:xfrm>
          <a:prstGeom prst="rect">
            <a:avLst/>
          </a:prstGeom>
        </p:spPr>
      </p:pic>
    </p:spTree>
    <p:extLst>
      <p:ext uri="{BB962C8B-B14F-4D97-AF65-F5344CB8AC3E}">
        <p14:creationId xmlns:p14="http://schemas.microsoft.com/office/powerpoint/2010/main" val="1992229229"/>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490"/>
            <a:ext cx="10515600" cy="5808473"/>
          </a:xfrm>
        </p:spPr>
        <p:txBody>
          <a:bodyPr anchor="ctr"/>
          <a:lstStyle/>
          <a:p>
            <a:pPr marL="0" indent="0">
              <a:buNone/>
            </a:pPr>
            <a:r>
              <a:rPr lang="en-US" dirty="0" smtClean="0">
                <a:solidFill>
                  <a:schemeClr val="accent2"/>
                </a:solidFill>
              </a:rPr>
              <a:t>Q.12 Which one of the following cells is the resident macrophage of the central nervous system ?</a:t>
            </a:r>
          </a:p>
          <a:p>
            <a:pPr marL="514350" indent="-514350">
              <a:buAutoNum type="alphaUcPeriod"/>
            </a:pPr>
            <a:r>
              <a:rPr lang="en-US" dirty="0" smtClean="0"/>
              <a:t>Astrocytes</a:t>
            </a:r>
          </a:p>
          <a:p>
            <a:pPr marL="514350" indent="-514350">
              <a:buAutoNum type="alphaUcPeriod"/>
            </a:pPr>
            <a:r>
              <a:rPr lang="en-US" dirty="0" smtClean="0"/>
              <a:t>Microglia</a:t>
            </a:r>
          </a:p>
          <a:p>
            <a:pPr marL="514350" indent="-514350">
              <a:buAutoNum type="alphaUcPeriod"/>
            </a:pPr>
            <a:r>
              <a:rPr lang="en-US" dirty="0" smtClean="0"/>
              <a:t>Oligodendrocytes</a:t>
            </a:r>
          </a:p>
          <a:p>
            <a:pPr marL="514350" indent="-514350">
              <a:buAutoNum type="alphaUcPeriod"/>
            </a:pPr>
            <a:r>
              <a:rPr lang="en-US" dirty="0" smtClean="0"/>
              <a:t>Pyramidal cells</a:t>
            </a:r>
          </a:p>
          <a:p>
            <a:pPr marL="514350" indent="-514350">
              <a:buAutoNum type="alphaUcPeriod"/>
            </a:pPr>
            <a:r>
              <a:rPr lang="en-US" dirty="0" smtClean="0"/>
              <a:t>Schwann cells</a:t>
            </a:r>
          </a:p>
          <a:p>
            <a:pPr marL="0" indent="0">
              <a:buNone/>
            </a:pPr>
            <a:endParaRPr lang="en-US" dirty="0">
              <a:solidFill>
                <a:schemeClr val="accent2"/>
              </a:solidFill>
            </a:endParaRPr>
          </a:p>
        </p:txBody>
      </p:sp>
    </p:spTree>
    <p:extLst>
      <p:ext uri="{BB962C8B-B14F-4D97-AF65-F5344CB8AC3E}">
        <p14:creationId xmlns:p14="http://schemas.microsoft.com/office/powerpoint/2010/main" val="3281783629"/>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490"/>
            <a:ext cx="10515600" cy="5808473"/>
          </a:xfrm>
        </p:spPr>
        <p:txBody>
          <a:bodyPr anchor="ctr"/>
          <a:lstStyle/>
          <a:p>
            <a:pPr marL="0" indent="0">
              <a:buNone/>
            </a:pPr>
            <a:r>
              <a:rPr lang="en-US" dirty="0" smtClean="0">
                <a:solidFill>
                  <a:schemeClr val="accent2"/>
                </a:solidFill>
              </a:rPr>
              <a:t>Q.13 A 65 year old woman has been receiving hemodialysis for chronic renal failure and has noted increasing loss of sensation in her legs for the past 2 years. On physical examination, there is symmetrically decreased sensation over both lower extremities. She has no decrease in strength or abnormality of gait. What is most likely diagnosis in this case ?</a:t>
            </a:r>
          </a:p>
          <a:p>
            <a:pPr marL="514350" indent="-514350">
              <a:buAutoNum type="alphaUcPeriod"/>
            </a:pPr>
            <a:r>
              <a:rPr lang="en-US" dirty="0" smtClean="0"/>
              <a:t>Systemic vasculitis</a:t>
            </a:r>
          </a:p>
          <a:p>
            <a:pPr marL="514350" indent="-514350">
              <a:buAutoNum type="alphaUcPeriod"/>
            </a:pPr>
            <a:r>
              <a:rPr lang="en-US" dirty="0" smtClean="0"/>
              <a:t>Diabetes mellitus</a:t>
            </a:r>
          </a:p>
          <a:p>
            <a:pPr marL="514350" indent="-514350">
              <a:buAutoNum type="alphaUcPeriod"/>
            </a:pPr>
            <a:r>
              <a:rPr lang="en-US" dirty="0" err="1" smtClean="0"/>
              <a:t>Paraneoplastic</a:t>
            </a:r>
            <a:r>
              <a:rPr lang="en-US" dirty="0" smtClean="0"/>
              <a:t> syndrome</a:t>
            </a:r>
          </a:p>
          <a:p>
            <a:pPr marL="514350" indent="-514350">
              <a:buFont typeface="Arial" panose="020B0604020202020204" pitchFamily="34" charset="0"/>
              <a:buAutoNum type="alphaUcPeriod"/>
            </a:pPr>
            <a:r>
              <a:rPr lang="en-US" dirty="0" err="1" smtClean="0"/>
              <a:t>Guillain-Barré</a:t>
            </a:r>
            <a:r>
              <a:rPr lang="en-US" dirty="0" smtClean="0"/>
              <a:t> syndrome</a:t>
            </a:r>
          </a:p>
          <a:p>
            <a:pPr marL="514350" indent="-514350">
              <a:buFont typeface="Arial" panose="020B0604020202020204" pitchFamily="34" charset="0"/>
              <a:buAutoNum type="alphaUcPeriod"/>
            </a:pPr>
            <a:r>
              <a:rPr lang="en-US" dirty="0" smtClean="0"/>
              <a:t>Chronic inflammatory  demyelinating polyneuropathy</a:t>
            </a:r>
            <a:endParaRPr lang="en-US" dirty="0"/>
          </a:p>
        </p:txBody>
      </p:sp>
    </p:spTree>
    <p:extLst>
      <p:ext uri="{BB962C8B-B14F-4D97-AF65-F5344CB8AC3E}">
        <p14:creationId xmlns:p14="http://schemas.microsoft.com/office/powerpoint/2010/main" val="1850869187"/>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490"/>
            <a:ext cx="10515600" cy="5808473"/>
          </a:xfrm>
        </p:spPr>
        <p:txBody>
          <a:bodyPr anchor="ctr"/>
          <a:lstStyle/>
          <a:p>
            <a:pPr marL="0" indent="0">
              <a:buNone/>
            </a:pPr>
            <a:r>
              <a:rPr lang="en-US" dirty="0" smtClean="0">
                <a:solidFill>
                  <a:schemeClr val="accent2"/>
                </a:solidFill>
              </a:rPr>
              <a:t>Q.14 A 35-year-old man had an influenza-like illness for one week. A few days later, he experienced a rapidly progressive, ascending motor weakness that required intubation and mechanical ventilation. On physical examination, he is now afebrile and has 3/5 motor strength in his extremities. The patient recovers completely in 3 weeks. Which of the following laboratory test findings would you have most likely expected to be present during his illness ?</a:t>
            </a:r>
          </a:p>
          <a:p>
            <a:pPr marL="514350" indent="-514350">
              <a:buAutoNum type="alphaUcPeriod"/>
            </a:pPr>
            <a:r>
              <a:rPr lang="en-US" dirty="0" smtClean="0"/>
              <a:t>CSF with </a:t>
            </a:r>
            <a:r>
              <a:rPr lang="en-US" dirty="0" err="1" smtClean="0"/>
              <a:t>albominocytologic</a:t>
            </a:r>
            <a:r>
              <a:rPr lang="en-US" dirty="0" smtClean="0"/>
              <a:t> dissociation</a:t>
            </a:r>
          </a:p>
          <a:p>
            <a:pPr marL="514350" indent="-514350">
              <a:buAutoNum type="alphaUcPeriod"/>
            </a:pPr>
            <a:r>
              <a:rPr lang="en-US" dirty="0" smtClean="0"/>
              <a:t>Decreased serum level of vitamin B12</a:t>
            </a:r>
          </a:p>
          <a:p>
            <a:pPr marL="514350" indent="-514350">
              <a:buAutoNum type="alphaUcPeriod"/>
            </a:pPr>
            <a:r>
              <a:rPr lang="en-US" dirty="0" smtClean="0"/>
              <a:t>Increased amount of lead in plasma</a:t>
            </a:r>
          </a:p>
          <a:p>
            <a:pPr marL="514350" indent="-514350">
              <a:buAutoNum type="alphaUcPeriod"/>
            </a:pPr>
            <a:r>
              <a:rPr lang="en-US" dirty="0" smtClean="0"/>
              <a:t>Mutation in PMP22</a:t>
            </a:r>
          </a:p>
          <a:p>
            <a:pPr marL="514350" indent="-514350">
              <a:buAutoNum type="alphaUcPeriod"/>
            </a:pPr>
            <a:r>
              <a:rPr lang="en-US" dirty="0" smtClean="0"/>
              <a:t>Serum glucose of 210 mg/</a:t>
            </a:r>
            <a:r>
              <a:rPr lang="en-US" dirty="0" err="1" smtClean="0"/>
              <a:t>dL</a:t>
            </a:r>
            <a:endParaRPr lang="en-US" dirty="0" smtClean="0"/>
          </a:p>
          <a:p>
            <a:pPr marL="514350" indent="-514350">
              <a:buAutoNum type="alphaUcPeriod"/>
            </a:pPr>
            <a:endParaRPr lang="en-US" dirty="0">
              <a:solidFill>
                <a:schemeClr val="accent2"/>
              </a:solidFill>
            </a:endParaRPr>
          </a:p>
        </p:txBody>
      </p:sp>
    </p:spTree>
    <p:extLst>
      <p:ext uri="{BB962C8B-B14F-4D97-AF65-F5344CB8AC3E}">
        <p14:creationId xmlns:p14="http://schemas.microsoft.com/office/powerpoint/2010/main" val="1240684549"/>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490"/>
            <a:ext cx="10515600" cy="5808473"/>
          </a:xfrm>
        </p:spPr>
        <p:txBody>
          <a:bodyPr anchor="ctr"/>
          <a:lstStyle/>
          <a:p>
            <a:pPr marL="0" indent="0">
              <a:buNone/>
            </a:pPr>
            <a:r>
              <a:rPr lang="en-US" dirty="0" smtClean="0">
                <a:solidFill>
                  <a:schemeClr val="accent2"/>
                </a:solidFill>
              </a:rPr>
              <a:t>Q.15 Among local anesthetics, the esters have a shorter half-life than the amides. This effect is attributed to:</a:t>
            </a:r>
          </a:p>
          <a:p>
            <a:pPr marL="514350" indent="-514350">
              <a:buAutoNum type="alphaUcPeriod"/>
            </a:pPr>
            <a:r>
              <a:rPr lang="en-US" dirty="0" smtClean="0"/>
              <a:t>Extensive hepatic metabolism</a:t>
            </a:r>
          </a:p>
          <a:p>
            <a:pPr marL="514350" indent="-514350">
              <a:buAutoNum type="alphaUcPeriod"/>
            </a:pPr>
            <a:r>
              <a:rPr lang="en-US" dirty="0" smtClean="0"/>
              <a:t>Lower plasma protein binding</a:t>
            </a:r>
          </a:p>
          <a:p>
            <a:pPr marL="514350" indent="-514350">
              <a:buAutoNum type="alphaUcPeriod"/>
            </a:pPr>
            <a:r>
              <a:rPr lang="en-US" dirty="0" smtClean="0"/>
              <a:t>Non-enzymatic degradation</a:t>
            </a:r>
          </a:p>
          <a:p>
            <a:pPr marL="514350" indent="-514350">
              <a:buAutoNum type="alphaUcPeriod"/>
            </a:pPr>
            <a:r>
              <a:rPr lang="en-US" dirty="0" smtClean="0"/>
              <a:t>pH-dependent inactivation in tissues</a:t>
            </a:r>
          </a:p>
          <a:p>
            <a:pPr marL="514350" indent="-514350">
              <a:buAutoNum type="alphaUcPeriod"/>
            </a:pPr>
            <a:r>
              <a:rPr lang="en-US" dirty="0" smtClean="0"/>
              <a:t>Plasma </a:t>
            </a:r>
            <a:r>
              <a:rPr lang="en-US" dirty="0" err="1" smtClean="0"/>
              <a:t>esterases</a:t>
            </a:r>
            <a:endParaRPr lang="en-US" dirty="0"/>
          </a:p>
        </p:txBody>
      </p:sp>
    </p:spTree>
    <p:extLst>
      <p:ext uri="{BB962C8B-B14F-4D97-AF65-F5344CB8AC3E}">
        <p14:creationId xmlns:p14="http://schemas.microsoft.com/office/powerpoint/2010/main" val="1431223529"/>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490"/>
            <a:ext cx="10515600" cy="5808473"/>
          </a:xfrm>
        </p:spPr>
        <p:txBody>
          <a:bodyPr anchor="ctr"/>
          <a:lstStyle/>
          <a:p>
            <a:pPr marL="0" indent="0">
              <a:buNone/>
            </a:pPr>
            <a:r>
              <a:rPr lang="en-US" dirty="0" smtClean="0">
                <a:solidFill>
                  <a:schemeClr val="accent2"/>
                </a:solidFill>
              </a:rPr>
              <a:t>Q.16 Among intravenous anesthetics Thiopental has a shorter duration of action as an intravenous anesthetic due to:</a:t>
            </a:r>
          </a:p>
          <a:p>
            <a:pPr marL="514350" indent="-514350">
              <a:buAutoNum type="alphaUcPeriod"/>
            </a:pPr>
            <a:r>
              <a:rPr lang="en-US" dirty="0" smtClean="0"/>
              <a:t>Extensive hepatic metabolism</a:t>
            </a:r>
          </a:p>
          <a:p>
            <a:pPr marL="514350" indent="-514350">
              <a:buAutoNum type="alphaUcPeriod"/>
            </a:pPr>
            <a:r>
              <a:rPr lang="en-US" dirty="0" smtClean="0"/>
              <a:t>High volume of distribution</a:t>
            </a:r>
          </a:p>
          <a:p>
            <a:pPr marL="514350" indent="-514350">
              <a:buAutoNum type="alphaUcPeriod"/>
            </a:pPr>
            <a:r>
              <a:rPr lang="en-US" dirty="0" smtClean="0"/>
              <a:t>Plasma </a:t>
            </a:r>
            <a:r>
              <a:rPr lang="en-US" dirty="0" err="1" smtClean="0"/>
              <a:t>esterases</a:t>
            </a:r>
            <a:endParaRPr lang="en-US" dirty="0" smtClean="0"/>
          </a:p>
          <a:p>
            <a:pPr marL="514350" indent="-514350">
              <a:buAutoNum type="alphaUcPeriod"/>
            </a:pPr>
            <a:r>
              <a:rPr lang="en-US" dirty="0" smtClean="0"/>
              <a:t>Redistribution</a:t>
            </a:r>
          </a:p>
          <a:p>
            <a:pPr marL="514350" indent="-514350">
              <a:buAutoNum type="alphaUcPeriod"/>
            </a:pPr>
            <a:r>
              <a:rPr lang="en-US" dirty="0" smtClean="0"/>
              <a:t>Renal clearance</a:t>
            </a:r>
            <a:endParaRPr lang="en-US" dirty="0"/>
          </a:p>
        </p:txBody>
      </p:sp>
    </p:spTree>
    <p:extLst>
      <p:ext uri="{BB962C8B-B14F-4D97-AF65-F5344CB8AC3E}">
        <p14:creationId xmlns:p14="http://schemas.microsoft.com/office/powerpoint/2010/main" val="1635288766"/>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490"/>
            <a:ext cx="10515600" cy="5808473"/>
          </a:xfrm>
        </p:spPr>
        <p:txBody>
          <a:bodyPr/>
          <a:lstStyle/>
          <a:p>
            <a:pPr marL="0" indent="0">
              <a:buNone/>
            </a:pPr>
            <a:r>
              <a:rPr lang="en-US" dirty="0" smtClean="0">
                <a:solidFill>
                  <a:schemeClr val="accent2"/>
                </a:solidFill>
              </a:rPr>
              <a:t>Q.17 A patient was admitted to the neurology ward with ascending paralysis. His medical history was significant for gastrointestinal infection caused by Gram negative curved bacilli a few weeks before onset of neurological symptoms. The doctor confirmed that the present condition is linked to his recent infection. The most likely underlying pathology is:</a:t>
            </a:r>
          </a:p>
          <a:p>
            <a:pPr marL="514350" indent="-514350">
              <a:buAutoNum type="alphaUcPeriod"/>
            </a:pPr>
            <a:r>
              <a:rPr lang="en-US" dirty="0" smtClean="0"/>
              <a:t>Demyelination due to autoimmune response</a:t>
            </a:r>
          </a:p>
          <a:p>
            <a:pPr marL="514350" indent="-514350">
              <a:buAutoNum type="alphaUcPeriod"/>
            </a:pPr>
            <a:r>
              <a:rPr lang="en-US" dirty="0" smtClean="0"/>
              <a:t>Focal myelin stripping by B-lymphocytes</a:t>
            </a:r>
          </a:p>
          <a:p>
            <a:pPr marL="514350" indent="-514350">
              <a:buAutoNum type="alphaUcPeriod"/>
            </a:pPr>
            <a:r>
              <a:rPr lang="en-US" dirty="0" smtClean="0"/>
              <a:t>Toxin induced inhibition of neurotransmitters at the peripheral synapses</a:t>
            </a:r>
          </a:p>
          <a:p>
            <a:pPr marL="514350" indent="-514350">
              <a:buAutoNum type="alphaUcPeriod"/>
            </a:pPr>
            <a:r>
              <a:rPr lang="en-US" dirty="0" smtClean="0"/>
              <a:t>Reactivation of latent organisms in the dorsal ganglion</a:t>
            </a:r>
          </a:p>
          <a:p>
            <a:pPr marL="514350" indent="-514350">
              <a:buAutoNum type="alphaUcPeriod"/>
            </a:pPr>
            <a:r>
              <a:rPr lang="en-US" dirty="0" smtClean="0"/>
              <a:t>Demyelination due to direct bacterial infection</a:t>
            </a:r>
            <a:endParaRPr lang="en-US" dirty="0"/>
          </a:p>
        </p:txBody>
      </p:sp>
    </p:spTree>
    <p:extLst>
      <p:ext uri="{BB962C8B-B14F-4D97-AF65-F5344CB8AC3E}">
        <p14:creationId xmlns:p14="http://schemas.microsoft.com/office/powerpoint/2010/main" val="4264092099"/>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491"/>
            <a:ext cx="10515600" cy="2142698"/>
          </a:xfrm>
        </p:spPr>
        <p:txBody>
          <a:bodyPr anchor="ctr"/>
          <a:lstStyle/>
          <a:p>
            <a:pPr marL="0" indent="0">
              <a:buNone/>
            </a:pPr>
            <a:r>
              <a:rPr lang="en-US" dirty="0" smtClean="0">
                <a:solidFill>
                  <a:schemeClr val="accent2"/>
                </a:solidFill>
              </a:rPr>
              <a:t>Q.18 A 65 year old man presented vesicular lesion shown in the image below. Laboratory investigation confirmed presence of </a:t>
            </a:r>
            <a:r>
              <a:rPr lang="en-US" dirty="0" err="1" smtClean="0">
                <a:solidFill>
                  <a:schemeClr val="accent2"/>
                </a:solidFill>
              </a:rPr>
              <a:t>IgM</a:t>
            </a:r>
            <a:r>
              <a:rPr lang="en-US" dirty="0" smtClean="0">
                <a:solidFill>
                  <a:schemeClr val="accent2"/>
                </a:solidFill>
              </a:rPr>
              <a:t> against Varicella Zoster virus. Which one of the following is most likely to be true for this condition?</a:t>
            </a:r>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23209" t="715" r="5398" b="800"/>
          <a:stretch/>
        </p:blipFill>
        <p:spPr>
          <a:xfrm>
            <a:off x="7505773" y="2347414"/>
            <a:ext cx="3848027" cy="4401205"/>
          </a:xfrm>
          <a:prstGeom prst="rect">
            <a:avLst/>
          </a:prstGeom>
        </p:spPr>
      </p:pic>
      <p:sp>
        <p:nvSpPr>
          <p:cNvPr id="4" name="TextBox 3"/>
          <p:cNvSpPr txBox="1"/>
          <p:nvPr/>
        </p:nvSpPr>
        <p:spPr>
          <a:xfrm>
            <a:off x="838200" y="2347415"/>
            <a:ext cx="6900081" cy="4401205"/>
          </a:xfrm>
          <a:prstGeom prst="rect">
            <a:avLst/>
          </a:prstGeom>
          <a:noFill/>
        </p:spPr>
        <p:txBody>
          <a:bodyPr wrap="square" rtlCol="0">
            <a:spAutoFit/>
          </a:bodyPr>
          <a:lstStyle/>
          <a:p>
            <a:pPr marL="514350" indent="-514350">
              <a:buAutoNum type="alphaUcPeriod"/>
            </a:pPr>
            <a:r>
              <a:rPr lang="en-US" sz="2800" dirty="0"/>
              <a:t>It is a manifestation of primary Varicella Zoster virus infection</a:t>
            </a:r>
          </a:p>
          <a:p>
            <a:pPr marL="514350" indent="-514350">
              <a:buAutoNum type="alphaUcPeriod"/>
            </a:pPr>
            <a:r>
              <a:rPr lang="en-US" sz="2800" dirty="0"/>
              <a:t>Acute neuritis occurs as a prodromal symptom</a:t>
            </a:r>
          </a:p>
          <a:p>
            <a:pPr marL="514350" indent="-514350">
              <a:buAutoNum type="alphaUcPeriod"/>
            </a:pPr>
            <a:r>
              <a:rPr lang="en-US" sz="2800" dirty="0"/>
              <a:t>Appearance of lesions is preceded by a phase of </a:t>
            </a:r>
            <a:r>
              <a:rPr lang="en-US" sz="2800" dirty="0" err="1"/>
              <a:t>viraemia</a:t>
            </a:r>
            <a:endParaRPr lang="en-US" sz="2800" dirty="0"/>
          </a:p>
          <a:p>
            <a:pPr marL="514350" indent="-514350">
              <a:buAutoNum type="alphaUcPeriod"/>
            </a:pPr>
            <a:r>
              <a:rPr lang="en-US" sz="2800" dirty="0"/>
              <a:t>Droplet precautions should be instituted for infection control</a:t>
            </a:r>
          </a:p>
          <a:p>
            <a:pPr marL="514350" indent="-514350">
              <a:buAutoNum type="alphaUcPeriod"/>
            </a:pPr>
            <a:r>
              <a:rPr lang="en-US" sz="2800" dirty="0"/>
              <a:t>Increased pain perception is due to an autoimmune neuropathy</a:t>
            </a:r>
            <a:r>
              <a:rPr lang="en-US" sz="2800" dirty="0" smtClean="0"/>
              <a:t>.</a:t>
            </a:r>
            <a:endParaRPr lang="en-US" sz="2800" dirty="0"/>
          </a:p>
        </p:txBody>
      </p:sp>
    </p:spTree>
    <p:extLst>
      <p:ext uri="{BB962C8B-B14F-4D97-AF65-F5344CB8AC3E}">
        <p14:creationId xmlns:p14="http://schemas.microsoft.com/office/powerpoint/2010/main" val="930699815"/>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4552" y="2507823"/>
            <a:ext cx="10515600" cy="1325563"/>
          </a:xfrm>
        </p:spPr>
        <p:txBody>
          <a:bodyPr>
            <a:normAutofit fontScale="90000"/>
          </a:bodyPr>
          <a:lstStyle/>
          <a:p>
            <a:pPr algn="ctr"/>
            <a:r>
              <a:rPr lang="en-US" sz="9800" dirty="0" smtClean="0">
                <a:latin typeface="Adobe Devanagari" panose="02040503050201020203" pitchFamily="18" charset="0"/>
                <a:cs typeface="Adobe Devanagari" panose="02040503050201020203" pitchFamily="18" charset="0"/>
              </a:rPr>
              <a:t>SAQ</a:t>
            </a:r>
            <a:endParaRPr lang="en-US" dirty="0">
              <a:latin typeface="Adobe Devanagari" panose="02040503050201020203" pitchFamily="18" charset="0"/>
              <a:cs typeface="Adobe Devanagari" panose="02040503050201020203" pitchFamily="18" charset="0"/>
            </a:endParaRPr>
          </a:p>
        </p:txBody>
      </p:sp>
    </p:spTree>
    <p:extLst>
      <p:ext uri="{BB962C8B-B14F-4D97-AF65-F5344CB8AC3E}">
        <p14:creationId xmlns:p14="http://schemas.microsoft.com/office/powerpoint/2010/main" val="3465307355"/>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3359" y="0"/>
            <a:ext cx="10515600" cy="6858000"/>
          </a:xfrm>
        </p:spPr>
        <p:txBody>
          <a:bodyPr anchor="ctr">
            <a:noAutofit/>
          </a:bodyPr>
          <a:lstStyle/>
          <a:p>
            <a:pPr marL="0" indent="0" algn="ctr">
              <a:buNone/>
            </a:pPr>
            <a:r>
              <a:rPr lang="en-US" sz="2400" b="1" u="sng" dirty="0" smtClean="0"/>
              <a:t>Clinical Scenario</a:t>
            </a:r>
          </a:p>
          <a:p>
            <a:pPr marL="0" indent="0">
              <a:lnSpc>
                <a:spcPct val="100000"/>
              </a:lnSpc>
              <a:buNone/>
            </a:pPr>
            <a:r>
              <a:rPr lang="en-US" sz="2400" dirty="0" smtClean="0"/>
              <a:t>On </a:t>
            </a:r>
            <a:r>
              <a:rPr lang="en-US" sz="2400" dirty="0"/>
              <a:t>a rainy day 20-year-old </a:t>
            </a:r>
            <a:r>
              <a:rPr lang="en-US" sz="2400" dirty="0" smtClean="0"/>
              <a:t>Abdullah </a:t>
            </a:r>
            <a:r>
              <a:rPr lang="en-US" sz="2400" dirty="0" err="1"/>
              <a:t>Haider</a:t>
            </a:r>
            <a:r>
              <a:rPr lang="en-US" sz="2400" dirty="0"/>
              <a:t> slipped from the rooftop of his </a:t>
            </a:r>
            <a:r>
              <a:rPr lang="en-US" sz="2400" dirty="0" smtClean="0"/>
              <a:t>house,</a:t>
            </a:r>
            <a:r>
              <a:rPr lang="en-US" sz="2400" dirty="0"/>
              <a:t> </a:t>
            </a:r>
            <a:r>
              <a:rPr lang="en-US" sz="2400" dirty="0" smtClean="0"/>
              <a:t/>
            </a:r>
            <a:br>
              <a:rPr lang="en-US" sz="2400" dirty="0" smtClean="0"/>
            </a:br>
            <a:r>
              <a:rPr lang="en-US" sz="2400" dirty="0"/>
              <a:t>injuring his neck. He was rushed to a hospital where the physician noted that he was unable to move right side of his body. He had a heart rate of 88/min and a </a:t>
            </a:r>
            <a:r>
              <a:rPr lang="en-US" sz="2400" dirty="0" smtClean="0"/>
              <a:t/>
            </a:r>
            <a:br>
              <a:rPr lang="en-US" sz="2400" dirty="0" smtClean="0"/>
            </a:br>
            <a:r>
              <a:rPr lang="en-US" sz="2400" dirty="0"/>
              <a:t>blood pressure of 110/75 mm of Hg. </a:t>
            </a:r>
            <a:r>
              <a:rPr lang="en-US" sz="2400" dirty="0" smtClean="0"/>
              <a:t/>
            </a:r>
            <a:br>
              <a:rPr lang="en-US" sz="2400" dirty="0" smtClean="0"/>
            </a:br>
            <a:r>
              <a:rPr lang="en-US" sz="2400" dirty="0"/>
              <a:t>Initial neurological examination showed depressed motor and sensory function </a:t>
            </a:r>
            <a:r>
              <a:rPr lang="en-US" sz="2400" dirty="0" smtClean="0"/>
              <a:t/>
            </a:r>
            <a:br>
              <a:rPr lang="en-US" sz="2400" dirty="0" smtClean="0"/>
            </a:br>
            <a:r>
              <a:rPr lang="en-US" sz="2400" dirty="0"/>
              <a:t>in both upper and </a:t>
            </a:r>
            <a:r>
              <a:rPr lang="en-US" sz="2400" dirty="0" smtClean="0"/>
              <a:t>lower limbs</a:t>
            </a:r>
            <a:r>
              <a:rPr lang="en-US" sz="2400" dirty="0"/>
              <a:t>. The anal reflex was also absent. </a:t>
            </a:r>
            <a:r>
              <a:rPr lang="en-US" sz="2400" dirty="0" smtClean="0"/>
              <a:t/>
            </a:r>
            <a:br>
              <a:rPr lang="en-US" sz="2400" dirty="0" smtClean="0"/>
            </a:br>
            <a:r>
              <a:rPr lang="en-US" sz="2400" dirty="0"/>
              <a:t>After 24 </a:t>
            </a:r>
            <a:r>
              <a:rPr lang="en-US" sz="2400" dirty="0" smtClean="0"/>
              <a:t>hours, </a:t>
            </a:r>
            <a:r>
              <a:rPr lang="en-US" sz="2400" dirty="0"/>
              <a:t>Neurological examination showed a flaccid and weak right side of the body and loss of position and vibratory sensations below the level of C5 on </a:t>
            </a:r>
            <a:r>
              <a:rPr lang="en-US" sz="2400" dirty="0" smtClean="0"/>
              <a:t/>
            </a:r>
            <a:br>
              <a:rPr lang="en-US" sz="2400" dirty="0" smtClean="0"/>
            </a:br>
            <a:r>
              <a:rPr lang="en-US" sz="2400" dirty="0"/>
              <a:t>the right side. There was also left-sided loss of pain, temperature and crude touch </a:t>
            </a:r>
            <a:r>
              <a:rPr lang="en-US" sz="2400" dirty="0" smtClean="0"/>
              <a:t/>
            </a:r>
            <a:br>
              <a:rPr lang="en-US" sz="2400" dirty="0" smtClean="0"/>
            </a:br>
            <a:r>
              <a:rPr lang="en-US" sz="2400" dirty="0"/>
              <a:t>below the level of C5 and a complete loss of sensation in C5 dermatome on the </a:t>
            </a:r>
            <a:r>
              <a:rPr lang="en-US" sz="2400" dirty="0" smtClean="0"/>
              <a:t/>
            </a:r>
            <a:br>
              <a:rPr lang="en-US" sz="2400" dirty="0" smtClean="0"/>
            </a:br>
            <a:r>
              <a:rPr lang="en-US" sz="2400" dirty="0"/>
              <a:t>left side. On CT scan, a piece of fractured vertebra was found impacted in the spinal cord at C5 level on the right side. The patient was then operated upon to remove the bone fragment and repair the damaged vertebra. </a:t>
            </a:r>
            <a:r>
              <a:rPr lang="en-US" sz="2400" dirty="0" smtClean="0"/>
              <a:t/>
            </a:r>
            <a:br>
              <a:rPr lang="en-US" sz="2400" dirty="0" smtClean="0"/>
            </a:br>
            <a:r>
              <a:rPr lang="en-US" sz="2400" dirty="0"/>
              <a:t>After 1 month on subsequent clinic visit, a comprehensive neurological examination revealed the same deficits except for increased tone in all muscles on the right side of the body. The </a:t>
            </a:r>
            <a:r>
              <a:rPr lang="en-US" sz="2400" dirty="0" smtClean="0"/>
              <a:t>abdominal </a:t>
            </a:r>
            <a:r>
              <a:rPr lang="en-US" sz="2400" dirty="0"/>
              <a:t>and deep tendon reflexes were exaggerated on right side. </a:t>
            </a:r>
          </a:p>
        </p:txBody>
      </p:sp>
    </p:spTree>
    <p:extLst>
      <p:ext uri="{BB962C8B-B14F-4D97-AF65-F5344CB8AC3E}">
        <p14:creationId xmlns:p14="http://schemas.microsoft.com/office/powerpoint/2010/main" val="4189441148"/>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8364" y="286603"/>
            <a:ext cx="11244618" cy="6176963"/>
          </a:xfrm>
        </p:spPr>
        <p:txBody>
          <a:bodyPr/>
          <a:lstStyle/>
          <a:p>
            <a:pPr marL="0" indent="0">
              <a:buNone/>
            </a:pPr>
            <a:r>
              <a:rPr lang="en-US" dirty="0"/>
              <a:t>Q. 1: Give reason for depressed motor and sensory function in both upper and </a:t>
            </a:r>
            <a:r>
              <a:rPr lang="en-US" dirty="0" smtClean="0"/>
              <a:t>lower </a:t>
            </a:r>
            <a:r>
              <a:rPr lang="en-US" dirty="0"/>
              <a:t>limbs and absent anal reflex. (2 marks) </a:t>
            </a:r>
            <a:endParaRPr lang="en-US" dirty="0" smtClean="0"/>
          </a:p>
          <a:p>
            <a:pPr marL="0" indent="0">
              <a:buNone/>
            </a:pPr>
            <a:endParaRPr lang="en-US" dirty="0"/>
          </a:p>
          <a:p>
            <a:pPr marL="0" indent="0">
              <a:buNone/>
            </a:pPr>
            <a:r>
              <a:rPr lang="en-US" dirty="0" smtClean="0"/>
              <a:t/>
            </a:r>
            <a:br>
              <a:rPr lang="en-US" dirty="0" smtClean="0"/>
            </a:br>
            <a:r>
              <a:rPr lang="en-US" dirty="0" smtClean="0"/>
              <a:t>Q. 2</a:t>
            </a:r>
            <a:r>
              <a:rPr lang="en-US" dirty="0"/>
              <a:t>: Name the tract which is responsible for conducting position and vibratory </a:t>
            </a:r>
            <a:r>
              <a:rPr lang="en-US" dirty="0" smtClean="0"/>
              <a:t>sensation.</a:t>
            </a:r>
            <a:r>
              <a:rPr lang="en-US" dirty="0"/>
              <a:t> </a:t>
            </a:r>
            <a:r>
              <a:rPr lang="en-US" dirty="0" smtClean="0"/>
              <a:t>(</a:t>
            </a:r>
            <a:r>
              <a:rPr lang="en-US" dirty="0"/>
              <a:t>2 marks</a:t>
            </a:r>
            <a:r>
              <a:rPr lang="en-US" dirty="0" smtClean="0"/>
              <a:t>)</a:t>
            </a:r>
          </a:p>
          <a:p>
            <a:pPr marL="0" indent="0">
              <a:buNone/>
            </a:pPr>
            <a:endParaRPr lang="en-US" dirty="0"/>
          </a:p>
          <a:p>
            <a:pPr marL="0" indent="0">
              <a:buNone/>
            </a:pPr>
            <a:r>
              <a:rPr lang="en-US" dirty="0" smtClean="0"/>
              <a:t/>
            </a:r>
            <a:br>
              <a:rPr lang="en-US" dirty="0" smtClean="0"/>
            </a:br>
            <a:r>
              <a:rPr lang="en-US" dirty="0"/>
              <a:t>Q. 3: Explain why pain and temperature sensations are lost on left side below C5 </a:t>
            </a:r>
            <a:r>
              <a:rPr lang="en-US" dirty="0" smtClean="0"/>
              <a:t>while position </a:t>
            </a:r>
            <a:r>
              <a:rPr lang="en-US" dirty="0"/>
              <a:t>and vibratory sense are lost on the right side in this case</a:t>
            </a:r>
            <a:r>
              <a:rPr lang="en-US" dirty="0" smtClean="0"/>
              <a:t>?</a:t>
            </a:r>
            <a:r>
              <a:rPr lang="en-US" dirty="0"/>
              <a:t> </a:t>
            </a:r>
            <a:r>
              <a:rPr lang="en-US" dirty="0" smtClean="0"/>
              <a:t> (</a:t>
            </a:r>
            <a:r>
              <a:rPr lang="en-US" dirty="0"/>
              <a:t>4 marks) </a:t>
            </a:r>
            <a:endParaRPr lang="en-US" dirty="0" smtClean="0"/>
          </a:p>
          <a:p>
            <a:pPr marL="0" indent="0">
              <a:buNone/>
            </a:pPr>
            <a:r>
              <a:rPr lang="en-US" dirty="0" smtClean="0"/>
              <a:t/>
            </a:r>
            <a:br>
              <a:rPr lang="en-US" dirty="0" smtClean="0"/>
            </a:br>
            <a:r>
              <a:rPr lang="en-US" dirty="0"/>
              <a:t>Q. 4: Why he developed exaggerated deep tendon reflexes on right </a:t>
            </a:r>
            <a:r>
              <a:rPr lang="en-US" dirty="0" smtClean="0"/>
              <a:t>side? (2 marks)</a:t>
            </a:r>
            <a:endParaRPr lang="en-US" dirty="0"/>
          </a:p>
        </p:txBody>
      </p:sp>
    </p:spTree>
    <p:extLst>
      <p:ext uri="{BB962C8B-B14F-4D97-AF65-F5344CB8AC3E}">
        <p14:creationId xmlns:p14="http://schemas.microsoft.com/office/powerpoint/2010/main" val="2549929517"/>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latin typeface="AR CENA" panose="02000000000000000000" pitchFamily="2" charset="0"/>
              </a:rPr>
              <a:t>Good Luck! </a:t>
            </a:r>
            <a:r>
              <a:rPr lang="en-US" dirty="0" smtClean="0">
                <a:sym typeface="Wingdings" panose="05000000000000000000" pitchFamily="2" charset="2"/>
              </a:rPr>
              <a:t></a:t>
            </a:r>
            <a:endParaRPr lang="en-US" dirty="0"/>
          </a:p>
        </p:txBody>
      </p:sp>
      <p:sp>
        <p:nvSpPr>
          <p:cNvPr id="3" name="Subtitle 2"/>
          <p:cNvSpPr>
            <a:spLocks noGrp="1"/>
          </p:cNvSpPr>
          <p:nvPr>
            <p:ph type="subTitle" idx="1"/>
          </p:nvPr>
        </p:nvSpPr>
        <p:spPr/>
        <p:txBody>
          <a:bodyPr/>
          <a:lstStyle/>
          <a:p>
            <a:endParaRPr lang="en-US" dirty="0"/>
          </a:p>
        </p:txBody>
      </p:sp>
      <p:sp>
        <p:nvSpPr>
          <p:cNvPr id="4" name="TextBox 3"/>
          <p:cNvSpPr txBox="1"/>
          <p:nvPr/>
        </p:nvSpPr>
        <p:spPr>
          <a:xfrm>
            <a:off x="8094133" y="5800299"/>
            <a:ext cx="3260804" cy="523220"/>
          </a:xfrm>
          <a:prstGeom prst="rect">
            <a:avLst/>
          </a:prstGeom>
          <a:noFill/>
        </p:spPr>
        <p:txBody>
          <a:bodyPr wrap="square" rtlCol="0">
            <a:spAutoFit/>
          </a:bodyPr>
          <a:lstStyle/>
          <a:p>
            <a:r>
              <a:rPr lang="en-US" sz="2800" smtClean="0">
                <a:solidFill>
                  <a:srgbClr val="FF0000"/>
                </a:solidFill>
              </a:rPr>
              <a:t> </a:t>
            </a:r>
            <a:r>
              <a:rPr lang="en-US" sz="2800" dirty="0" smtClean="0">
                <a:solidFill>
                  <a:srgbClr val="FF0000"/>
                </a:solidFill>
              </a:rPr>
              <a:t>Tarek </a:t>
            </a:r>
            <a:r>
              <a:rPr lang="en-US" sz="2800" dirty="0" err="1" smtClean="0">
                <a:solidFill>
                  <a:srgbClr val="FF0000"/>
                </a:solidFill>
              </a:rPr>
              <a:t>Konbaz</a:t>
            </a:r>
            <a:endParaRPr lang="en-US" sz="2800" dirty="0">
              <a:solidFill>
                <a:srgbClr val="FF0000"/>
              </a:solidFill>
            </a:endParaRPr>
          </a:p>
        </p:txBody>
      </p:sp>
    </p:spTree>
    <p:extLst>
      <p:ext uri="{BB962C8B-B14F-4D97-AF65-F5344CB8AC3E}">
        <p14:creationId xmlns:p14="http://schemas.microsoft.com/office/powerpoint/2010/main" val="2715609424"/>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1306</Words>
  <Application>Microsoft Macintosh PowerPoint</Application>
  <PresentationFormat>Custom</PresentationFormat>
  <Paragraphs>167</Paragraphs>
  <Slides>23</Slides>
  <Notes>19</Notes>
  <HiddenSlides>2</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Neuroscience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SAQ</vt:lpstr>
      <vt:lpstr>PowerPoint Presentation</vt:lpstr>
      <vt:lpstr>PowerPoint Presentation</vt:lpstr>
      <vt:lpstr>Good Luck!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Neuroscience</dc:title>
  <dc:creator>Tarek</dc:creator>
  <cp:lastModifiedBy>Mac User</cp:lastModifiedBy>
  <cp:revision>38</cp:revision>
  <dcterms:created xsi:type="dcterms:W3CDTF">2015-02-10T14:44:51Z</dcterms:created>
  <dcterms:modified xsi:type="dcterms:W3CDTF">2015-04-11T21:41:55Z</dcterms:modified>
</cp:coreProperties>
</file>